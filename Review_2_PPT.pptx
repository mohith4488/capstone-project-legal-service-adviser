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0"/>
  </p:notesMasterIdLst>
  <p:sldIdLst>
    <p:sldId id="256" r:id="rId2"/>
    <p:sldId id="280" r:id="rId3"/>
    <p:sldId id="269" r:id="rId4"/>
    <p:sldId id="257" r:id="rId5"/>
    <p:sldId id="281" r:id="rId6"/>
    <p:sldId id="278" r:id="rId7"/>
    <p:sldId id="274" r:id="rId8"/>
    <p:sldId id="282" r:id="rId9"/>
    <p:sldId id="277" r:id="rId10"/>
    <p:sldId id="283" r:id="rId11"/>
    <p:sldId id="284" r:id="rId12"/>
    <p:sldId id="285" r:id="rId13"/>
    <p:sldId id="287" r:id="rId14"/>
    <p:sldId id="273" r:id="rId15"/>
    <p:sldId id="272" r:id="rId16"/>
    <p:sldId id="270" r:id="rId17"/>
    <p:sldId id="265"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3030" autoAdjust="0"/>
  </p:normalViewPr>
  <p:slideViewPr>
    <p:cSldViewPr snapToGrid="0">
      <p:cViewPr varScale="1">
        <p:scale>
          <a:sx n="52" d="100"/>
          <a:sy n="52" d="100"/>
        </p:scale>
        <p:origin x="1136" y="72"/>
      </p:cViewPr>
      <p:guideLst/>
    </p:cSldViewPr>
  </p:slideViewPr>
  <p:outlineViewPr>
    <p:cViewPr>
      <p:scale>
        <a:sx n="33" d="100"/>
        <a:sy n="33" d="100"/>
      </p:scale>
      <p:origin x="0" y="-68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6AAE724-1BEA-3D08-EE8F-AE13796BA1F9}"/>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3CCD701D-3049-E638-CC11-F02A4E69F6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36A2763-6B63-ABF6-2C98-0E11456E1A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4202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104140" y="707390"/>
            <a:ext cx="12426950" cy="133731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US" sz="3200" dirty="0">
                <a:latin typeface="Cambria" panose="02040503050406030204" pitchFamily="18" charset="0"/>
                <a:ea typeface="Cambria" panose="02040503050406030204" pitchFamily="18" charset="0"/>
                <a:sym typeface="+mn-ea"/>
              </a:rPr>
              <a:t>Incentives based Design for onboarding Legal Service Providers on </a:t>
            </a:r>
            <a:r>
              <a:rPr lang="en-US" sz="3200" dirty="0" err="1">
                <a:latin typeface="Cambria" panose="02040503050406030204" pitchFamily="18" charset="0"/>
                <a:ea typeface="Cambria" panose="02040503050406030204" pitchFamily="18" charset="0"/>
                <a:sym typeface="+mn-ea"/>
              </a:rPr>
              <a:t>eMarket</a:t>
            </a:r>
            <a:r>
              <a:rPr lang="en-US" sz="3200" dirty="0">
                <a:latin typeface="Cambria" panose="02040503050406030204" pitchFamily="18" charset="0"/>
                <a:ea typeface="Cambria" panose="02040503050406030204" pitchFamily="18" charset="0"/>
                <a:sym typeface="+mn-ea"/>
              </a:rPr>
              <a:t> Place </a:t>
            </a:r>
            <a:endParaRPr lang="en-US" sz="3200" dirty="0">
              <a:solidFill>
                <a:schemeClr val="tx1"/>
              </a:solidFill>
              <a:latin typeface="Cambria" panose="02040503050406030204" pitchFamily="18" charset="0"/>
              <a:ea typeface="Cambria" panose="02040503050406030204" pitchFamily="18" charset="0"/>
              <a:sym typeface="+mn-ea"/>
            </a:endParaRPr>
          </a:p>
        </p:txBody>
      </p:sp>
      <p:sp>
        <p:nvSpPr>
          <p:cNvPr id="88" name="Google Shape;88;p13"/>
          <p:cNvSpPr txBox="1">
            <a:spLocks noGrp="1"/>
          </p:cNvSpPr>
          <p:nvPr>
            <p:ph type="subTitle" idx="1"/>
          </p:nvPr>
        </p:nvSpPr>
        <p:spPr>
          <a:xfrm>
            <a:off x="0" y="2331258"/>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CSE_166</a:t>
            </a:r>
          </a:p>
        </p:txBody>
      </p:sp>
      <p:sp>
        <p:nvSpPr>
          <p:cNvPr id="90" name="Google Shape;90;p13"/>
          <p:cNvSpPr txBox="1"/>
          <p:nvPr/>
        </p:nvSpPr>
        <p:spPr>
          <a:xfrm>
            <a:off x="7631931" y="2593275"/>
            <a:ext cx="5514300" cy="202056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1800" dirty="0">
              <a:latin typeface="Cambria" panose="02040503050406030204" pitchFamily="18" charset="0"/>
              <a:ea typeface="Cambria" panose="02040503050406030204" pitchFamily="18" charset="0"/>
            </a:endParaRPr>
          </a:p>
          <a:p>
            <a:pPr marL="0" marR="0" lvl="0" indent="0" algn="l" rtl="0">
              <a:spcBef>
                <a:spcPts val="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a:t>
            </a:r>
            <a:r>
              <a:rPr lang="en-IN" alt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B Chandrashekar</a:t>
            </a:r>
            <a:endParaRPr sz="1800"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B.Tech </a:t>
            </a:r>
            <a:r>
              <a:rPr lang="en-US" altLang="en-GB"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IN" sz="1800" b="1" dirty="0">
                <a:latin typeface="Cambria" panose="02040503050406030204" pitchFamily="18" charset="0"/>
                <a:ea typeface="Cambria" panose="02040503050406030204" pitchFamily="18" charset="0"/>
              </a:rPr>
              <a:t>Dr. Asif Mohammed , Dr. Blessed Prince</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IN" sz="1800" b="1" dirty="0">
                <a:latin typeface="Cambria" panose="02040503050406030204" pitchFamily="18" charset="0"/>
                <a:ea typeface="Cambria" panose="02040503050406030204" pitchFamily="18" charset="0"/>
              </a:rPr>
              <a:t>Dr. Jayavadivel Ravi</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sz="1800" b="1" dirty="0">
                <a:latin typeface="Cambria" panose="02040503050406030204" pitchFamily="18" charset="0"/>
                <a:ea typeface="Cambria" panose="02040503050406030204" pitchFamily="18" charset="0"/>
              </a:rPr>
              <a:t>Mr. Muthuraju V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2" name="Table 1">
            <a:extLst>
              <a:ext uri="{FF2B5EF4-FFF2-40B4-BE49-F238E27FC236}">
                <a16:creationId xmlns:a16="http://schemas.microsoft.com/office/drawing/2014/main" id="{C7F31E71-5150-AC5D-9F6E-7F1832813433}"/>
              </a:ext>
            </a:extLst>
          </p:cNvPr>
          <p:cNvGraphicFramePr>
            <a:graphicFrameLocks noGrp="1"/>
          </p:cNvGraphicFramePr>
          <p:nvPr>
            <p:extLst>
              <p:ext uri="{D42A27DB-BD31-4B8C-83A1-F6EECF244321}">
                <p14:modId xmlns:p14="http://schemas.microsoft.com/office/powerpoint/2010/main" val="4033298885"/>
              </p:ext>
            </p:extLst>
          </p:nvPr>
        </p:nvGraphicFramePr>
        <p:xfrm>
          <a:off x="90255" y="2662497"/>
          <a:ext cx="6645360" cy="1761224"/>
        </p:xfrm>
        <a:graphic>
          <a:graphicData uri="http://schemas.openxmlformats.org/drawingml/2006/table">
            <a:tbl>
              <a:tblPr firstRow="1" bandRow="1">
                <a:tableStyleId>{5C22544A-7EE6-4342-B048-85BDC9FD1C3A}</a:tableStyleId>
              </a:tblPr>
              <a:tblGrid>
                <a:gridCol w="3016734">
                  <a:extLst>
                    <a:ext uri="{9D8B030D-6E8A-4147-A177-3AD203B41FA5}">
                      <a16:colId xmlns:a16="http://schemas.microsoft.com/office/drawing/2014/main" val="2749095832"/>
                    </a:ext>
                  </a:extLst>
                </a:gridCol>
                <a:gridCol w="3628626">
                  <a:extLst>
                    <a:ext uri="{9D8B030D-6E8A-4147-A177-3AD203B41FA5}">
                      <a16:colId xmlns:a16="http://schemas.microsoft.com/office/drawing/2014/main" val="1994728031"/>
                    </a:ext>
                  </a:extLst>
                </a:gridCol>
              </a:tblGrid>
              <a:tr h="440306">
                <a:tc>
                  <a:txBody>
                    <a:bodyPr/>
                    <a:lstStyle/>
                    <a:p>
                      <a:pPr algn="l" fontAlgn="b">
                        <a:buNone/>
                      </a:pPr>
                      <a:r>
                        <a:rPr lang="en-IN" sz="2000" u="none" strike="noStrike" dirty="0">
                          <a:solidFill>
                            <a:schemeClr val="accent1"/>
                          </a:solidFill>
                          <a:effectLst/>
                          <a:latin typeface="Bookman Old Style" panose="02050604050505020204" pitchFamily="18" charset="0"/>
                        </a:rPr>
                        <a:t>Roll Number </a:t>
                      </a:r>
                      <a:endParaRPr lang="en-IN" sz="2000" b="1" i="0" u="none" strike="noStrike" dirty="0">
                        <a:solidFill>
                          <a:schemeClr val="accent1"/>
                        </a:solidFill>
                        <a:effectLst/>
                        <a:latin typeface="Bookman Old Style" panose="02050604050505020204" pitchFamily="18" charset="0"/>
                      </a:endParaRPr>
                    </a:p>
                  </a:txBody>
                  <a:tcPr marL="6350" marR="6350" marT="6350" marB="0" anchor="b">
                    <a:solidFill>
                      <a:schemeClr val="bg1"/>
                    </a:solidFill>
                  </a:tcPr>
                </a:tc>
                <a:tc>
                  <a:txBody>
                    <a:bodyPr/>
                    <a:lstStyle/>
                    <a:p>
                      <a:pPr algn="l" fontAlgn="b">
                        <a:buNone/>
                      </a:pPr>
                      <a:r>
                        <a:rPr lang="en-IN" sz="2000" u="none" strike="noStrike" dirty="0">
                          <a:solidFill>
                            <a:schemeClr val="accent1"/>
                          </a:solidFill>
                          <a:effectLst/>
                          <a:latin typeface="Bookman Old Style" panose="02050604050505020204" pitchFamily="18" charset="0"/>
                        </a:rPr>
                        <a:t>Name</a:t>
                      </a:r>
                      <a:endParaRPr lang="en-IN" sz="2000" b="1" i="0" u="none" strike="noStrike" dirty="0">
                        <a:solidFill>
                          <a:schemeClr val="accent1"/>
                        </a:solidFill>
                        <a:effectLst/>
                        <a:latin typeface="Bookman Old Style" panose="02050604050505020204" pitchFamily="18" charset="0"/>
                      </a:endParaRPr>
                    </a:p>
                  </a:txBody>
                  <a:tcPr marL="6350" marR="6350" marT="6350" marB="0" anchor="b">
                    <a:solidFill>
                      <a:schemeClr val="bg1"/>
                    </a:solidFill>
                  </a:tcPr>
                </a:tc>
                <a:extLst>
                  <a:ext uri="{0D108BD9-81ED-4DB2-BD59-A6C34878D82A}">
                    <a16:rowId xmlns:a16="http://schemas.microsoft.com/office/drawing/2014/main" val="2178016172"/>
                  </a:ext>
                </a:extLst>
              </a:tr>
              <a:tr h="440306">
                <a:tc>
                  <a:txBody>
                    <a:bodyPr/>
                    <a:lstStyle/>
                    <a:p>
                      <a:pPr algn="l" fontAlgn="b">
                        <a:buNone/>
                      </a:pPr>
                      <a:r>
                        <a:rPr lang="en-IN" sz="2000" u="none" strike="noStrike" dirty="0">
                          <a:effectLst/>
                          <a:latin typeface="Bookman Old Style" panose="02050604050505020204" pitchFamily="18" charset="0"/>
                        </a:rPr>
                        <a:t>20221CSE0363</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tc>
                  <a:txBody>
                    <a:bodyPr/>
                    <a:lstStyle/>
                    <a:p>
                      <a:pPr algn="l" fontAlgn="b">
                        <a:buNone/>
                      </a:pPr>
                      <a:r>
                        <a:rPr lang="en-IN" sz="2000" u="none" strike="noStrike" dirty="0">
                          <a:effectLst/>
                          <a:latin typeface="Bookman Old Style" panose="02050604050505020204" pitchFamily="18" charset="0"/>
                        </a:rPr>
                        <a:t>YASHAVANTH K S</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extLst>
                  <a:ext uri="{0D108BD9-81ED-4DB2-BD59-A6C34878D82A}">
                    <a16:rowId xmlns:a16="http://schemas.microsoft.com/office/drawing/2014/main" val="930821321"/>
                  </a:ext>
                </a:extLst>
              </a:tr>
              <a:tr h="440306">
                <a:tc>
                  <a:txBody>
                    <a:bodyPr/>
                    <a:lstStyle/>
                    <a:p>
                      <a:pPr algn="l" fontAlgn="b">
                        <a:buNone/>
                      </a:pPr>
                      <a:r>
                        <a:rPr lang="en-IN" sz="2000" u="none" strike="noStrike" dirty="0">
                          <a:effectLst/>
                          <a:latin typeface="Bookman Old Style" panose="02050604050505020204" pitchFamily="18" charset="0"/>
                        </a:rPr>
                        <a:t>20221CSE0325</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tc>
                  <a:txBody>
                    <a:bodyPr/>
                    <a:lstStyle/>
                    <a:p>
                      <a:pPr algn="l" fontAlgn="b">
                        <a:buNone/>
                      </a:pPr>
                      <a:r>
                        <a:rPr lang="en-IN" sz="2000" u="none" strike="noStrike" dirty="0">
                          <a:effectLst/>
                          <a:latin typeface="Bookman Old Style" panose="02050604050505020204" pitchFamily="18" charset="0"/>
                        </a:rPr>
                        <a:t>LANCHAN J</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extLst>
                  <a:ext uri="{0D108BD9-81ED-4DB2-BD59-A6C34878D82A}">
                    <a16:rowId xmlns:a16="http://schemas.microsoft.com/office/drawing/2014/main" val="4284271226"/>
                  </a:ext>
                </a:extLst>
              </a:tr>
              <a:tr h="440306">
                <a:tc>
                  <a:txBody>
                    <a:bodyPr/>
                    <a:lstStyle/>
                    <a:p>
                      <a:pPr algn="l" fontAlgn="b">
                        <a:buNone/>
                      </a:pPr>
                      <a:r>
                        <a:rPr lang="en-IN" sz="2000" u="none" strike="noStrike" dirty="0">
                          <a:effectLst/>
                          <a:latin typeface="Bookman Old Style" panose="02050604050505020204" pitchFamily="18" charset="0"/>
                        </a:rPr>
                        <a:t>20221CSE0328</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tc>
                  <a:txBody>
                    <a:bodyPr/>
                    <a:lstStyle/>
                    <a:p>
                      <a:pPr algn="l" fontAlgn="b">
                        <a:buNone/>
                      </a:pPr>
                      <a:r>
                        <a:rPr lang="en-IN" sz="2000" u="none" strike="noStrike" dirty="0">
                          <a:effectLst/>
                          <a:latin typeface="Bookman Old Style" panose="02050604050505020204" pitchFamily="18" charset="0"/>
                        </a:rPr>
                        <a:t>MOHITH GOWDA J P</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extLst>
                  <a:ext uri="{0D108BD9-81ED-4DB2-BD59-A6C34878D82A}">
                    <a16:rowId xmlns:a16="http://schemas.microsoft.com/office/drawing/2014/main" val="102370262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62000" y="274499"/>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sym typeface="+mn-ea"/>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49530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sym typeface="+mn-ea"/>
              </a:rPr>
              <a:t>Problem Statement</a:t>
            </a:r>
          </a:p>
          <a:p>
            <a:pPr marL="49530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Abstract</a:t>
            </a:r>
          </a:p>
          <a:p>
            <a:pPr marL="49530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Literature Survey</a:t>
            </a:r>
          </a:p>
          <a:p>
            <a:pPr marL="49530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sym typeface="+mn-ea"/>
              </a:rPr>
              <a:t>Objectives</a:t>
            </a:r>
            <a:endParaRPr lang="en-US" sz="1800" b="1" dirty="0">
              <a:latin typeface="Cambria" panose="02040503050406030204" pitchFamily="18" charset="0"/>
              <a:ea typeface="Cambria" panose="02040503050406030204" pitchFamily="18" charset="0"/>
            </a:endParaRPr>
          </a:p>
          <a:p>
            <a:pPr marL="495300" lvl="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Existing Methods and Drawbacks</a:t>
            </a:r>
          </a:p>
          <a:p>
            <a:pPr marL="495300" lvl="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Proposed Methods and Feasibility Study</a:t>
            </a:r>
          </a:p>
          <a:p>
            <a:pPr marL="495300" lvl="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Architecture </a:t>
            </a:r>
            <a:r>
              <a:rPr lang="en-US" sz="1800" b="1" dirty="0" err="1">
                <a:latin typeface="Cambria" panose="02040503050406030204" pitchFamily="18" charset="0"/>
                <a:ea typeface="Cambria" panose="02040503050406030204" pitchFamily="18" charset="0"/>
              </a:rPr>
              <a:t>Diaagram</a:t>
            </a:r>
            <a:endParaRPr lang="en-US" sz="1800" b="1" dirty="0">
              <a:latin typeface="Cambria" panose="02040503050406030204" pitchFamily="18" charset="0"/>
              <a:ea typeface="Cambria" panose="02040503050406030204" pitchFamily="18" charset="0"/>
            </a:endParaRPr>
          </a:p>
          <a:p>
            <a:pPr marL="495300" lvl="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Modules</a:t>
            </a:r>
          </a:p>
          <a:p>
            <a:pPr marL="495300" lvl="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Hardware and Software Details</a:t>
            </a:r>
          </a:p>
          <a:p>
            <a:pPr marL="495300" lvl="0" indent="-342900" rtl="0">
              <a:lnSpc>
                <a:spcPct val="150000"/>
              </a:lnSpc>
              <a:spcBef>
                <a:spcPts val="0"/>
              </a:spcBef>
              <a:spcAft>
                <a:spcPts val="0"/>
              </a:spcAft>
              <a:buClr>
                <a:schemeClr val="dk1"/>
              </a:buClr>
              <a:buSzPts val="2400"/>
              <a:buFont typeface="Arial" panose="020B0604020202020204" pitchFamily="34" charset="0"/>
              <a:buChar char="•"/>
            </a:pPr>
            <a:r>
              <a:rPr lang="en-US" sz="1800" b="1" dirty="0">
                <a:latin typeface="Cambria" panose="02040503050406030204" pitchFamily="18" charset="0"/>
                <a:ea typeface="Cambria" panose="02040503050406030204" pitchFamily="18" charset="0"/>
                <a:sym typeface="+mn-ea"/>
              </a:rPr>
              <a:t>Timeline of the Project</a:t>
            </a:r>
            <a:endParaRPr lang="en-US" sz="1800" b="1" dirty="0">
              <a:latin typeface="Cambria" panose="02040503050406030204" pitchFamily="18" charset="0"/>
              <a:ea typeface="Cambria" panose="02040503050406030204" pitchFamily="18" charset="0"/>
            </a:endParaRPr>
          </a:p>
          <a:p>
            <a:pPr marL="495300" lvl="0" indent="-342900" rtl="0">
              <a:lnSpc>
                <a:spcPct val="150000"/>
              </a:lnSpc>
              <a:spcBef>
                <a:spcPts val="0"/>
              </a:spcBef>
              <a:spcAft>
                <a:spcPts val="0"/>
              </a:spcAft>
              <a:buClr>
                <a:schemeClr val="dk1"/>
              </a:buClr>
              <a:buSzPts val="2400"/>
              <a:buFont typeface="Arial" panose="020B0604020202020204" pitchFamily="34" charset="0"/>
              <a:buChar char="•"/>
            </a:pPr>
            <a:r>
              <a:rPr lang="en-US" sz="1800" b="1" dirty="0">
                <a:latin typeface="Cambria" panose="02040503050406030204" pitchFamily="18" charset="0"/>
                <a:ea typeface="Cambria" panose="02040503050406030204" pitchFamily="18" charset="0"/>
                <a:sym typeface="+mn-ea"/>
              </a:rPr>
              <a:t>References</a:t>
            </a:r>
            <a:endParaRPr lang="en-US" sz="1800" b="1" dirty="0">
              <a:latin typeface="Cambria" panose="02040503050406030204" pitchFamily="18" charset="0"/>
              <a:ea typeface="Cambria" panose="02040503050406030204" pitchFamily="18" charset="0"/>
            </a:endParaRPr>
          </a:p>
          <a:p>
            <a:pPr marL="76200" indent="0">
              <a:lnSpc>
                <a:spcPct val="150000"/>
              </a:lnSpc>
              <a:buNone/>
            </a:pPr>
            <a:endParaRPr lang="en-IN" altLang="en-US" sz="1800" b="1"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62000" y="274499"/>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dirty="0">
                <a:latin typeface="Cambria" panose="02040503050406030204" pitchFamily="18" charset="0"/>
                <a:ea typeface="Cambria" panose="02040503050406030204" pitchFamily="18" charset="0"/>
                <a:sym typeface="+mn-ea"/>
              </a:rPr>
              <a:t>Problem Statement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b="1" dirty="0">
                <a:latin typeface="Cambria" panose="02040503050406030204" pitchFamily="18" charset="0"/>
                <a:ea typeface="Cambria" panose="02040503050406030204" pitchFamily="18" charset="0"/>
              </a:rPr>
              <a:t>Organization: </a:t>
            </a:r>
            <a:r>
              <a:rPr lang="en-US" sz="2200" dirty="0">
                <a:latin typeface="Cambria" panose="02040503050406030204" pitchFamily="18" charset="0"/>
                <a:ea typeface="Cambria" panose="02040503050406030204" pitchFamily="18" charset="0"/>
              </a:rPr>
              <a:t>Ministry of Law and Justice</a:t>
            </a:r>
          </a:p>
          <a:p>
            <a:pPr marL="76200" indent="0">
              <a:buNone/>
            </a:pPr>
            <a:r>
              <a:rPr lang="en-US" b="1" dirty="0">
                <a:latin typeface="Cambria" panose="02040503050406030204" pitchFamily="18" charset="0"/>
                <a:ea typeface="Cambria" panose="02040503050406030204" pitchFamily="18" charset="0"/>
              </a:rPr>
              <a:t>Category : </a:t>
            </a:r>
            <a:r>
              <a:rPr lang="en-US" dirty="0">
                <a:latin typeface="Cambria" panose="02040503050406030204" pitchFamily="18" charset="0"/>
                <a:ea typeface="Cambria" panose="02040503050406030204" pitchFamily="18" charset="0"/>
              </a:rPr>
              <a:t>Software</a:t>
            </a:r>
          </a:p>
          <a:p>
            <a:pPr marL="76200" indent="0">
              <a:buNone/>
            </a:pPr>
            <a:r>
              <a:rPr lang="en-US" b="1" dirty="0">
                <a:latin typeface="Cambria" panose="02040503050406030204" pitchFamily="18" charset="0"/>
                <a:ea typeface="Cambria" panose="02040503050406030204" pitchFamily="18" charset="0"/>
              </a:rPr>
              <a:t>Problem Description:</a:t>
            </a:r>
          </a:p>
          <a:p>
            <a:pPr marL="76200" indent="0">
              <a:buNone/>
            </a:pPr>
            <a:r>
              <a:rPr lang="en-US" altLang="en-US" dirty="0">
                <a:latin typeface="Cambria" panose="02040503050406030204" pitchFamily="18" charset="0"/>
                <a:ea typeface="Cambria" panose="02040503050406030204" pitchFamily="18" charset="0"/>
              </a:rPr>
              <a:t>India’s legal service sector is fragmented, with advocates, mediators, notaries, and others operating independently without a centralized platform. This creates challenges in transparency, accessibility, quality assurance, and affordability for citizens. The objective is to design an incentivized eMarketplace that onboards legal service providers, motivates them through rewards and gamification, ensures quality and accountability, and enables citizens from all socio-economic backgrounds to easily find and access suitable legal services. Integration with legal institutions such as courts, bar associations, and legal aid clinics will further enhance trust and service reach.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Abstract</a:t>
            </a:r>
          </a:p>
        </p:txBody>
      </p:sp>
      <p:sp>
        <p:nvSpPr>
          <p:cNvPr id="97" name="Google Shape;97;p14"/>
          <p:cNvSpPr txBox="1">
            <a:spLocks noGrp="1"/>
          </p:cNvSpPr>
          <p:nvPr>
            <p:ph type="body" idx="1"/>
          </p:nvPr>
        </p:nvSpPr>
        <p:spPr>
          <a:xfrm>
            <a:off x="518983" y="1050324"/>
            <a:ext cx="11442357" cy="5226908"/>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dirty="0">
                <a:latin typeface="Cambria" panose="02040503050406030204" pitchFamily="18" charset="0"/>
                <a:ea typeface="Cambria" panose="02040503050406030204" pitchFamily="18" charset="0"/>
                <a:cs typeface="Calibri" panose="020F0502020204030204" pitchFamily="34" charset="0"/>
              </a:rPr>
              <a:t>Access to legal services is challenged in India as a result of lack of transparency, affordability, and difficulty in finding the right professionals available to citizens. This project displays a way to centralize a new type of e-Marketplace that connects citizens to legal service providers that are verified. Legal professionals could include advocates, arbitrators, mediators, notaries, and document writers situated in any city in India. The platform also developed pricing structures for aggregated services that include an incentive program for participation including financial rewards if completed on time, gamified features like badges and leaderboards, discounted platform time for multi-year use and verified services. Providers participate most in an institutional manner through Bar Councils, arbitration boards, and notary authorities. Our system uses an intelligent algorithm that can match all clients with the best legal professional based on case type, area of expertise, and availability. This system is intended to be inclusive, affordable, and available to all citizens, regardless of socio-economic background. This will provide transparency, efficiency, and accountability in the legal profession.</a:t>
            </a:r>
            <a:endParaRPr dirty="0">
              <a:latin typeface="Cambria" panose="02040503050406030204" pitchFamily="18" charset="0"/>
              <a:ea typeface="Cambria" panose="02040503050406030204" pitchFamily="18"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640A467-0373-1C29-6962-3F91A6CE6740}"/>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6E0E22E-4DA0-2FBE-D439-222BC7CE473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Literature Survey</a:t>
            </a:r>
          </a:p>
        </p:txBody>
      </p:sp>
      <p:sp>
        <p:nvSpPr>
          <p:cNvPr id="97" name="Google Shape;97;p14">
            <a:extLst>
              <a:ext uri="{FF2B5EF4-FFF2-40B4-BE49-F238E27FC236}">
                <a16:creationId xmlns:a16="http://schemas.microsoft.com/office/drawing/2014/main" id="{01EBEFA8-F5A9-0639-7446-2A6C8B0E4A08}"/>
              </a:ext>
            </a:extLst>
          </p:cNvPr>
          <p:cNvSpPr txBox="1">
            <a:spLocks noGrp="1"/>
          </p:cNvSpPr>
          <p:nvPr>
            <p:ph type="body" idx="1"/>
          </p:nvPr>
        </p:nvSpPr>
        <p:spPr>
          <a:xfrm>
            <a:off x="518983" y="1050324"/>
            <a:ext cx="11442357" cy="5226908"/>
          </a:xfrm>
          <a:prstGeom prst="rect">
            <a:avLst/>
          </a:prstGeom>
          <a:noFill/>
          <a:ln>
            <a:noFill/>
          </a:ln>
        </p:spPr>
        <p:txBody>
          <a:bodyPr spcFirstLastPara="1" wrap="square" lIns="91425" tIns="45700" rIns="91425" bIns="45700" anchor="t" anchorCtr="0">
            <a:normAutofit/>
          </a:bodyPr>
          <a:lstStyle/>
          <a:p>
            <a:pPr marL="76200" indent="0">
              <a:buNone/>
            </a:pPr>
            <a:endParaRP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15804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76200"/>
            <a:r>
              <a:rPr lang="en-US" dirty="0">
                <a:latin typeface="Cambria" panose="02040503050406030204" pitchFamily="18" charset="0"/>
                <a:ea typeface="Cambria" panose="02040503050406030204" pitchFamily="18" charset="0"/>
              </a:rPr>
              <a:t>Objectives</a:t>
            </a:r>
          </a:p>
        </p:txBody>
      </p:sp>
      <p:sp>
        <p:nvSpPr>
          <p:cNvPr id="97" name="Google Shape;97;p14"/>
          <p:cNvSpPr txBox="1">
            <a:spLocks noGrp="1"/>
          </p:cNvSpPr>
          <p:nvPr>
            <p:ph type="body" idx="1"/>
          </p:nvPr>
        </p:nvSpPr>
        <p:spPr>
          <a:xfrm>
            <a:off x="518983" y="1050324"/>
            <a:ext cx="11442357" cy="5226908"/>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altLang="en-US" dirty="0">
                <a:latin typeface="Cambria" panose="02040503050406030204" pitchFamily="18" charset="0"/>
                <a:ea typeface="Cambria" panose="02040503050406030204" pitchFamily="18" charset="0"/>
              </a:rPr>
              <a:t>The primary goal is to design and develop an incentivized eMarketplace that:</a:t>
            </a:r>
          </a:p>
          <a:p>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Onboards verified legal service providers </a:t>
            </a:r>
            <a:r>
              <a:rPr lang="en-US" altLang="en-US" dirty="0">
                <a:latin typeface="Cambria" panose="02040503050406030204" pitchFamily="18" charset="0"/>
                <a:ea typeface="Cambria" panose="02040503050406030204" pitchFamily="18" charset="0"/>
              </a:rPr>
              <a:t>from across India.</a:t>
            </a: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Incentivizes participation</a:t>
            </a:r>
            <a:r>
              <a:rPr lang="en-US" altLang="en-US" dirty="0">
                <a:latin typeface="Cambria" panose="02040503050406030204" pitchFamily="18" charset="0"/>
                <a:ea typeface="Cambria" panose="02040503050406030204" pitchFamily="18" charset="0"/>
              </a:rPr>
              <a:t> using financial, reputational, and gamification-based rewards.</a:t>
            </a: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Ensures transparency and accountability</a:t>
            </a:r>
            <a:r>
              <a:rPr lang="en-US" altLang="en-US" dirty="0">
                <a:latin typeface="Cambria" panose="02040503050406030204" pitchFamily="18" charset="0"/>
                <a:ea typeface="Cambria" panose="02040503050406030204" pitchFamily="18" charset="0"/>
              </a:rPr>
              <a:t> in service delivery.</a:t>
            </a: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Improves accessibility</a:t>
            </a:r>
            <a:r>
              <a:rPr lang="en-US" altLang="en-US" dirty="0">
                <a:latin typeface="Cambria" panose="02040503050406030204" pitchFamily="18" charset="0"/>
                <a:ea typeface="Cambria" panose="02040503050406030204" pitchFamily="18" charset="0"/>
              </a:rPr>
              <a:t> for citizens from all socio-economic backgrounds.</a:t>
            </a: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Facilitates efficient client-provider matching based </a:t>
            </a:r>
            <a:r>
              <a:rPr lang="en-US" altLang="en-US" dirty="0">
                <a:latin typeface="Cambria" panose="02040503050406030204" pitchFamily="18" charset="0"/>
                <a:ea typeface="Cambria" panose="02040503050406030204" pitchFamily="18" charset="0"/>
              </a:rPr>
              <a:t>on needs, expertise, and availability.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Existing Methods and Drawbacks</a:t>
            </a:r>
          </a:p>
        </p:txBody>
      </p:sp>
      <p:sp>
        <p:nvSpPr>
          <p:cNvPr id="97" name="Google Shape;97;p14"/>
          <p:cNvSpPr txBox="1">
            <a:spLocks noGrp="1"/>
          </p:cNvSpPr>
          <p:nvPr>
            <p:ph type="body" idx="1"/>
          </p:nvPr>
        </p:nvSpPr>
        <p:spPr>
          <a:xfrm>
            <a:off x="331572" y="1002270"/>
            <a:ext cx="11528855" cy="5350475"/>
          </a:xfrm>
          <a:prstGeom prst="rect">
            <a:avLst/>
          </a:prstGeom>
          <a:noFill/>
          <a:ln>
            <a:noFill/>
          </a:ln>
        </p:spPr>
        <p:txBody>
          <a:bodyPr spcFirstLastPara="1" wrap="square" lIns="91425" tIns="45700" rIns="91425" bIns="45700" anchor="t" anchorCtr="0">
            <a:normAutofit/>
          </a:bodyPr>
          <a:lstStyle/>
          <a:p>
            <a:pPr marL="152400" indent="0">
              <a:lnSpc>
                <a:spcPct val="200000"/>
              </a:lnSpc>
              <a:spcBef>
                <a:spcPts val="0"/>
              </a:spcBef>
              <a:buNone/>
            </a:pPr>
            <a:r>
              <a:rPr lang="en-US" sz="2000" b="1" dirty="0">
                <a:latin typeface="Cambria" panose="02040503050406030204" pitchFamily="18" charset="0"/>
                <a:ea typeface="Cambria" panose="02040503050406030204" pitchFamily="18" charset="0"/>
              </a:rPr>
              <a:t>E-Governance &amp; Legal Aid Platforms (</a:t>
            </a:r>
            <a:r>
              <a:rPr lang="en-US" sz="2000" b="1" dirty="0" err="1">
                <a:latin typeface="Cambria" panose="02040503050406030204" pitchFamily="18" charset="0"/>
                <a:ea typeface="Cambria" panose="02040503050406030204" pitchFamily="18" charset="0"/>
              </a:rPr>
              <a:t>eCourts</a:t>
            </a:r>
            <a:r>
              <a:rPr lang="en-US" sz="2000" b="1" dirty="0">
                <a:latin typeface="Cambria" panose="02040503050406030204" pitchFamily="18" charset="0"/>
                <a:ea typeface="Cambria" panose="02040503050406030204" pitchFamily="18" charset="0"/>
              </a:rPr>
              <a:t>, Nyaya Bandhu, NALSA)</a:t>
            </a:r>
          </a:p>
          <a:p>
            <a:pPr marL="609600" indent="-457200">
              <a:lnSpc>
                <a:spcPct val="110000"/>
              </a:lnSpc>
              <a:spcBef>
                <a:spcPts val="0"/>
              </a:spcBef>
              <a:buFont typeface="+mj-lt"/>
              <a:buAutoNum type="alphaLcPeriod"/>
            </a:pPr>
            <a:r>
              <a:rPr lang="en-US" sz="2000" dirty="0">
                <a:latin typeface="Cambria" panose="02040503050406030204" pitchFamily="18" charset="0"/>
                <a:ea typeface="Cambria" panose="02040503050406030204" pitchFamily="18" charset="0"/>
              </a:rPr>
              <a:t>Only voluntary/pro-bono incentives → very low uptake.</a:t>
            </a:r>
          </a:p>
          <a:p>
            <a:pPr marL="609600" indent="-457200">
              <a:lnSpc>
                <a:spcPct val="110000"/>
              </a:lnSpc>
              <a:spcBef>
                <a:spcPts val="0"/>
              </a:spcBef>
              <a:buFont typeface="+mj-lt"/>
              <a:buAutoNum type="alphaLcPeriod"/>
            </a:pPr>
            <a:r>
              <a:rPr lang="en-IN" sz="2000" dirty="0">
                <a:latin typeface="Cambria" panose="02040503050406030204" pitchFamily="18" charset="0"/>
                <a:ea typeface="Cambria" panose="02040503050406030204" pitchFamily="18" charset="0"/>
              </a:rPr>
              <a:t>Awareness gap among advocates.</a:t>
            </a:r>
          </a:p>
          <a:p>
            <a:pPr marL="609600" indent="-457200">
              <a:lnSpc>
                <a:spcPct val="110000"/>
              </a:lnSpc>
              <a:spcBef>
                <a:spcPts val="0"/>
              </a:spcBef>
              <a:buFont typeface="+mj-lt"/>
              <a:buAutoNum type="alphaLcPeriod"/>
            </a:pPr>
            <a:r>
              <a:rPr lang="en-US" sz="2000" dirty="0">
                <a:latin typeface="Cambria" panose="02040503050406030204" pitchFamily="18" charset="0"/>
                <a:ea typeface="Cambria" panose="02040503050406030204" pitchFamily="18" charset="0"/>
              </a:rPr>
              <a:t>Poor UI/UX, not mobile-friendly.</a:t>
            </a:r>
          </a:p>
          <a:p>
            <a:pPr marL="152400" indent="0">
              <a:lnSpc>
                <a:spcPct val="110000"/>
              </a:lnSpc>
              <a:spcBef>
                <a:spcPts val="0"/>
              </a:spcBef>
              <a:buNone/>
            </a:pPr>
            <a:r>
              <a:rPr lang="en-US" sz="2000" b="1" dirty="0">
                <a:latin typeface="Cambria" panose="02040503050406030204" pitchFamily="18" charset="0"/>
                <a:ea typeface="Cambria" panose="02040503050406030204" pitchFamily="18" charset="0"/>
              </a:rPr>
              <a:t>Professional Networking &amp; Legal Startups (</a:t>
            </a:r>
            <a:r>
              <a:rPr lang="en-US" sz="2000" b="1" dirty="0" err="1">
                <a:latin typeface="Cambria" panose="02040503050406030204" pitchFamily="18" charset="0"/>
                <a:ea typeface="Cambria" panose="02040503050406030204" pitchFamily="18" charset="0"/>
              </a:rPr>
              <a:t>LawRato</a:t>
            </a:r>
            <a:r>
              <a:rPr lang="en-US" sz="2000" b="1" dirty="0">
                <a:latin typeface="Cambria" panose="02040503050406030204" pitchFamily="18" charset="0"/>
                <a:ea typeface="Cambria" panose="02040503050406030204" pitchFamily="18" charset="0"/>
              </a:rPr>
              <a:t>, </a:t>
            </a:r>
            <a:r>
              <a:rPr lang="en-US" sz="2000" b="1" dirty="0" err="1">
                <a:latin typeface="Cambria" panose="02040503050406030204" pitchFamily="18" charset="0"/>
                <a:ea typeface="Cambria" panose="02040503050406030204" pitchFamily="18" charset="0"/>
              </a:rPr>
              <a:t>VakilSearch</a:t>
            </a:r>
            <a:r>
              <a:rPr lang="en-US" sz="2000" b="1" dirty="0">
                <a:latin typeface="Cambria" panose="02040503050406030204" pitchFamily="18" charset="0"/>
                <a:ea typeface="Cambria" panose="02040503050406030204" pitchFamily="18" charset="0"/>
              </a:rPr>
              <a:t>, </a:t>
            </a:r>
            <a:r>
              <a:rPr lang="en-US" sz="2000" b="1" dirty="0" err="1">
                <a:latin typeface="Cambria" panose="02040503050406030204" pitchFamily="18" charset="0"/>
                <a:ea typeface="Cambria" panose="02040503050406030204" pitchFamily="18" charset="0"/>
              </a:rPr>
              <a:t>LegalKart</a:t>
            </a:r>
            <a:r>
              <a:rPr lang="en-US" sz="2000" b="1" dirty="0">
                <a:latin typeface="Cambria" panose="02040503050406030204" pitchFamily="18" charset="0"/>
                <a:ea typeface="Cambria" panose="02040503050406030204" pitchFamily="18" charset="0"/>
              </a:rPr>
              <a:t>)</a:t>
            </a:r>
          </a:p>
          <a:p>
            <a:pPr marL="609600" indent="-457200">
              <a:lnSpc>
                <a:spcPct val="110000"/>
              </a:lnSpc>
              <a:spcBef>
                <a:spcPts val="0"/>
              </a:spcBef>
              <a:buFont typeface="+mj-lt"/>
              <a:buAutoNum type="alphaLcPeriod"/>
            </a:pPr>
            <a:r>
              <a:rPr lang="en-US" sz="2000" dirty="0">
                <a:latin typeface="Cambria" panose="02040503050406030204" pitchFamily="18" charset="0"/>
                <a:ea typeface="Cambria" panose="02040503050406030204" pitchFamily="18" charset="0"/>
              </a:rPr>
              <a:t>Biased rankings—big firms dominate, new lawyers invisible.</a:t>
            </a:r>
            <a:endParaRPr lang="en-US" sz="2000" b="1" dirty="0">
              <a:latin typeface="Cambria" panose="02040503050406030204" pitchFamily="18" charset="0"/>
              <a:ea typeface="Cambria" panose="02040503050406030204" pitchFamily="18" charset="0"/>
            </a:endParaRPr>
          </a:p>
          <a:p>
            <a:pPr marL="609600" indent="-457200">
              <a:lnSpc>
                <a:spcPct val="110000"/>
              </a:lnSpc>
              <a:spcBef>
                <a:spcPts val="0"/>
              </a:spcBef>
              <a:buFont typeface="+mj-lt"/>
              <a:buAutoNum type="alphaLcPeriod"/>
            </a:pPr>
            <a:r>
              <a:rPr lang="en-US" sz="2000" dirty="0">
                <a:latin typeface="Cambria" panose="02040503050406030204" pitchFamily="18" charset="0"/>
                <a:ea typeface="Cambria" panose="02040503050406030204" pitchFamily="18" charset="0"/>
              </a:rPr>
              <a:t>Clients can’t judge quality until after service.</a:t>
            </a:r>
          </a:p>
          <a:p>
            <a:pPr marL="609600" indent="-457200">
              <a:lnSpc>
                <a:spcPct val="110000"/>
              </a:lnSpc>
              <a:spcBef>
                <a:spcPts val="0"/>
              </a:spcBef>
              <a:buFont typeface="+mj-lt"/>
              <a:buAutoNum type="alphaLcPeriod"/>
            </a:pPr>
            <a:r>
              <a:rPr lang="en-IN" sz="2000" dirty="0">
                <a:latin typeface="Cambria" panose="02040503050406030204" pitchFamily="18" charset="0"/>
                <a:ea typeface="Cambria" panose="02040503050406030204" pitchFamily="18" charset="0"/>
              </a:rPr>
              <a:t>Data privacy concerns (sensitive case data).</a:t>
            </a:r>
          </a:p>
          <a:p>
            <a:pPr marL="152400" indent="0">
              <a:lnSpc>
                <a:spcPct val="110000"/>
              </a:lnSpc>
              <a:spcBef>
                <a:spcPts val="0"/>
              </a:spcBef>
              <a:buNone/>
            </a:pPr>
            <a:r>
              <a:rPr lang="en-US" sz="2000" b="1" dirty="0">
                <a:latin typeface="Cambria" panose="02040503050406030204" pitchFamily="18" charset="0"/>
                <a:ea typeface="Cambria" panose="02040503050406030204" pitchFamily="18" charset="0"/>
              </a:rPr>
              <a:t>Freelance &amp; Gig Platforms (Upwork, Fiverr, </a:t>
            </a:r>
            <a:r>
              <a:rPr lang="en-US" sz="2000" b="1" dirty="0" err="1">
                <a:latin typeface="Cambria" panose="02040503050406030204" pitchFamily="18" charset="0"/>
                <a:ea typeface="Cambria" panose="02040503050406030204" pitchFamily="18" charset="0"/>
              </a:rPr>
              <a:t>UrbanCompany</a:t>
            </a:r>
            <a:r>
              <a:rPr lang="en-US" sz="2000" b="1" dirty="0">
                <a:latin typeface="Cambria" panose="02040503050406030204" pitchFamily="18" charset="0"/>
                <a:ea typeface="Cambria" panose="02040503050406030204" pitchFamily="18" charset="0"/>
              </a:rPr>
              <a:t>-style)</a:t>
            </a:r>
          </a:p>
          <a:p>
            <a:pPr indent="-457200" algn="just">
              <a:spcBef>
                <a:spcPts val="0"/>
              </a:spcBef>
              <a:buFont typeface="+mj-lt"/>
              <a:buAutoNum type="alphaLcPeriod"/>
            </a:pPr>
            <a:r>
              <a:rPr lang="en-US" sz="2000" dirty="0">
                <a:latin typeface="Cambria" panose="02040503050406030204" pitchFamily="18" charset="0"/>
                <a:ea typeface="Cambria" panose="02040503050406030204" pitchFamily="18" charset="0"/>
              </a:rPr>
              <a:t>Anyone can register → unverified/low-quality providers.</a:t>
            </a:r>
          </a:p>
          <a:p>
            <a:pPr indent="-457200" algn="just">
              <a:spcBef>
                <a:spcPts val="0"/>
              </a:spcBef>
              <a:buFont typeface="+mj-lt"/>
              <a:buAutoNum type="alphaLcPeriod"/>
            </a:pPr>
            <a:r>
              <a:rPr lang="en-US" sz="2000" dirty="0">
                <a:latin typeface="Cambria" panose="02040503050406030204" pitchFamily="18" charset="0"/>
                <a:ea typeface="Cambria" panose="02040503050406030204" pitchFamily="18" charset="0"/>
              </a:rPr>
              <a:t>Legal services become “commoditized” like gigs → not suitable for serious cases</a:t>
            </a:r>
            <a:endParaRPr lang="en-US" sz="2000" b="1" dirty="0">
              <a:latin typeface="Cambria" panose="02040503050406030204" pitchFamily="18" charset="0"/>
              <a:ea typeface="Cambria" panose="02040503050406030204" pitchFamily="18" charset="0"/>
            </a:endParaRPr>
          </a:p>
          <a:p>
            <a:pPr marL="152400" indent="0">
              <a:lnSpc>
                <a:spcPct val="110000"/>
              </a:lnSpc>
              <a:spcBef>
                <a:spcPts val="0"/>
              </a:spcBef>
              <a:buNone/>
            </a:pPr>
            <a:r>
              <a:rPr lang="en-US" sz="2000" dirty="0">
                <a:latin typeface="Cambria" panose="02040503050406030204" pitchFamily="18" charset="0"/>
                <a:ea typeface="Cambria" panose="02040503050406030204" pitchFamily="18" charset="0"/>
              </a:rPr>
              <a:t>Legal Tech Startups in India</a:t>
            </a:r>
          </a:p>
          <a:p>
            <a:pPr marL="152400" indent="0">
              <a:lnSpc>
                <a:spcPct val="110000"/>
              </a:lnSpc>
              <a:spcBef>
                <a:spcPts val="0"/>
              </a:spcBef>
              <a:buNone/>
            </a:pPr>
            <a:r>
              <a:rPr lang="en-US" sz="2000" b="1" dirty="0">
                <a:latin typeface="Cambria" panose="02040503050406030204" pitchFamily="18" charset="0"/>
                <a:ea typeface="Cambria" panose="02040503050406030204" pitchFamily="18" charset="0"/>
              </a:rPr>
              <a:t>Legal Tech Startups in India</a:t>
            </a:r>
          </a:p>
          <a:p>
            <a:pPr marL="609600" indent="-457200">
              <a:lnSpc>
                <a:spcPct val="110000"/>
              </a:lnSpc>
              <a:spcBef>
                <a:spcPts val="0"/>
              </a:spcBef>
              <a:buFont typeface="+mj-lt"/>
              <a:buAutoNum type="alphaLcPeriod"/>
            </a:pPr>
            <a:endParaRPr lang="en-US" sz="2000" b="1" dirty="0">
              <a:latin typeface="Cambria" panose="02040503050406030204" pitchFamily="18" charset="0"/>
              <a:ea typeface="Cambria" panose="02040503050406030204" pitchFamily="18" charset="0"/>
            </a:endParaRPr>
          </a:p>
          <a:p>
            <a:pPr indent="-457200" algn="just">
              <a:spcBef>
                <a:spcPts val="0"/>
              </a:spcBef>
              <a:buFont typeface="+mj-lt"/>
              <a:buAutoNum type="alphaLcPeriod"/>
            </a:pPr>
            <a:endParaRPr lang="en-US" sz="2000" b="1" dirty="0">
              <a:latin typeface="Cambria" panose="02040503050406030204" pitchFamily="18" charset="0"/>
              <a:ea typeface="Cambria" panose="02040503050406030204" pitchFamily="18" charset="0"/>
            </a:endParaRPr>
          </a:p>
          <a:p>
            <a:pPr marL="0" indent="0" algn="just">
              <a:spcBef>
                <a:spcPts val="0"/>
              </a:spcBef>
              <a:buNone/>
            </a:pPr>
            <a:endParaRPr lang="en-US" sz="2000" b="1"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A5287-2869-49D4-B738-F43C9E8AF249}"/>
              </a:ext>
            </a:extLst>
          </p:cNvPr>
          <p:cNvSpPr>
            <a:spLocks noGrp="1"/>
          </p:cNvSpPr>
          <p:nvPr>
            <p:ph type="title"/>
          </p:nvPr>
        </p:nvSpPr>
        <p:spPr/>
        <p:txBody>
          <a:bodyPr/>
          <a:lstStyle/>
          <a:p>
            <a:r>
              <a:rPr lang="en-IN" dirty="0"/>
              <a:t>Proposed Methods and Feasibility Study</a:t>
            </a:r>
          </a:p>
        </p:txBody>
      </p:sp>
      <p:sp>
        <p:nvSpPr>
          <p:cNvPr id="3" name="Text Placeholder 2">
            <a:extLst>
              <a:ext uri="{FF2B5EF4-FFF2-40B4-BE49-F238E27FC236}">
                <a16:creationId xmlns:a16="http://schemas.microsoft.com/office/drawing/2014/main" id="{2256F8EB-A3A2-5602-437C-75B4FEFC9533}"/>
              </a:ext>
            </a:extLst>
          </p:cNvPr>
          <p:cNvSpPr>
            <a:spLocks noGrp="1"/>
          </p:cNvSpPr>
          <p:nvPr>
            <p:ph type="body" idx="1"/>
          </p:nvPr>
        </p:nvSpPr>
        <p:spPr/>
        <p:txBody>
          <a:bodyPr>
            <a:normAutofit/>
          </a:bodyPr>
          <a:lstStyle/>
          <a:p>
            <a:pPr marL="342900" indent="-342900" eaLnBrk="0" fontAlgn="base" hangingPunct="0">
              <a:spcBef>
                <a:spcPct val="0"/>
              </a:spcBef>
              <a:spcAft>
                <a:spcPct val="0"/>
              </a:spcAft>
              <a:buClrTx/>
              <a:buSzTx/>
            </a:pPr>
            <a:r>
              <a:rPr lang="en-US" altLang="en-US" b="1" dirty="0">
                <a:solidFill>
                  <a:schemeClr val="tx1"/>
                </a:solidFill>
                <a:latin typeface="Cambria" panose="02040503050406030204" pitchFamily="18" charset="0"/>
                <a:ea typeface="Cambria" panose="02040503050406030204" pitchFamily="18" charset="0"/>
              </a:rPr>
              <a:t>Verified Digital Onboarding</a:t>
            </a:r>
            <a:r>
              <a:rPr lang="en-US" altLang="en-US" dirty="0">
                <a:solidFill>
                  <a:schemeClr val="tx1"/>
                </a:solidFill>
                <a:latin typeface="Cambria" panose="02040503050406030204" pitchFamily="18" charset="0"/>
                <a:ea typeface="Cambria" panose="02040503050406030204" pitchFamily="18" charset="0"/>
              </a:rPr>
              <a:t> → Bar Council ID, Aadhaar/</a:t>
            </a:r>
            <a:r>
              <a:rPr lang="en-US" altLang="en-US" dirty="0" err="1">
                <a:solidFill>
                  <a:schemeClr val="tx1"/>
                </a:solidFill>
                <a:latin typeface="Cambria" panose="02040503050406030204" pitchFamily="18" charset="0"/>
                <a:ea typeface="Cambria" panose="02040503050406030204" pitchFamily="18" charset="0"/>
              </a:rPr>
              <a:t>DigiLocker</a:t>
            </a:r>
            <a:r>
              <a:rPr lang="en-US" altLang="en-US" dirty="0">
                <a:solidFill>
                  <a:schemeClr val="tx1"/>
                </a:solidFill>
                <a:latin typeface="Cambria" panose="02040503050406030204" pitchFamily="18" charset="0"/>
                <a:ea typeface="Cambria" panose="02040503050406030204" pitchFamily="18" charset="0"/>
              </a:rPr>
              <a:t>, License checks.</a:t>
            </a:r>
          </a:p>
          <a:p>
            <a:pPr marL="342900" indent="-342900" eaLnBrk="0" fontAlgn="base" hangingPunct="0">
              <a:spcBef>
                <a:spcPct val="0"/>
              </a:spcBef>
              <a:spcAft>
                <a:spcPct val="0"/>
              </a:spcAft>
              <a:buClrTx/>
              <a:buSzTx/>
            </a:pPr>
            <a:r>
              <a:rPr lang="en-US" altLang="en-US" b="1" dirty="0">
                <a:solidFill>
                  <a:schemeClr val="tx1"/>
                </a:solidFill>
                <a:latin typeface="Cambria" panose="02040503050406030204" pitchFamily="18" charset="0"/>
                <a:ea typeface="Cambria" panose="02040503050406030204" pitchFamily="18" charset="0"/>
              </a:rPr>
              <a:t>AI-Powered Matching</a:t>
            </a:r>
            <a:r>
              <a:rPr lang="en-US" altLang="en-US" dirty="0">
                <a:solidFill>
                  <a:schemeClr val="tx1"/>
                </a:solidFill>
                <a:latin typeface="Cambria" panose="02040503050406030204" pitchFamily="18" charset="0"/>
                <a:ea typeface="Cambria" panose="02040503050406030204" pitchFamily="18" charset="0"/>
              </a:rPr>
              <a:t> → Clients matched with lawyers by specialization, location, language.</a:t>
            </a:r>
          </a:p>
          <a:p>
            <a:pPr marL="342900" indent="-342900" eaLnBrk="0" fontAlgn="base" hangingPunct="0">
              <a:spcBef>
                <a:spcPct val="0"/>
              </a:spcBef>
              <a:spcAft>
                <a:spcPct val="0"/>
              </a:spcAft>
              <a:buClrTx/>
              <a:buSzTx/>
            </a:pPr>
            <a:r>
              <a:rPr lang="en-US" altLang="en-US" b="1" dirty="0">
                <a:solidFill>
                  <a:schemeClr val="tx1"/>
                </a:solidFill>
                <a:latin typeface="Cambria" panose="02040503050406030204" pitchFamily="18" charset="0"/>
                <a:ea typeface="Cambria" panose="02040503050406030204" pitchFamily="18" charset="0"/>
              </a:rPr>
              <a:t>Gamified Incentives</a:t>
            </a:r>
            <a:r>
              <a:rPr lang="en-US" altLang="en-US" dirty="0">
                <a:solidFill>
                  <a:schemeClr val="tx1"/>
                </a:solidFill>
                <a:latin typeface="Cambria" panose="02040503050406030204" pitchFamily="18" charset="0"/>
                <a:ea typeface="Cambria" panose="02040503050406030204" pitchFamily="18" charset="0"/>
              </a:rPr>
              <a:t> → Badges, leaderboards, tiers (Bronze → Gold → Platinum).</a:t>
            </a:r>
          </a:p>
          <a:p>
            <a:pPr marL="342900" indent="-342900" eaLnBrk="0" fontAlgn="base" hangingPunct="0">
              <a:spcBef>
                <a:spcPct val="0"/>
              </a:spcBef>
              <a:spcAft>
                <a:spcPct val="0"/>
              </a:spcAft>
              <a:buClrTx/>
              <a:buSzTx/>
            </a:pPr>
            <a:r>
              <a:rPr lang="en-US" altLang="en-US" dirty="0">
                <a:solidFill>
                  <a:schemeClr val="tx1"/>
                </a:solidFill>
                <a:latin typeface="Cambria" panose="02040503050406030204" pitchFamily="18" charset="0"/>
                <a:ea typeface="Cambria" panose="02040503050406030204" pitchFamily="18" charset="0"/>
              </a:rPr>
              <a:t> </a:t>
            </a:r>
            <a:r>
              <a:rPr lang="en-US" altLang="en-US" b="1" dirty="0">
                <a:solidFill>
                  <a:schemeClr val="tx1"/>
                </a:solidFill>
                <a:latin typeface="Cambria" panose="02040503050406030204" pitchFamily="18" charset="0"/>
                <a:ea typeface="Cambria" panose="02040503050406030204" pitchFamily="18" charset="0"/>
              </a:rPr>
              <a:t>Financial-Based Rewards </a:t>
            </a:r>
            <a:r>
              <a:rPr lang="en-US" altLang="en-US" dirty="0">
                <a:solidFill>
                  <a:schemeClr val="tx1"/>
                </a:solidFill>
                <a:latin typeface="Cambria" panose="02040503050406030204" pitchFamily="18" charset="0"/>
                <a:ea typeface="Cambria" panose="02040503050406030204" pitchFamily="18" charset="0"/>
              </a:rPr>
              <a:t>→ Providers will be eligible for financial bonuses for timely completion of services based on feedback and badges.</a:t>
            </a:r>
          </a:p>
          <a:p>
            <a:pPr marL="342900" indent="-342900" eaLnBrk="0" fontAlgn="base" hangingPunct="0">
              <a:spcBef>
                <a:spcPct val="0"/>
              </a:spcBef>
              <a:spcAft>
                <a:spcPct val="0"/>
              </a:spcAft>
              <a:buClrTx/>
              <a:buSzTx/>
            </a:pPr>
            <a:r>
              <a:rPr lang="en-US" altLang="en-US" b="1" dirty="0">
                <a:solidFill>
                  <a:schemeClr val="tx1"/>
                </a:solidFill>
                <a:latin typeface="Cambria" panose="02040503050406030204" pitchFamily="18" charset="0"/>
                <a:ea typeface="Cambria" panose="02040503050406030204" pitchFamily="18" charset="0"/>
              </a:rPr>
              <a:t>Participation of all legal service providers </a:t>
            </a:r>
            <a:r>
              <a:rPr lang="en-US" altLang="en-US" dirty="0">
                <a:solidFill>
                  <a:schemeClr val="tx1"/>
                </a:solidFill>
                <a:latin typeface="Cambria" panose="02040503050406030204" pitchFamily="18" charset="0"/>
                <a:ea typeface="Cambria" panose="02040503050406030204" pitchFamily="18" charset="0"/>
              </a:rPr>
              <a:t>→All the legal service providers like advocates, lawyers, arbitrators, mediators, notaries and document writers.</a:t>
            </a:r>
          </a:p>
          <a:p>
            <a:r>
              <a:rPr lang="en-IN" b="1" dirty="0">
                <a:solidFill>
                  <a:schemeClr val="tx1"/>
                </a:solidFill>
                <a:latin typeface="Cambria" panose="02040503050406030204" pitchFamily="18" charset="0"/>
                <a:ea typeface="Cambria" panose="02040503050406030204" pitchFamily="18" charset="0"/>
              </a:rPr>
              <a:t>Accessibility for all citizens</a:t>
            </a:r>
            <a:r>
              <a:rPr lang="en-US" altLang="en-US" b="1" dirty="0">
                <a:solidFill>
                  <a:schemeClr val="tx1"/>
                </a:solidFill>
                <a:latin typeface="Cambria" panose="02040503050406030204" pitchFamily="18" charset="0"/>
                <a:ea typeface="Cambria" panose="02040503050406030204" pitchFamily="18" charset="0"/>
              </a:rPr>
              <a:t> </a:t>
            </a:r>
            <a:r>
              <a:rPr lang="en-US" altLang="en-US" dirty="0">
                <a:solidFill>
                  <a:schemeClr val="tx1"/>
                </a:solidFill>
                <a:latin typeface="Cambria" panose="02040503050406030204" pitchFamily="18" charset="0"/>
                <a:ea typeface="Cambria" panose="02040503050406030204" pitchFamily="18" charset="0"/>
              </a:rPr>
              <a:t>→All the citizens can assess this easily without and need of other just like other apps.</a:t>
            </a:r>
          </a:p>
        </p:txBody>
      </p:sp>
    </p:spTree>
    <p:extLst>
      <p:ext uri="{BB962C8B-B14F-4D97-AF65-F5344CB8AC3E}">
        <p14:creationId xmlns:p14="http://schemas.microsoft.com/office/powerpoint/2010/main" val="3226903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IN" dirty="0">
                <a:latin typeface="Cambria" panose="02040503050406030204" pitchFamily="18" charset="0"/>
                <a:ea typeface="Cambria" panose="02040503050406030204" pitchFamily="18" charset="0"/>
              </a:rPr>
              <a:t>Architecture Diagram</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32485" y="951470"/>
            <a:ext cx="11528855" cy="5350475"/>
          </a:xfrm>
          <a:prstGeom prst="rect">
            <a:avLst/>
          </a:prstGeom>
          <a:noFill/>
          <a:ln>
            <a:noFill/>
          </a:ln>
        </p:spPr>
        <p:txBody>
          <a:bodyPr spcFirstLastPara="1" wrap="square" lIns="91425" tIns="45700" rIns="91425" bIns="45700" anchor="t" anchorCtr="0">
            <a:normAutofit/>
          </a:bodyPr>
          <a:lstStyle/>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pic>
        <p:nvPicPr>
          <p:cNvPr id="2" name="Picture 1">
            <a:extLst>
              <a:ext uri="{FF2B5EF4-FFF2-40B4-BE49-F238E27FC236}">
                <a16:creationId xmlns:a16="http://schemas.microsoft.com/office/drawing/2014/main" id="{027B3455-9888-C26D-8526-EF92729D52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11890" y="1161536"/>
            <a:ext cx="11246660" cy="47449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47CE-1FA9-D971-B61D-8390702FC1A5}"/>
              </a:ext>
            </a:extLst>
          </p:cNvPr>
          <p:cNvSpPr>
            <a:spLocks noGrp="1"/>
          </p:cNvSpPr>
          <p:nvPr>
            <p:ph type="title"/>
          </p:nvPr>
        </p:nvSpPr>
        <p:spPr/>
        <p:txBody>
          <a:bodyPr/>
          <a:lstStyle/>
          <a:p>
            <a:r>
              <a:rPr lang="en-US" dirty="0"/>
              <a:t>System architecture diagram</a:t>
            </a:r>
            <a:endParaRPr lang="en-IN" dirty="0"/>
          </a:p>
        </p:txBody>
      </p:sp>
      <p:sp>
        <p:nvSpPr>
          <p:cNvPr id="3" name="Text Placeholder 2">
            <a:extLst>
              <a:ext uri="{FF2B5EF4-FFF2-40B4-BE49-F238E27FC236}">
                <a16:creationId xmlns:a16="http://schemas.microsoft.com/office/drawing/2014/main" id="{C036CD12-371E-5B6A-5D67-8ADFCC5A6143}"/>
              </a:ext>
            </a:extLst>
          </p:cNvPr>
          <p:cNvSpPr>
            <a:spLocks noGrp="1"/>
          </p:cNvSpPr>
          <p:nvPr>
            <p:ph type="body" idx="1"/>
          </p:nvPr>
        </p:nvSpPr>
        <p:spPr/>
        <p:txBody>
          <a:bodyPr>
            <a:normAutofit/>
          </a:bodyPr>
          <a:lstStyle/>
          <a:p>
            <a:r>
              <a:rPr lang="en-US" sz="1800" dirty="0">
                <a:latin typeface="Cambria" panose="02040503050406030204" pitchFamily="18" charset="0"/>
                <a:ea typeface="Cambria" panose="02040503050406030204" pitchFamily="18" charset="0"/>
              </a:rPr>
              <a:t>The above diagram represent  the system architecture of the e-Marketplace for legal services. It demonstrates the interaction of the three primary users: </a:t>
            </a:r>
          </a:p>
          <a:p>
            <a:r>
              <a:rPr lang="en-US" sz="1800" b="1" dirty="0">
                <a:latin typeface="Cambria" panose="02040503050406030204" pitchFamily="18" charset="0"/>
                <a:ea typeface="Cambria" panose="02040503050406030204" pitchFamily="18" charset="0"/>
              </a:rPr>
              <a:t>Citizens</a:t>
            </a:r>
            <a:r>
              <a:rPr lang="en-US" sz="1800" dirty="0">
                <a:latin typeface="Cambria" panose="02040503050406030204" pitchFamily="18" charset="0"/>
                <a:ea typeface="Cambria" panose="02040503050406030204" pitchFamily="18" charset="0"/>
              </a:rPr>
              <a:t>, who use the system as Service Seekers.</a:t>
            </a:r>
          </a:p>
          <a:p>
            <a:r>
              <a:rPr lang="en-US" sz="1800" b="1" dirty="0">
                <a:latin typeface="Cambria" panose="02040503050406030204" pitchFamily="18" charset="0"/>
                <a:ea typeface="Cambria" panose="02040503050406030204" pitchFamily="18" charset="0"/>
              </a:rPr>
              <a:t>Service Providers </a:t>
            </a:r>
            <a:r>
              <a:rPr lang="en-US" sz="1800" dirty="0">
                <a:latin typeface="Cambria" panose="02040503050406030204" pitchFamily="18" charset="0"/>
                <a:ea typeface="Cambria" panose="02040503050406030204" pitchFamily="18" charset="0"/>
              </a:rPr>
              <a:t>who provides the services.</a:t>
            </a:r>
            <a:endParaRPr lang="en-US" sz="1800" b="1"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Admin Users, </a:t>
            </a:r>
            <a:r>
              <a:rPr lang="en-US" sz="1800" dirty="0">
                <a:latin typeface="Cambria" panose="02040503050406030204" pitchFamily="18" charset="0"/>
                <a:ea typeface="Cambria" panose="02040503050406030204" pitchFamily="18" charset="0"/>
              </a:rPr>
              <a:t>interact with the core system components. </a:t>
            </a:r>
          </a:p>
          <a:p>
            <a:r>
              <a:rPr lang="en-US" sz="1800" b="1" dirty="0">
                <a:latin typeface="Cambria" panose="02040503050406030204" pitchFamily="18" charset="0"/>
                <a:ea typeface="Cambria" panose="02040503050406030204" pitchFamily="18" charset="0"/>
              </a:rPr>
              <a:t>Citizens (Service Seekers) </a:t>
            </a:r>
            <a:r>
              <a:rPr lang="en-US" sz="1800" dirty="0">
                <a:latin typeface="Cambria" panose="02040503050406030204" pitchFamily="18" charset="0"/>
                <a:ea typeface="Cambria" panose="02040503050406030204" pitchFamily="18" charset="0"/>
              </a:rPr>
              <a:t>use the Frontend (HTML, CSS, React) component to access the e-Marketplace system to search for a provider, make a booking, or submit feedback. </a:t>
            </a:r>
          </a:p>
          <a:p>
            <a:r>
              <a:rPr lang="en-US" sz="1800" b="1" dirty="0">
                <a:latin typeface="Cambria" panose="02040503050406030204" pitchFamily="18" charset="0"/>
                <a:ea typeface="Cambria" panose="02040503050406030204" pitchFamily="18" charset="0"/>
              </a:rPr>
              <a:t>Service Providers (Advocates, Notaries, Mediators, Arbitrators, Document Writers, etc.) </a:t>
            </a:r>
            <a:r>
              <a:rPr lang="en-US" sz="1800" dirty="0">
                <a:latin typeface="Cambria" panose="02040503050406030204" pitchFamily="18" charset="0"/>
                <a:ea typeface="Cambria" panose="02040503050406030204" pitchFamily="18" charset="0"/>
              </a:rPr>
              <a:t>use the same Frontend component to manage their profile, accept/reject a booking, or view their incentive dashboard. </a:t>
            </a:r>
          </a:p>
          <a:p>
            <a:r>
              <a:rPr lang="en-US" sz="1800" b="1" dirty="0">
                <a:latin typeface="Cambria" panose="02040503050406030204" pitchFamily="18" charset="0"/>
                <a:ea typeface="Cambria" panose="02040503050406030204" pitchFamily="18" charset="0"/>
              </a:rPr>
              <a:t>Admin (Platform Manager)</a:t>
            </a:r>
            <a:r>
              <a:rPr lang="en-US" sz="1800" dirty="0">
                <a:latin typeface="Cambria" panose="02040503050406030204" pitchFamily="18" charset="0"/>
                <a:ea typeface="Cambria" panose="02040503050406030204" pitchFamily="18" charset="0"/>
              </a:rPr>
              <a:t> will use the relatively small Admin component of the e-Marketplace system to verify providers, or resolve disputes, or configure incentives. </a:t>
            </a:r>
          </a:p>
        </p:txBody>
      </p:sp>
    </p:spTree>
    <p:extLst>
      <p:ext uri="{BB962C8B-B14F-4D97-AF65-F5344CB8AC3E}">
        <p14:creationId xmlns:p14="http://schemas.microsoft.com/office/powerpoint/2010/main" val="1927890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4F959-FF3E-B143-6E2E-06CB00001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F5690-BF47-7DEE-216B-563DB48D7686}"/>
              </a:ext>
            </a:extLst>
          </p:cNvPr>
          <p:cNvSpPr>
            <a:spLocks noGrp="1"/>
          </p:cNvSpPr>
          <p:nvPr>
            <p:ph type="title"/>
          </p:nvPr>
        </p:nvSpPr>
        <p:spPr/>
        <p:txBody>
          <a:bodyPr/>
          <a:lstStyle/>
          <a:p>
            <a:r>
              <a:rPr lang="en-US" dirty="0"/>
              <a:t>System architecture diagram</a:t>
            </a:r>
            <a:endParaRPr lang="en-IN" dirty="0"/>
          </a:p>
        </p:txBody>
      </p:sp>
      <p:sp>
        <p:nvSpPr>
          <p:cNvPr id="3" name="Text Placeholder 2">
            <a:extLst>
              <a:ext uri="{FF2B5EF4-FFF2-40B4-BE49-F238E27FC236}">
                <a16:creationId xmlns:a16="http://schemas.microsoft.com/office/drawing/2014/main" id="{E7759C68-C838-0522-5949-0489E6B40CEE}"/>
              </a:ext>
            </a:extLst>
          </p:cNvPr>
          <p:cNvSpPr>
            <a:spLocks noGrp="1"/>
          </p:cNvSpPr>
          <p:nvPr>
            <p:ph type="body" idx="1"/>
          </p:nvPr>
        </p:nvSpPr>
        <p:spPr/>
        <p:txBody>
          <a:bodyPr>
            <a:normAutofit/>
          </a:bodyPr>
          <a:lstStyle/>
          <a:p>
            <a:r>
              <a:rPr lang="en-US" sz="2000" dirty="0">
                <a:latin typeface="Cambria" panose="02040503050406030204" pitchFamily="18" charset="0"/>
                <a:ea typeface="Cambria" panose="02040503050406030204" pitchFamily="18" charset="0"/>
              </a:rPr>
              <a:t>All user requests will be served from the Backend (Java with JSP/Servlets), where business logic for authentication, management of bookings for service seekers, and incentives for service providers will all reside.</a:t>
            </a:r>
          </a:p>
          <a:p>
            <a:r>
              <a:rPr lang="en-US" sz="2000" dirty="0">
                <a:latin typeface="Cambria" panose="02040503050406030204" pitchFamily="18" charset="0"/>
                <a:ea typeface="Cambria" panose="02040503050406030204" pitchFamily="18" charset="0"/>
              </a:rPr>
              <a:t>MySQL Database will serve as the repository for the all user details, provider credentials, bookings, incentives, ratings, and transactions reporting. </a:t>
            </a:r>
          </a:p>
          <a:p>
            <a:r>
              <a:rPr lang="en-US" sz="2000" dirty="0">
                <a:latin typeface="Cambria" panose="02040503050406030204" pitchFamily="18" charset="0"/>
                <a:ea typeface="Cambria" panose="02040503050406030204" pitchFamily="18" charset="0"/>
              </a:rPr>
              <a:t>Further, the high-level architecture accommodates for External APIs such as Payment Gateways for secure online transactions, and KYC Verification APIs to verify legal service providers in a convenient manner. These components are noted in the diagram as optional elements for future enhancement.</a:t>
            </a:r>
          </a:p>
          <a:p>
            <a:r>
              <a:rPr lang="en-US" sz="2000" dirty="0">
                <a:latin typeface="Cambria" panose="02040503050406030204" pitchFamily="18" charset="0"/>
                <a:ea typeface="Cambria" panose="02040503050406030204" pitchFamily="18" charset="0"/>
              </a:rPr>
              <a:t>In total, the e-Marketplace system architecture provides for a modular and scalable, safe and efficient interaction of users, and responsible management of data.</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26067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F6CAD-7E7D-5596-D3C0-CACBB880F410}"/>
              </a:ext>
            </a:extLst>
          </p:cNvPr>
          <p:cNvSpPr>
            <a:spLocks noGrp="1"/>
          </p:cNvSpPr>
          <p:nvPr>
            <p:ph type="title"/>
          </p:nvPr>
        </p:nvSpPr>
        <p:spPr/>
        <p:txBody>
          <a:bodyPr/>
          <a:lstStyle/>
          <a:p>
            <a:r>
              <a:rPr lang="en-IN" dirty="0"/>
              <a:t>Modules</a:t>
            </a:r>
          </a:p>
        </p:txBody>
      </p:sp>
      <p:sp>
        <p:nvSpPr>
          <p:cNvPr id="3" name="Text Placeholder 2">
            <a:extLst>
              <a:ext uri="{FF2B5EF4-FFF2-40B4-BE49-F238E27FC236}">
                <a16:creationId xmlns:a16="http://schemas.microsoft.com/office/drawing/2014/main" id="{4E10FEE5-5A7E-9037-F919-FC617E3941D9}"/>
              </a:ext>
            </a:extLst>
          </p:cNvPr>
          <p:cNvSpPr>
            <a:spLocks noGrp="1"/>
          </p:cNvSpPr>
          <p:nvPr>
            <p:ph type="body" idx="1"/>
          </p:nvPr>
        </p:nvSpPr>
        <p:spPr/>
        <p:txBody>
          <a:bodyPr/>
          <a:lstStyle/>
          <a:p>
            <a:r>
              <a:rPr lang="en-IN" b="1" dirty="0"/>
              <a:t> Citizen Module</a:t>
            </a:r>
          </a:p>
          <a:p>
            <a:endParaRPr lang="en-IN" b="1" dirty="0"/>
          </a:p>
          <a:p>
            <a:endParaRPr lang="en-IN" b="1" dirty="0"/>
          </a:p>
          <a:p>
            <a:endParaRPr lang="en-IN" b="1" dirty="0"/>
          </a:p>
          <a:p>
            <a:endParaRPr lang="en-IN" b="1" dirty="0"/>
          </a:p>
          <a:p>
            <a:r>
              <a:rPr lang="en-IN" b="1" dirty="0"/>
              <a:t>Service Provider Module</a:t>
            </a:r>
            <a:endParaRPr lang="en-IN" dirty="0"/>
          </a:p>
          <a:p>
            <a:endParaRPr lang="en-IN" dirty="0"/>
          </a:p>
          <a:p>
            <a:endParaRPr lang="en-IN" dirty="0"/>
          </a:p>
          <a:p>
            <a:endParaRPr lang="en-IN" dirty="0"/>
          </a:p>
        </p:txBody>
      </p:sp>
      <p:pic>
        <p:nvPicPr>
          <p:cNvPr id="4" name="Picture 3">
            <a:extLst>
              <a:ext uri="{FF2B5EF4-FFF2-40B4-BE49-F238E27FC236}">
                <a16:creationId xmlns:a16="http://schemas.microsoft.com/office/drawing/2014/main" id="{9F794754-3537-B048-970D-8052E8549B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301048" y="964856"/>
            <a:ext cx="4633783" cy="2524529"/>
          </a:xfrm>
          <a:prstGeom prst="rect">
            <a:avLst/>
          </a:prstGeom>
          <a:noFill/>
          <a:ln>
            <a:noFill/>
          </a:ln>
        </p:spPr>
      </p:pic>
      <p:pic>
        <p:nvPicPr>
          <p:cNvPr id="6" name="Picture 5">
            <a:extLst>
              <a:ext uri="{FF2B5EF4-FFF2-40B4-BE49-F238E27FC236}">
                <a16:creationId xmlns:a16="http://schemas.microsoft.com/office/drawing/2014/main" id="{AEA8D146-BFE5-E868-1126-1DEE32F9A9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544445" y="3731740"/>
            <a:ext cx="4851074" cy="2651268"/>
          </a:xfrm>
          <a:prstGeom prst="rect">
            <a:avLst/>
          </a:prstGeom>
          <a:noFill/>
          <a:ln>
            <a:noFill/>
          </a:ln>
        </p:spPr>
      </p:pic>
    </p:spTree>
    <p:extLst>
      <p:ext uri="{BB962C8B-B14F-4D97-AF65-F5344CB8AC3E}">
        <p14:creationId xmlns:p14="http://schemas.microsoft.com/office/powerpoint/2010/main" val="1367786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EF0C7-D43C-2661-89AA-2FF09FE18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D3443-8786-2358-46C1-95D5CCD1BB11}"/>
              </a:ext>
            </a:extLst>
          </p:cNvPr>
          <p:cNvSpPr>
            <a:spLocks noGrp="1"/>
          </p:cNvSpPr>
          <p:nvPr>
            <p:ph type="title"/>
          </p:nvPr>
        </p:nvSpPr>
        <p:spPr/>
        <p:txBody>
          <a:bodyPr/>
          <a:lstStyle/>
          <a:p>
            <a:r>
              <a:rPr lang="en-IN" dirty="0"/>
              <a:t>Modules</a:t>
            </a:r>
          </a:p>
        </p:txBody>
      </p:sp>
      <p:sp>
        <p:nvSpPr>
          <p:cNvPr id="3" name="Text Placeholder 2">
            <a:extLst>
              <a:ext uri="{FF2B5EF4-FFF2-40B4-BE49-F238E27FC236}">
                <a16:creationId xmlns:a16="http://schemas.microsoft.com/office/drawing/2014/main" id="{AFAD73B1-8691-8370-C470-A8D652DD1195}"/>
              </a:ext>
            </a:extLst>
          </p:cNvPr>
          <p:cNvSpPr>
            <a:spLocks noGrp="1"/>
          </p:cNvSpPr>
          <p:nvPr>
            <p:ph type="body" idx="1"/>
          </p:nvPr>
        </p:nvSpPr>
        <p:spPr/>
        <p:txBody>
          <a:bodyPr/>
          <a:lstStyle/>
          <a:p>
            <a:r>
              <a:rPr lang="en-IN" b="1" dirty="0"/>
              <a:t>Admin Module</a:t>
            </a:r>
          </a:p>
          <a:p>
            <a:endParaRPr lang="en-IN" b="1" dirty="0"/>
          </a:p>
          <a:p>
            <a:endParaRPr lang="en-IN" b="1" dirty="0"/>
          </a:p>
          <a:p>
            <a:endParaRPr lang="en-IN" b="1" dirty="0"/>
          </a:p>
          <a:p>
            <a:pPr marL="76200" indent="0">
              <a:buNone/>
            </a:pPr>
            <a:endParaRPr lang="en-IN" b="1" dirty="0"/>
          </a:p>
          <a:p>
            <a:r>
              <a:rPr lang="en-IN" b="1" dirty="0"/>
              <a:t>Common/Shared Modules</a:t>
            </a:r>
            <a:endParaRPr lang="en-IN" dirty="0"/>
          </a:p>
          <a:p>
            <a:endParaRPr lang="en-IN" dirty="0"/>
          </a:p>
        </p:txBody>
      </p:sp>
      <p:pic>
        <p:nvPicPr>
          <p:cNvPr id="4" name="Picture 3">
            <a:extLst>
              <a:ext uri="{FF2B5EF4-FFF2-40B4-BE49-F238E27FC236}">
                <a16:creationId xmlns:a16="http://schemas.microsoft.com/office/drawing/2014/main" id="{56E3508D-DF8F-5FD1-9EFE-FA803BE58F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838803" y="1007510"/>
            <a:ext cx="4122952" cy="2421489"/>
          </a:xfrm>
          <a:prstGeom prst="rect">
            <a:avLst/>
          </a:prstGeom>
          <a:noFill/>
          <a:ln>
            <a:noFill/>
          </a:ln>
        </p:spPr>
      </p:pic>
      <p:pic>
        <p:nvPicPr>
          <p:cNvPr id="5" name="Picture 4">
            <a:extLst>
              <a:ext uri="{FF2B5EF4-FFF2-40B4-BE49-F238E27FC236}">
                <a16:creationId xmlns:a16="http://schemas.microsoft.com/office/drawing/2014/main" id="{BB546623-EE2C-34E8-E9C6-7E908CD327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329996" y="4088173"/>
            <a:ext cx="5731510" cy="1901190"/>
          </a:xfrm>
          <a:prstGeom prst="rect">
            <a:avLst/>
          </a:prstGeom>
          <a:noFill/>
          <a:ln>
            <a:noFill/>
          </a:ln>
        </p:spPr>
      </p:pic>
    </p:spTree>
    <p:extLst>
      <p:ext uri="{BB962C8B-B14F-4D97-AF65-F5344CB8AC3E}">
        <p14:creationId xmlns:p14="http://schemas.microsoft.com/office/powerpoint/2010/main" val="2369060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427789" y="237831"/>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Technology Stack Components</a:t>
            </a:r>
          </a:p>
        </p:txBody>
      </p:sp>
      <p:sp>
        <p:nvSpPr>
          <p:cNvPr id="115" name="Google Shape;115;p17"/>
          <p:cNvSpPr txBox="1">
            <a:spLocks noGrp="1"/>
          </p:cNvSpPr>
          <p:nvPr>
            <p:ph type="body" idx="1"/>
          </p:nvPr>
        </p:nvSpPr>
        <p:spPr>
          <a:xfrm>
            <a:off x="427789" y="951207"/>
            <a:ext cx="11751276" cy="5668962"/>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1. Frontend (User Interface):</a:t>
            </a:r>
            <a:r>
              <a:rPr lang="en-IN" dirty="0">
                <a:latin typeface="Cambria" panose="02040503050406030204" pitchFamily="18" charset="0"/>
                <a:ea typeface="Cambria" panose="02040503050406030204" pitchFamily="18" charset="0"/>
              </a:rPr>
              <a:t> HTML, CSS, </a:t>
            </a:r>
            <a:r>
              <a:rPr lang="en-IN" dirty="0" err="1">
                <a:latin typeface="Cambria" panose="02040503050406030204" pitchFamily="18" charset="0"/>
                <a:ea typeface="Cambria" panose="02040503050406030204" pitchFamily="18" charset="0"/>
              </a:rPr>
              <a:t>Reactjs</a:t>
            </a: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2. Backend (Server-side Logic):</a:t>
            </a:r>
            <a:r>
              <a:rPr lang="en-IN" dirty="0">
                <a:latin typeface="Cambria" panose="02040503050406030204" pitchFamily="18" charset="0"/>
                <a:ea typeface="Cambria" panose="02040503050406030204" pitchFamily="18" charset="0"/>
              </a:rPr>
              <a:t> Java</a:t>
            </a:r>
          </a:p>
          <a:p>
            <a:pPr marL="76200" indent="0">
              <a:buNone/>
            </a:pPr>
            <a:r>
              <a:rPr lang="en-IN" b="1" dirty="0">
                <a:latin typeface="Cambria" panose="02040503050406030204" pitchFamily="18" charset="0"/>
                <a:ea typeface="Cambria" panose="02040503050406030204" pitchFamily="18" charset="0"/>
              </a:rPr>
              <a:t>3. Database (Data Storage):</a:t>
            </a:r>
            <a:r>
              <a:rPr lang="en-IN" dirty="0">
                <a:latin typeface="Cambria" panose="02040503050406030204" pitchFamily="18" charset="0"/>
                <a:ea typeface="Cambria" panose="02040503050406030204" pitchFamily="18" charset="0"/>
              </a:rPr>
              <a:t> MySQL/MongoDB</a:t>
            </a:r>
          </a:p>
          <a:p>
            <a:pPr marL="76200" indent="0">
              <a:buNone/>
            </a:pPr>
            <a:r>
              <a:rPr lang="en-IN" b="1" dirty="0">
                <a:latin typeface="Cambria" panose="02040503050406030204" pitchFamily="18" charset="0"/>
                <a:ea typeface="Cambria" panose="02040503050406030204" pitchFamily="18" charset="0"/>
              </a:rPr>
              <a:t>4. Security &amp; Authentication: </a:t>
            </a:r>
            <a:r>
              <a:rPr lang="en-IN" dirty="0">
                <a:latin typeface="Cambria" panose="02040503050406030204" pitchFamily="18" charset="0"/>
                <a:ea typeface="Cambria" panose="02040503050406030204" pitchFamily="18" charset="0"/>
              </a:rPr>
              <a:t>JWT</a:t>
            </a:r>
          </a:p>
          <a:p>
            <a:pPr marL="76200" indent="0">
              <a:buNone/>
            </a:pPr>
            <a:r>
              <a:rPr lang="en-IN" b="1" dirty="0">
                <a:latin typeface="Cambria" panose="02040503050406030204" pitchFamily="18" charset="0"/>
                <a:ea typeface="Cambria" panose="02040503050406030204" pitchFamily="18" charset="0"/>
              </a:rPr>
              <a:t>5. Integration Services</a:t>
            </a: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APIs:</a:t>
            </a:r>
            <a:r>
              <a:rPr lang="en-IN" dirty="0">
                <a:latin typeface="Cambria" panose="02040503050406030204" pitchFamily="18" charset="0"/>
                <a:ea typeface="Cambria" panose="02040503050406030204" pitchFamily="18" charset="0"/>
              </a:rPr>
              <a:t> Integration with court systems, legal aid clinics, bar associations.</a:t>
            </a:r>
          </a:p>
          <a:p>
            <a:pPr marL="76200" indent="0">
              <a:buNone/>
            </a:pPr>
            <a:r>
              <a:rPr lang="en-IN" b="1" dirty="0">
                <a:latin typeface="Cambria" panose="02040503050406030204" pitchFamily="18" charset="0"/>
                <a:ea typeface="Cambria" panose="02040503050406030204" pitchFamily="18" charset="0"/>
              </a:rPr>
              <a:t>6. Deployment:</a:t>
            </a:r>
          </a:p>
          <a:p>
            <a:pPr marL="0" lvl="0" indent="0" eaLnBrk="0" fontAlgn="base" hangingPunct="0">
              <a:spcBef>
                <a:spcPct val="0"/>
              </a:spcBef>
              <a:spcAft>
                <a:spcPct val="0"/>
              </a:spcAft>
              <a:buClrTx/>
              <a:buSzTx/>
              <a:buNone/>
            </a:pPr>
            <a:r>
              <a:rPr lang="en-US" altLang="en-US" dirty="0">
                <a:solidFill>
                  <a:schemeClr val="tx1"/>
                </a:solidFill>
                <a:latin typeface="Cambria" panose="02040503050406030204" pitchFamily="18" charset="0"/>
                <a:ea typeface="Cambria" panose="02040503050406030204" pitchFamily="18" charset="0"/>
              </a:rPr>
              <a:t>Frontend: </a:t>
            </a:r>
            <a:r>
              <a:rPr lang="en-US" altLang="en-US" dirty="0" err="1">
                <a:solidFill>
                  <a:schemeClr val="tx1"/>
                </a:solidFill>
                <a:latin typeface="Cambria" panose="02040503050406030204" pitchFamily="18" charset="0"/>
                <a:ea typeface="Cambria" panose="02040503050406030204" pitchFamily="18" charset="0"/>
              </a:rPr>
              <a:t>Vercel</a:t>
            </a:r>
            <a:r>
              <a:rPr lang="en-US" altLang="en-US" dirty="0">
                <a:solidFill>
                  <a:schemeClr val="tx1"/>
                </a:solidFill>
                <a:latin typeface="Cambria" panose="02040503050406030204" pitchFamily="18" charset="0"/>
                <a:ea typeface="Cambria" panose="02040503050406030204" pitchFamily="18" charset="0"/>
              </a:rPr>
              <a:t> /Netlify (React/Next.js)</a:t>
            </a:r>
          </a:p>
          <a:p>
            <a:pPr marL="0" lvl="0" indent="0" eaLnBrk="0" fontAlgn="base" hangingPunct="0">
              <a:spcBef>
                <a:spcPct val="0"/>
              </a:spcBef>
              <a:spcAft>
                <a:spcPct val="0"/>
              </a:spcAft>
              <a:buClrTx/>
              <a:buSzTx/>
              <a:buNone/>
            </a:pPr>
            <a:r>
              <a:rPr lang="en-US" altLang="en-US" dirty="0">
                <a:solidFill>
                  <a:schemeClr val="tx1"/>
                </a:solidFill>
                <a:latin typeface="Cambria" panose="02040503050406030204" pitchFamily="18" charset="0"/>
                <a:ea typeface="Cambria" panose="02040503050406030204" pitchFamily="18" charset="0"/>
              </a:rPr>
              <a:t>Backend: Render or Railway (Java)</a:t>
            </a:r>
          </a:p>
          <a:p>
            <a:pPr marL="0" lvl="0" indent="0" eaLnBrk="0" fontAlgn="base" hangingPunct="0">
              <a:spcBef>
                <a:spcPct val="0"/>
              </a:spcBef>
              <a:spcAft>
                <a:spcPct val="0"/>
              </a:spcAft>
              <a:buClrTx/>
              <a:buSzTx/>
              <a:buNone/>
            </a:pPr>
            <a:r>
              <a:rPr lang="en-US" altLang="en-US" dirty="0">
                <a:solidFill>
                  <a:schemeClr val="tx1"/>
                </a:solidFill>
                <a:latin typeface="Cambria" panose="02040503050406030204" pitchFamily="18" charset="0"/>
                <a:ea typeface="Cambria" panose="02040503050406030204" pitchFamily="18" charset="0"/>
              </a:rPr>
              <a:t>Database: MongoDB Atlas</a:t>
            </a: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7" name="Picture 6"/>
          <p:cNvPicPr>
            <a:picLocks noChangeAspect="1"/>
          </p:cNvPicPr>
          <p:nvPr/>
        </p:nvPicPr>
        <p:blipFill>
          <a:blip r:embed="rId3"/>
          <a:stretch>
            <a:fillRect/>
          </a:stretch>
        </p:blipFill>
        <p:spPr>
          <a:xfrm>
            <a:off x="8347757" y="1161624"/>
            <a:ext cx="1096880" cy="637721"/>
          </a:xfrm>
          <a:prstGeom prst="rect">
            <a:avLst/>
          </a:prstGeom>
        </p:spPr>
      </p:pic>
      <p:pic>
        <p:nvPicPr>
          <p:cNvPr id="9" name="Picture 8"/>
          <p:cNvPicPr>
            <a:picLocks noChangeAspect="1"/>
          </p:cNvPicPr>
          <p:nvPr/>
        </p:nvPicPr>
        <p:blipFill>
          <a:blip r:embed="rId4"/>
          <a:stretch>
            <a:fillRect/>
          </a:stretch>
        </p:blipFill>
        <p:spPr>
          <a:xfrm>
            <a:off x="9740716" y="1446195"/>
            <a:ext cx="781250" cy="781250"/>
          </a:xfrm>
          <a:prstGeom prst="rect">
            <a:avLst/>
          </a:prstGeom>
        </p:spPr>
      </p:pic>
      <p:pic>
        <p:nvPicPr>
          <p:cNvPr id="10" name="Picture 9"/>
          <p:cNvPicPr>
            <a:picLocks noChangeAspect="1"/>
          </p:cNvPicPr>
          <p:nvPr/>
        </p:nvPicPr>
        <p:blipFill>
          <a:blip r:embed="rId5"/>
          <a:stretch>
            <a:fillRect/>
          </a:stretch>
        </p:blipFill>
        <p:spPr>
          <a:xfrm>
            <a:off x="8546006" y="2235420"/>
            <a:ext cx="637721" cy="63772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panose="02040503050406030204" pitchFamily="18" charset="0"/>
                <a:ea typeface="Cambria" panose="02040503050406030204" pitchFamily="18" charset="0"/>
              </a:rPr>
              <a:t>Software and Hardware Requirements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 </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6" name="Table 5"/>
          <p:cNvGraphicFramePr/>
          <p:nvPr>
            <p:custDataLst>
              <p:tags r:id="rId1"/>
            </p:custDataLst>
            <p:extLst>
              <p:ext uri="{D42A27DB-BD31-4B8C-83A1-F6EECF244321}">
                <p14:modId xmlns:p14="http://schemas.microsoft.com/office/powerpoint/2010/main" val="2311187577"/>
              </p:ext>
            </p:extLst>
          </p:nvPr>
        </p:nvGraphicFramePr>
        <p:xfrm>
          <a:off x="538480" y="1431131"/>
          <a:ext cx="11115040" cy="3995737"/>
        </p:xfrm>
        <a:graphic>
          <a:graphicData uri="http://schemas.openxmlformats.org/drawingml/2006/table">
            <a:tbl>
              <a:tblPr/>
              <a:tblGrid>
                <a:gridCol w="5284470">
                  <a:extLst>
                    <a:ext uri="{9D8B030D-6E8A-4147-A177-3AD203B41FA5}">
                      <a16:colId xmlns:a16="http://schemas.microsoft.com/office/drawing/2014/main" val="20000"/>
                    </a:ext>
                  </a:extLst>
                </a:gridCol>
                <a:gridCol w="5830570">
                  <a:extLst>
                    <a:ext uri="{9D8B030D-6E8A-4147-A177-3AD203B41FA5}">
                      <a16:colId xmlns:a16="http://schemas.microsoft.com/office/drawing/2014/main" val="20001"/>
                    </a:ext>
                  </a:extLst>
                </a:gridCol>
              </a:tblGrid>
              <a:tr h="307340">
                <a:tc>
                  <a:txBody>
                    <a:bodyPr/>
                    <a:lstStyle/>
                    <a:p>
                      <a:pPr algn="ctr" fontAlgn="ctr"/>
                      <a:r>
                        <a:rPr lang="en-US" altLang="zh-CN" sz="2000" b="1" i="0">
                          <a:solidFill>
                            <a:srgbClr val="000000"/>
                          </a:solidFill>
                          <a:latin typeface="Calibri" panose="020F0502020204030204"/>
                          <a:ea typeface="Calibri" panose="020F0502020204030204"/>
                        </a:rPr>
                        <a:t>Software Requirements</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ctr" fontAlgn="ctr"/>
                      <a:r>
                        <a:rPr lang="en-US" altLang="zh-CN" sz="2000" b="1" i="0">
                          <a:solidFill>
                            <a:srgbClr val="000000"/>
                          </a:solidFill>
                          <a:latin typeface="Calibri" panose="020F0502020204030204"/>
                          <a:ea typeface="Calibri" panose="020F0502020204030204"/>
                        </a:rPr>
                        <a:t>Hardware Requirements</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614045">
                <a:tc>
                  <a:txBody>
                    <a:bodyPr/>
                    <a:lstStyle/>
                    <a:p>
                      <a:pPr algn="l" fontAlgn="ctr"/>
                      <a:r>
                        <a:rPr lang="en-US" altLang="zh-CN" sz="1800" b="1" i="0">
                          <a:solidFill>
                            <a:srgbClr val="000000"/>
                          </a:solidFill>
                          <a:latin typeface="Calibri" panose="020F0502020204030204"/>
                          <a:ea typeface="Calibri" panose="020F0502020204030204"/>
                        </a:rPr>
                        <a:t>Operating System:</a:t>
                      </a:r>
                      <a:r>
                        <a:rPr lang="en-US" altLang="zh-CN" sz="1800" b="0" i="0">
                          <a:solidFill>
                            <a:srgbClr val="000000"/>
                          </a:solidFill>
                          <a:latin typeface="Calibri" panose="020F0502020204030204"/>
                          <a:ea typeface="Calibri" panose="020F0502020204030204"/>
                        </a:rPr>
                        <a:t> Windows 10 </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Processor:</a:t>
                      </a:r>
                      <a:r>
                        <a:rPr lang="en-US" altLang="zh-CN" sz="1800" b="0" i="0">
                          <a:solidFill>
                            <a:srgbClr val="000000"/>
                          </a:solidFill>
                          <a:latin typeface="Calibri" panose="020F0502020204030204"/>
                          <a:ea typeface="Calibri" panose="020F0502020204030204"/>
                        </a:rPr>
                        <a:t> Intel Core i5 or higher</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306070">
                <a:tc>
                  <a:txBody>
                    <a:bodyPr/>
                    <a:lstStyle/>
                    <a:p>
                      <a:pPr algn="l" fontAlgn="ctr"/>
                      <a:r>
                        <a:rPr lang="en-US" altLang="zh-CN" sz="1800" b="1" i="0">
                          <a:solidFill>
                            <a:srgbClr val="000000"/>
                          </a:solidFill>
                          <a:latin typeface="Calibri" panose="020F0502020204030204"/>
                          <a:ea typeface="Calibri" panose="020F0502020204030204"/>
                        </a:rPr>
                        <a:t>Backend:</a:t>
                      </a:r>
                      <a:r>
                        <a:rPr lang="en-US" altLang="zh-CN" sz="1800" b="0" i="0">
                          <a:solidFill>
                            <a:srgbClr val="000000"/>
                          </a:solidFill>
                          <a:latin typeface="Calibri" panose="020F0502020204030204"/>
                          <a:ea typeface="Calibri" panose="020F0502020204030204"/>
                        </a:rPr>
                        <a:t> Java Spring Boot (v3.x)</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RAM:</a:t>
                      </a:r>
                      <a:r>
                        <a:rPr lang="en-US" altLang="zh-CN" sz="1800" b="0" i="0">
                          <a:solidFill>
                            <a:srgbClr val="000000"/>
                          </a:solidFill>
                          <a:latin typeface="Calibri" panose="020F0502020204030204"/>
                          <a:ea typeface="Calibri" panose="020F0502020204030204"/>
                        </a:rPr>
                        <a:t> 8 GB or more</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307975">
                <a:tc>
                  <a:txBody>
                    <a:bodyPr/>
                    <a:lstStyle/>
                    <a:p>
                      <a:pPr algn="l" fontAlgn="ctr"/>
                      <a:r>
                        <a:rPr lang="en-US" altLang="zh-CN" sz="1800" b="1" i="0">
                          <a:solidFill>
                            <a:srgbClr val="000000"/>
                          </a:solidFill>
                          <a:latin typeface="Calibri" panose="020F0502020204030204"/>
                          <a:ea typeface="Calibri" panose="020F0502020204030204"/>
                        </a:rPr>
                        <a:t>Frontend:</a:t>
                      </a:r>
                      <a:r>
                        <a:rPr lang="en-US" altLang="zh-CN" sz="1800" b="0" i="0">
                          <a:solidFill>
                            <a:srgbClr val="000000"/>
                          </a:solidFill>
                          <a:latin typeface="Calibri" panose="020F0502020204030204"/>
                          <a:ea typeface="Calibri" panose="020F0502020204030204"/>
                        </a:rPr>
                        <a:t> React.js (v18+)</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Storage:</a:t>
                      </a:r>
                      <a:r>
                        <a:rPr lang="en-US" altLang="zh-CN" sz="1800" b="0" i="0">
                          <a:solidFill>
                            <a:srgbClr val="000000"/>
                          </a:solidFill>
                          <a:latin typeface="Calibri" panose="020F0502020204030204"/>
                          <a:ea typeface="Calibri" panose="020F0502020204030204"/>
                        </a:rPr>
                        <a:t> 256 GB SSD or higher</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307340">
                <a:tc>
                  <a:txBody>
                    <a:bodyPr/>
                    <a:lstStyle/>
                    <a:p>
                      <a:pPr algn="l" fontAlgn="ctr"/>
                      <a:r>
                        <a:rPr lang="en-US" altLang="zh-CN" sz="1800" b="1" i="0">
                          <a:solidFill>
                            <a:srgbClr val="000000"/>
                          </a:solidFill>
                          <a:latin typeface="Calibri" panose="020F0502020204030204"/>
                          <a:ea typeface="Calibri" panose="020F0502020204030204"/>
                        </a:rPr>
                        <a:t>Database:</a:t>
                      </a:r>
                      <a:r>
                        <a:rPr lang="en-US" altLang="zh-CN" sz="1800" b="0" i="0">
                          <a:solidFill>
                            <a:srgbClr val="000000"/>
                          </a:solidFill>
                          <a:latin typeface="Calibri" panose="020F0502020204030204"/>
                          <a:ea typeface="Calibri" panose="020F0502020204030204"/>
                        </a:rPr>
                        <a:t> MySQL (v8.0+)</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Display:</a:t>
                      </a:r>
                      <a:r>
                        <a:rPr lang="en-US" altLang="zh-CN" sz="1800" b="0" i="0">
                          <a:solidFill>
                            <a:srgbClr val="000000"/>
                          </a:solidFill>
                          <a:latin typeface="Calibri" panose="020F0502020204030204"/>
                          <a:ea typeface="Calibri" panose="020F0502020204030204"/>
                        </a:rPr>
                        <a:t> 1080p Full HD monitor</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613410">
                <a:tc>
                  <a:txBody>
                    <a:bodyPr/>
                    <a:lstStyle/>
                    <a:p>
                      <a:pPr algn="l" fontAlgn="ctr"/>
                      <a:r>
                        <a:rPr lang="en-US" altLang="zh-CN" sz="1800" b="1" i="0">
                          <a:solidFill>
                            <a:srgbClr val="000000"/>
                          </a:solidFill>
                          <a:latin typeface="Calibri" panose="020F0502020204030204"/>
                          <a:ea typeface="Calibri" panose="020F0502020204030204"/>
                        </a:rPr>
                        <a:t>Authentication:</a:t>
                      </a:r>
                      <a:r>
                        <a:rPr lang="en-US" altLang="zh-CN" sz="1800" b="0" i="0">
                          <a:solidFill>
                            <a:srgbClr val="000000"/>
                          </a:solidFill>
                          <a:latin typeface="Calibri" panose="020F0502020204030204"/>
                          <a:ea typeface="Calibri" panose="020F0502020204030204"/>
                        </a:rPr>
                        <a:t> JWT / Firebase Auth</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Network:</a:t>
                      </a:r>
                      <a:r>
                        <a:rPr lang="en-US" altLang="zh-CN" sz="1800" b="0" i="0">
                          <a:solidFill>
                            <a:srgbClr val="000000"/>
                          </a:solidFill>
                          <a:latin typeface="Calibri" panose="020F0502020204030204"/>
                          <a:ea typeface="Calibri" panose="020F0502020204030204"/>
                        </a:rPr>
                        <a:t> Stable broadband internet (10 Mbps+)</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307975">
                <a:tc>
                  <a:txBody>
                    <a:bodyPr/>
                    <a:lstStyle/>
                    <a:p>
                      <a:pPr algn="l" fontAlgn="ctr"/>
                      <a:r>
                        <a:rPr lang="en-US" altLang="zh-CN" sz="1800" b="1" i="0">
                          <a:solidFill>
                            <a:srgbClr val="000000"/>
                          </a:solidFill>
                          <a:latin typeface="Calibri" panose="020F0502020204030204"/>
                          <a:ea typeface="Calibri" panose="020F0502020204030204"/>
                        </a:rPr>
                        <a:t>Web Server:</a:t>
                      </a:r>
                      <a:r>
                        <a:rPr lang="en-US" altLang="zh-CN" sz="1800" b="0" i="0">
                          <a:solidFill>
                            <a:srgbClr val="000000"/>
                          </a:solidFill>
                          <a:latin typeface="Calibri" panose="020F0502020204030204"/>
                          <a:ea typeface="Calibri" panose="020F0502020204030204"/>
                        </a:rPr>
                        <a:t> Apache Tomcat 10+</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Peripherals</a:t>
                      </a:r>
                      <a:r>
                        <a:rPr lang="en-US" altLang="zh-CN" sz="1800" b="0" i="0">
                          <a:solidFill>
                            <a:srgbClr val="000000"/>
                          </a:solidFill>
                          <a:latin typeface="Calibri" panose="020F0502020204030204"/>
                          <a:ea typeface="Calibri" panose="020F0502020204030204"/>
                        </a:rPr>
                        <a:t>: Keyboard, mouse</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306070">
                <a:tc>
                  <a:txBody>
                    <a:bodyPr/>
                    <a:lstStyle/>
                    <a:p>
                      <a:pPr algn="l" fontAlgn="ctr"/>
                      <a:r>
                        <a:rPr lang="en-US" altLang="zh-CN" sz="1800" b="1" i="0">
                          <a:solidFill>
                            <a:srgbClr val="000000"/>
                          </a:solidFill>
                          <a:latin typeface="Calibri" panose="020F0502020204030204"/>
                          <a:ea typeface="Calibri" panose="020F0502020204030204"/>
                        </a:rPr>
                        <a:t>Build Tools:</a:t>
                      </a:r>
                      <a:r>
                        <a:rPr lang="en-US" altLang="zh-CN" sz="1800" b="0" i="0">
                          <a:solidFill>
                            <a:srgbClr val="000000"/>
                          </a:solidFill>
                          <a:latin typeface="Calibri" panose="020F0502020204030204"/>
                          <a:ea typeface="Calibri" panose="020F0502020204030204"/>
                        </a:rPr>
                        <a:t> Maven / Gradle</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Optional:</a:t>
                      </a:r>
                      <a:r>
                        <a:rPr lang="en-US" altLang="zh-CN" sz="1800" b="0" i="0">
                          <a:solidFill>
                            <a:srgbClr val="000000"/>
                          </a:solidFill>
                          <a:latin typeface="Calibri" panose="020F0502020204030204"/>
                          <a:ea typeface="Calibri" panose="020F0502020204030204"/>
                        </a:rPr>
                        <a:t> UPS for power backup</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r h="614045">
                <a:tc>
                  <a:txBody>
                    <a:bodyPr/>
                    <a:lstStyle/>
                    <a:p>
                      <a:pPr algn="l" fontAlgn="ctr"/>
                      <a:r>
                        <a:rPr lang="en-US" altLang="zh-CN" sz="1800" b="1" i="0">
                          <a:solidFill>
                            <a:srgbClr val="000000"/>
                          </a:solidFill>
                          <a:latin typeface="Calibri" panose="020F0502020204030204"/>
                          <a:ea typeface="Calibri" panose="020F0502020204030204"/>
                        </a:rPr>
                        <a:t>Payment Integration:</a:t>
                      </a:r>
                      <a:r>
                        <a:rPr lang="en-US" altLang="zh-CN" sz="1800" b="0" i="0">
                          <a:solidFill>
                            <a:srgbClr val="000000"/>
                          </a:solidFill>
                          <a:latin typeface="Calibri" panose="020F0502020204030204"/>
                          <a:ea typeface="Calibri" panose="020F0502020204030204"/>
                        </a:rPr>
                        <a:t> Razorpay </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0" i="0">
                          <a:solidFill>
                            <a:srgbClr val="000000"/>
                          </a:solidFill>
                          <a:latin typeface="Calibri" panose="020F0502020204030204"/>
                          <a:ea typeface="Calibri" panose="020F0502020204030204"/>
                        </a:rPr>
                        <a:t>—</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8"/>
                  </a:ext>
                </a:extLst>
              </a:tr>
              <a:tr h="307340">
                <a:tc>
                  <a:txBody>
                    <a:bodyPr/>
                    <a:lstStyle/>
                    <a:p>
                      <a:pPr algn="l" fontAlgn="b"/>
                      <a:endParaRPr sz="1100" b="0" i="0">
                        <a:solidFill>
                          <a:srgbClr val="000000"/>
                        </a:solidFill>
                        <a:latin typeface="Calibri" panose="020F0502020204030204"/>
                        <a:ea typeface="Calibri" panose="020F0502020204030204"/>
                      </a:endParaRPr>
                    </a:p>
                  </a:txBody>
                  <a:tcPr marL="6667" marR="6667" marT="6667" marB="0" anchor="b">
                    <a:lnL>
                      <a:noFill/>
                    </a:lnL>
                    <a:lnR>
                      <a:noFill/>
                    </a:lnR>
                    <a:lnT w="6350" cap="flat" cmpd="sng">
                      <a:solidFill>
                        <a:srgbClr val="000008"/>
                      </a:solidFill>
                      <a:prstDash val="solid"/>
                      <a:headEnd type="none" w="med" len="med"/>
                      <a:tailEnd type="none" w="med" len="med"/>
                    </a:lnT>
                    <a:lnB>
                      <a:noFill/>
                    </a:lnB>
                    <a:noFill/>
                  </a:tcPr>
                </a:tc>
                <a:tc>
                  <a:txBody>
                    <a:bodyPr/>
                    <a:lstStyle/>
                    <a:p>
                      <a:pPr algn="l" fontAlgn="b"/>
                      <a:endParaRPr sz="1100" b="0" i="0" dirty="0">
                        <a:solidFill>
                          <a:srgbClr val="000000"/>
                        </a:solidFill>
                        <a:latin typeface="Calibri" panose="020F0502020204030204"/>
                        <a:ea typeface="Calibri" panose="020F0502020204030204"/>
                      </a:endParaRPr>
                    </a:p>
                  </a:txBody>
                  <a:tcPr marL="6667" marR="6667" marT="6667" marB="0" anchor="b">
                    <a:lnL>
                      <a:noFill/>
                    </a:lnL>
                    <a:lnR>
                      <a:noFill/>
                    </a:lnR>
                    <a:lnT w="6350" cap="flat" cmpd="sng">
                      <a:solidFill>
                        <a:srgbClr val="000008"/>
                      </a:solidFill>
                      <a:prstDash val="solid"/>
                      <a:headEnd type="none" w="med" len="med"/>
                      <a:tailEnd type="none" w="med" len="med"/>
                    </a:lnT>
                    <a:lnB>
                      <a:noFill/>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3"/>
          <a:stretch>
            <a:fillRect/>
          </a:stretch>
        </p:blipFill>
        <p:spPr>
          <a:xfrm>
            <a:off x="413385" y="1142365"/>
            <a:ext cx="11543030" cy="48628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altLang="en-US" dirty="0">
              <a:latin typeface="Cambria" panose="02040503050406030204" pitchFamily="18" charset="0"/>
              <a:ea typeface="Cambria" panose="02040503050406030204" pitchFamily="18" charset="0"/>
            </a:endParaRPr>
          </a:p>
          <a:p>
            <a:pPr marL="609600" lvl="1" indent="0">
              <a:spcBef>
                <a:spcPts val="0"/>
              </a:spcBef>
              <a:buNone/>
            </a:pPr>
            <a:r>
              <a:rPr lang="en-US" dirty="0">
                <a:sym typeface="+mn-ea"/>
              </a:rPr>
              <a:t>[1] S. K. Tripathi and P. K. Jain, "Digital transformation of legal services in India: Opportunities and challenges," </a:t>
            </a:r>
            <a:r>
              <a:rPr lang="en-US" i="1" dirty="0">
                <a:sym typeface="+mn-ea"/>
              </a:rPr>
              <a:t>International Journal of Law and Technology</a:t>
            </a:r>
            <a:r>
              <a:rPr lang="en-US" dirty="0">
                <a:sym typeface="+mn-ea"/>
              </a:rPr>
              <a:t>, vol. 12, no. 3, pp. 45-58, Sep. 2022.</a:t>
            </a:r>
            <a:endParaRPr lang="en-US" dirty="0"/>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sym typeface="+mn-ea"/>
              </a:rPr>
              <a:t>[2] M. R. Gupta and A. Singh, "Incentive mechanisms for online marketplace service provider onboarding," </a:t>
            </a:r>
            <a:r>
              <a:rPr lang="en-US" i="1" dirty="0">
                <a:sym typeface="+mn-ea"/>
              </a:rPr>
              <a:t>IEEE Transactions on Engineering Management</a:t>
            </a:r>
            <a:r>
              <a:rPr lang="en-US" dirty="0">
                <a:sym typeface="+mn-ea"/>
              </a:rPr>
              <a:t>, vol. 67, no. 1, pp. 112-123, Feb. 2020.</a:t>
            </a:r>
            <a:endParaRPr lang="en-US" dirty="0"/>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sym typeface="+mn-ea"/>
              </a:rPr>
              <a:t>3] A. Das and R. Kumar, "Designing reputation systems for multi-sided digital marketplaces," </a:t>
            </a:r>
            <a:r>
              <a:rPr lang="en-US" i="1" dirty="0">
                <a:sym typeface="+mn-ea"/>
              </a:rPr>
              <a:t>Proceedings of the 18th ACM Conference on Electronic Commerce</a:t>
            </a:r>
            <a:r>
              <a:rPr lang="en-US" dirty="0">
                <a:sym typeface="+mn-ea"/>
              </a:rPr>
              <a:t>, pp. 189-198, June 2017.</a:t>
            </a:r>
            <a:endParaRPr lang="en-US" dirty="0">
              <a:latin typeface="Cambria" panose="02040503050406030204" pitchFamily="18" charset="0"/>
              <a:ea typeface="Cambria" panose="02040503050406030204" pitchFamily="18" charset="0"/>
            </a:endParaRPr>
          </a:p>
          <a:p>
            <a:pPr marL="609600" lvl="1" indent="0">
              <a:spcBef>
                <a:spcPts val="0"/>
              </a:spcBef>
              <a:buNone/>
            </a:pPr>
            <a:endParaRPr lang="en-US" alt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75*314"/>
  <p:tag name="TABLE_ENDDRAG_RECT" val="44*159*875*314"/>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606</TotalTime>
  <Words>1417</Words>
  <Application>Microsoft Office PowerPoint</Application>
  <PresentationFormat>Widescreen</PresentationFormat>
  <Paragraphs>149</Paragraphs>
  <Slides>18</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Bookman Old Style</vt:lpstr>
      <vt:lpstr>Calibri</vt:lpstr>
      <vt:lpstr>Cambria</vt:lpstr>
      <vt:lpstr>Verdana</vt:lpstr>
      <vt:lpstr>Wingdings</vt:lpstr>
      <vt:lpstr>Bioinformatics</vt:lpstr>
      <vt:lpstr>Incentives based Design for onboarding Legal Service Providers on eMarket Place </vt:lpstr>
      <vt:lpstr>Content</vt:lpstr>
      <vt:lpstr>Problem Statement</vt:lpstr>
      <vt:lpstr>Abstract</vt:lpstr>
      <vt:lpstr>Literature Survey</vt:lpstr>
      <vt:lpstr>Objectives</vt:lpstr>
      <vt:lpstr>Existing Methods and Drawbacks</vt:lpstr>
      <vt:lpstr>Proposed Methods and Feasibility Study</vt:lpstr>
      <vt:lpstr>Architecture Diagram</vt:lpstr>
      <vt:lpstr>System architecture diagram</vt:lpstr>
      <vt:lpstr>System architecture diagram</vt:lpstr>
      <vt:lpstr>Modules</vt:lpstr>
      <vt:lpstr>Modules</vt:lpstr>
      <vt:lpstr>Technology Stack Components</vt:lpstr>
      <vt:lpstr>Software and Hardware Requirements</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Lanchan J 221019</cp:lastModifiedBy>
  <cp:revision>68</cp:revision>
  <dcterms:created xsi:type="dcterms:W3CDTF">2025-08-12T15:37:00Z</dcterms:created>
  <dcterms:modified xsi:type="dcterms:W3CDTF">2025-09-07T13:39:29Z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09398149FF464B579A4AAB4D90E25FE9_12</vt:lpwstr>
  </property>
  <property fmtid="{D5CDD505-2E9C-101B-9397-08002B2CF9AE}" pid="3" name="KSOProductBuildVer">
    <vt:lpwstr>1033-12.2.0.21931</vt:lpwstr>
  </property>
</Properties>
</file>
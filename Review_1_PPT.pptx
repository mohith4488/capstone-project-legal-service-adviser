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69" r:id="rId3"/>
    <p:sldId id="257" r:id="rId4"/>
    <p:sldId id="278" r:id="rId5"/>
    <p:sldId id="274" r:id="rId6"/>
    <p:sldId id="276" r:id="rId7"/>
    <p:sldId id="277" r:id="rId8"/>
    <p:sldId id="273" r:id="rId9"/>
    <p:sldId id="271" r:id="rId10"/>
    <p:sldId id="272" r:id="rId11"/>
    <p:sldId id="268"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030" autoAdjust="0"/>
  </p:normalViewPr>
  <p:slideViewPr>
    <p:cSldViewPr snapToGrid="0">
      <p:cViewPr varScale="1">
        <p:scale>
          <a:sx n="73" d="100"/>
          <a:sy n="73" d="100"/>
        </p:scale>
        <p:origin x="970" y="67"/>
      </p:cViewPr>
      <p:guideLst/>
    </p:cSldViewPr>
  </p:slideViewPr>
  <p:outlineViewPr>
    <p:cViewPr>
      <p:scale>
        <a:sx n="33" d="100"/>
        <a:sy n="33" d="100"/>
      </p:scale>
      <p:origin x="0" y="-68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82550" y="1069340"/>
            <a:ext cx="11737975" cy="97536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sz="2400" dirty="0">
                <a:latin typeface="Cambria" panose="02040503050406030204" pitchFamily="18" charset="0"/>
                <a:ea typeface="Cambria" panose="02040503050406030204" pitchFamily="18" charset="0"/>
                <a:sym typeface="+mn-ea"/>
              </a:rPr>
              <a:t>Incentives based Design for onboarding Legal Service Providers such as Advocates, Arbitrators, Mediators, Notaries, Document Writers, </a:t>
            </a:r>
            <a:r>
              <a:rPr lang="en-US" sz="2400" dirty="0" err="1">
                <a:latin typeface="Cambria" panose="02040503050406030204" pitchFamily="18" charset="0"/>
                <a:ea typeface="Cambria" panose="02040503050406030204" pitchFamily="18" charset="0"/>
                <a:sym typeface="+mn-ea"/>
              </a:rPr>
              <a:t>etc</a:t>
            </a:r>
            <a:r>
              <a:rPr lang="en-US" sz="2400" dirty="0">
                <a:latin typeface="Cambria" panose="02040503050406030204" pitchFamily="18" charset="0"/>
                <a:ea typeface="Cambria" panose="02040503050406030204" pitchFamily="18" charset="0"/>
                <a:sym typeface="+mn-ea"/>
              </a:rPr>
              <a:t> on </a:t>
            </a:r>
            <a:r>
              <a:rPr lang="en-US" sz="2400" dirty="0" err="1">
                <a:latin typeface="Cambria" panose="02040503050406030204" pitchFamily="18" charset="0"/>
                <a:ea typeface="Cambria" panose="02040503050406030204" pitchFamily="18" charset="0"/>
                <a:sym typeface="+mn-ea"/>
              </a:rPr>
              <a:t>eMarket</a:t>
            </a:r>
            <a:r>
              <a:rPr lang="en-US" sz="2400" dirty="0">
                <a:latin typeface="Cambria" panose="02040503050406030204" pitchFamily="18" charset="0"/>
                <a:ea typeface="Cambria" panose="02040503050406030204" pitchFamily="18" charset="0"/>
                <a:sym typeface="+mn-ea"/>
              </a:rPr>
              <a:t> Place for extending Legal Services to Citizens in India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82443" y="2386347"/>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CSE_166</a:t>
            </a:r>
          </a:p>
        </p:txBody>
      </p:sp>
      <p:sp>
        <p:nvSpPr>
          <p:cNvPr id="90" name="Google Shape;90;p13"/>
          <p:cNvSpPr txBox="1"/>
          <p:nvPr/>
        </p:nvSpPr>
        <p:spPr>
          <a:xfrm>
            <a:off x="6543695" y="281179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IN"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B Chandrashekar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394644" y="2811587"/>
          <a:ext cx="5418675" cy="2194620"/>
        </p:xfrm>
        <a:graphic>
          <a:graphicData uri="http://schemas.openxmlformats.org/drawingml/2006/table">
            <a:tbl>
              <a:tblPr firstRow="1" bandRow="1">
                <a:noFill/>
                <a:tableStyleId>{57690726-49DA-4552-BDEB-330DD8EA8BD9}</a:tableStyleId>
              </a:tblPr>
              <a:tblGrid>
                <a:gridCol w="2117725">
                  <a:extLst>
                    <a:ext uri="{9D8B030D-6E8A-4147-A177-3AD203B41FA5}">
                      <a16:colId xmlns:a16="http://schemas.microsoft.com/office/drawing/2014/main" val="20000"/>
                    </a:ext>
                  </a:extLst>
                </a:gridCol>
                <a:gridCol w="3300950">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20221CSE0363</a:t>
                      </a: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IN" sz="1800" u="none" strike="noStrike" cap="none" dirty="0"/>
                        <a:t>YASHAVNTH K S</a:t>
                      </a: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20221CSE0325</a:t>
                      </a: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IN" sz="1800" u="none" strike="noStrike" cap="none" dirty="0"/>
                        <a:t>LANCHAN J</a:t>
                      </a: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20221CSE0328</a:t>
                      </a: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IN" sz="1800" u="none" strike="noStrike" cap="none" dirty="0"/>
                        <a:t>MOHITH GOWDA J P</a:t>
                      </a: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no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no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alt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sz="1800" b="1" dirty="0">
                <a:latin typeface="Cambria" panose="02040503050406030204" pitchFamily="18" charset="0"/>
                <a:ea typeface="Cambria" panose="02040503050406030204" pitchFamily="18" charset="0"/>
              </a:rPr>
              <a:t>Dr. Asif Mohammed , 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800" b="1" dirty="0">
                <a:latin typeface="Cambria" panose="02040503050406030204" pitchFamily="18" charset="0"/>
                <a:ea typeface="Cambria" panose="02040503050406030204" pitchFamily="18" charset="0"/>
              </a:rPr>
              <a:t>Dr. </a:t>
            </a:r>
            <a:r>
              <a:rPr lang="en-IN" sz="1800" b="1" dirty="0" err="1">
                <a:latin typeface="Cambria" panose="02040503050406030204" pitchFamily="18" charset="0"/>
                <a:ea typeface="Cambria" panose="02040503050406030204" pitchFamily="18" charset="0"/>
              </a:rPr>
              <a:t>Jayavadivel</a:t>
            </a:r>
            <a:r>
              <a:rPr lang="en-IN" sz="1800" b="1" dirty="0">
                <a:latin typeface="Cambria" panose="02040503050406030204" pitchFamily="18" charset="0"/>
                <a:ea typeface="Cambria" panose="02040503050406030204" pitchFamily="18" charset="0"/>
              </a:rPr>
              <a:t> Ravi</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dirty="0" err="1">
                <a:latin typeface="Cambria" panose="02040503050406030204" pitchFamily="18" charset="0"/>
                <a:ea typeface="Cambria" panose="02040503050406030204" pitchFamily="18" charset="0"/>
              </a:rPr>
              <a:t>Mr.Muthuraju</a:t>
            </a:r>
            <a:r>
              <a:rPr lang="en-IN" sz="1800" b="1" dirty="0">
                <a:latin typeface="Cambria" panose="02040503050406030204" pitchFamily="18" charset="0"/>
                <a:ea typeface="Cambria" panose="02040503050406030204" pitchFamily="18" charset="0"/>
              </a:rPr>
              <a:t> V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620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Organization: </a:t>
            </a:r>
            <a:r>
              <a:rPr lang="en-US" sz="2200" dirty="0">
                <a:latin typeface="Cambria" panose="02040503050406030204" pitchFamily="18" charset="0"/>
                <a:ea typeface="Cambria" panose="02040503050406030204" pitchFamily="18" charset="0"/>
              </a:rPr>
              <a:t>Ministry of Law and Justice</a:t>
            </a:r>
          </a:p>
          <a:p>
            <a:pPr marL="76200" indent="0">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76200" indent="0">
              <a:buNone/>
            </a:pPr>
            <a:r>
              <a:rPr lang="en-US" b="1" dirty="0">
                <a:latin typeface="Cambria" panose="02040503050406030204" pitchFamily="18" charset="0"/>
                <a:ea typeface="Cambria" panose="02040503050406030204" pitchFamily="18" charset="0"/>
              </a:rPr>
              <a:t>Problem Description:</a:t>
            </a:r>
          </a:p>
          <a:p>
            <a:pPr marL="76200" indent="0">
              <a:buNone/>
            </a:pPr>
            <a:r>
              <a:rPr lang="en-US" altLang="en-US" dirty="0">
                <a:latin typeface="Cambria" panose="02040503050406030204" pitchFamily="18" charset="0"/>
                <a:ea typeface="Cambria" panose="02040503050406030204" pitchFamily="18" charset="0"/>
              </a:rPr>
              <a:t>India’s legal service sector is fragmented, with advocates, mediators, notaries, and others operating independently without a centralized platform. This creates challenges in transparency, accessibility, quality assurance, and affordability for citizens. The objective is to design an incentivized eMarketplace that onboards legal service providers, motivates them through rewards and gamification, ensures quality and accountability, and enables citizens from all socio-economic backgrounds to easily find and access suitable legal services. Integration with legal institutions such as courts, bar associations, and legal aid clinics will further enhance trust and service reach.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76200"/>
            <a:r>
              <a:rPr lang="en-US" dirty="0">
                <a:latin typeface="Cambria" panose="02040503050406030204" pitchFamily="18" charset="0"/>
                <a:ea typeface="Cambria" panose="02040503050406030204" pitchFamily="18" charset="0"/>
              </a:rPr>
              <a:t>Problem Statement</a:t>
            </a: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a:bodyPr>
          <a:lstStyle/>
          <a:p>
            <a:pPr marL="76200" indent="0">
              <a:buNone/>
            </a:pPr>
            <a:r>
              <a:rPr lang="en-US" altLang="en-US" dirty="0">
                <a:latin typeface="Cambria" panose="02040503050406030204" pitchFamily="18" charset="0"/>
                <a:ea typeface="Cambria" panose="02040503050406030204" pitchFamily="18" charset="0"/>
              </a:rPr>
              <a:t>The legal service sector in India, despite its crucial role in upholding justice, remains largely unorganized. Citizens often face multiple barriers in accessing legal assistance, such as:</a:t>
            </a:r>
          </a:p>
          <a:p>
            <a:pPr marL="76200" indent="0">
              <a:buNone/>
            </a:pPr>
            <a:endParaRPr lang="en-US" altLang="en-US" dirty="0">
              <a:latin typeface="Cambria" panose="02040503050406030204" pitchFamily="18" charset="0"/>
              <a:ea typeface="Cambria" panose="02040503050406030204" pitchFamily="18" charset="0"/>
            </a:endParaRPr>
          </a:p>
          <a:p>
            <a:pPr>
              <a:lnSpc>
                <a:spcPct val="100000"/>
              </a:lnSpc>
              <a:spcBef>
                <a:spcPts val="0"/>
              </a:spcBef>
            </a:pPr>
            <a:r>
              <a:rPr lang="en-US" altLang="en-US" b="1" dirty="0">
                <a:latin typeface="Cambria" panose="02040503050406030204" pitchFamily="18" charset="0"/>
                <a:ea typeface="Cambria" panose="02040503050406030204" pitchFamily="18" charset="0"/>
              </a:rPr>
              <a:t>Lack of visibility </a:t>
            </a:r>
            <a:r>
              <a:rPr lang="en-US" altLang="en-US" dirty="0">
                <a:latin typeface="Cambria" panose="02040503050406030204" pitchFamily="18" charset="0"/>
                <a:ea typeface="Cambria" panose="02040503050406030204" pitchFamily="18" charset="0"/>
              </a:rPr>
              <a:t>of service providers (advocates, arbitrators, mediators, notaries, document writers, etc.).</a:t>
            </a:r>
          </a:p>
          <a:p>
            <a:pPr>
              <a:lnSpc>
                <a:spcPct val="100000"/>
              </a:lnSpc>
              <a:spcBef>
                <a:spcPts val="0"/>
              </a:spcBef>
            </a:pPr>
            <a:endParaRPr lang="en-US" altLang="en-US" dirty="0">
              <a:latin typeface="Cambria" panose="02040503050406030204" pitchFamily="18" charset="0"/>
              <a:ea typeface="Cambria" panose="02040503050406030204" pitchFamily="18" charset="0"/>
            </a:endParaRPr>
          </a:p>
          <a:p>
            <a:pPr>
              <a:lnSpc>
                <a:spcPct val="100000"/>
              </a:lnSpc>
              <a:spcBef>
                <a:spcPts val="0"/>
              </a:spcBef>
            </a:pPr>
            <a:r>
              <a:rPr lang="en-US" altLang="en-US" b="1" dirty="0">
                <a:latin typeface="Cambria" panose="02040503050406030204" pitchFamily="18" charset="0"/>
                <a:ea typeface="Cambria" panose="02040503050406030204" pitchFamily="18" charset="0"/>
              </a:rPr>
              <a:t>Geographical constraints</a:t>
            </a:r>
            <a:r>
              <a:rPr lang="en-US" altLang="en-US" dirty="0">
                <a:latin typeface="Cambria" panose="02040503050406030204" pitchFamily="18" charset="0"/>
                <a:ea typeface="Cambria" panose="02040503050406030204" pitchFamily="18" charset="0"/>
              </a:rPr>
              <a:t>, particularly in rural or semi-urban regions.</a:t>
            </a:r>
          </a:p>
          <a:p>
            <a:pPr>
              <a:lnSpc>
                <a:spcPct val="100000"/>
              </a:lnSpc>
              <a:spcBef>
                <a:spcPts val="0"/>
              </a:spcBef>
            </a:pPr>
            <a:endParaRPr lang="en-US" altLang="en-US" dirty="0">
              <a:latin typeface="Cambria" panose="02040503050406030204" pitchFamily="18" charset="0"/>
              <a:ea typeface="Cambria" panose="02040503050406030204" pitchFamily="18" charset="0"/>
            </a:endParaRPr>
          </a:p>
          <a:p>
            <a:pPr>
              <a:lnSpc>
                <a:spcPct val="100000"/>
              </a:lnSpc>
              <a:spcBef>
                <a:spcPts val="0"/>
              </a:spcBef>
            </a:pPr>
            <a:r>
              <a:rPr lang="en-US" altLang="en-US" b="1" dirty="0">
                <a:latin typeface="Cambria" panose="02040503050406030204" pitchFamily="18" charset="0"/>
                <a:ea typeface="Cambria" panose="02040503050406030204" pitchFamily="18" charset="0"/>
              </a:rPr>
              <a:t>Unclear pricing structures</a:t>
            </a:r>
            <a:r>
              <a:rPr lang="en-US" altLang="en-US" dirty="0">
                <a:latin typeface="Cambria" panose="02040503050406030204" pitchFamily="18" charset="0"/>
                <a:ea typeface="Cambria" panose="02040503050406030204" pitchFamily="18" charset="0"/>
              </a:rPr>
              <a:t>, leading to trust issues.</a:t>
            </a:r>
          </a:p>
          <a:p>
            <a:pPr>
              <a:lnSpc>
                <a:spcPct val="100000"/>
              </a:lnSpc>
              <a:spcBef>
                <a:spcPts val="0"/>
              </a:spcBef>
            </a:pPr>
            <a:endParaRPr lang="en-US" altLang="en-US" dirty="0">
              <a:latin typeface="Cambria" panose="02040503050406030204" pitchFamily="18" charset="0"/>
              <a:ea typeface="Cambria" panose="02040503050406030204" pitchFamily="18" charset="0"/>
            </a:endParaRPr>
          </a:p>
          <a:p>
            <a:pPr>
              <a:lnSpc>
                <a:spcPct val="100000"/>
              </a:lnSpc>
              <a:spcBef>
                <a:spcPts val="0"/>
              </a:spcBef>
            </a:pPr>
            <a:r>
              <a:rPr lang="en-US" altLang="en-US" b="1" dirty="0">
                <a:latin typeface="Cambria" panose="02040503050406030204" pitchFamily="18" charset="0"/>
                <a:ea typeface="Cambria" panose="02040503050406030204" pitchFamily="18" charset="0"/>
              </a:rPr>
              <a:t>Limited transparency</a:t>
            </a:r>
            <a:r>
              <a:rPr lang="en-US" altLang="en-US" dirty="0">
                <a:latin typeface="Cambria" panose="02040503050406030204" pitchFamily="18" charset="0"/>
                <a:ea typeface="Cambria" panose="02040503050406030204" pitchFamily="18" charset="0"/>
              </a:rPr>
              <a:t> in service quality and provider credibility.</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76200"/>
            <a:r>
              <a:rPr lang="en-US" dirty="0">
                <a:latin typeface="Cambria" panose="02040503050406030204" pitchFamily="18" charset="0"/>
                <a:ea typeface="Cambria" panose="02040503050406030204" pitchFamily="18" charset="0"/>
              </a:rPr>
              <a:t>Objectives</a:t>
            </a:r>
          </a:p>
        </p:txBody>
      </p:sp>
      <p:sp>
        <p:nvSpPr>
          <p:cNvPr id="97" name="Google Shape;97;p14"/>
          <p:cNvSpPr txBox="1">
            <a:spLocks noGrp="1"/>
          </p:cNvSpPr>
          <p:nvPr>
            <p:ph type="body" idx="1"/>
          </p:nvPr>
        </p:nvSpPr>
        <p:spPr>
          <a:xfrm>
            <a:off x="518983" y="1050324"/>
            <a:ext cx="11442357" cy="5226908"/>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altLang="en-US" dirty="0">
                <a:latin typeface="Cambria" panose="02040503050406030204" pitchFamily="18" charset="0"/>
                <a:ea typeface="Cambria" panose="02040503050406030204" pitchFamily="18" charset="0"/>
              </a:rPr>
              <a:t>The primary goal is to design and develop an incentivized eMarketplace that:</a:t>
            </a:r>
          </a:p>
          <a:p>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Onboards verified legal service providers </a:t>
            </a:r>
            <a:r>
              <a:rPr lang="en-US" altLang="en-US" dirty="0">
                <a:latin typeface="Cambria" panose="02040503050406030204" pitchFamily="18" charset="0"/>
                <a:ea typeface="Cambria" panose="02040503050406030204" pitchFamily="18" charset="0"/>
              </a:rPr>
              <a:t>from across India.</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Incentivizes participation</a:t>
            </a:r>
            <a:r>
              <a:rPr lang="en-US" altLang="en-US" dirty="0">
                <a:latin typeface="Cambria" panose="02040503050406030204" pitchFamily="18" charset="0"/>
                <a:ea typeface="Cambria" panose="02040503050406030204" pitchFamily="18" charset="0"/>
              </a:rPr>
              <a:t> using financial, reputational, and gamification-based rewards.</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Ensures transparency and accountability</a:t>
            </a:r>
            <a:r>
              <a:rPr lang="en-US" altLang="en-US" dirty="0">
                <a:latin typeface="Cambria" panose="02040503050406030204" pitchFamily="18" charset="0"/>
                <a:ea typeface="Cambria" panose="02040503050406030204" pitchFamily="18" charset="0"/>
              </a:rPr>
              <a:t> in service delivery.</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Improves accessibility</a:t>
            </a:r>
            <a:r>
              <a:rPr lang="en-US" altLang="en-US" dirty="0">
                <a:latin typeface="Cambria" panose="02040503050406030204" pitchFamily="18" charset="0"/>
                <a:ea typeface="Cambria" panose="02040503050406030204" pitchFamily="18" charset="0"/>
              </a:rPr>
              <a:t> for citizens from all socio-economic backgrounds.</a:t>
            </a:r>
          </a:p>
          <a:p>
            <a:pPr marL="533400" indent="-457200">
              <a:buAutoNum type="arabicPeriod"/>
            </a:pPr>
            <a:endParaRPr lang="en-US" altLang="en-US" dirty="0">
              <a:latin typeface="Cambria" panose="02040503050406030204" pitchFamily="18" charset="0"/>
              <a:ea typeface="Cambria" panose="02040503050406030204" pitchFamily="18" charset="0"/>
            </a:endParaRPr>
          </a:p>
          <a:p>
            <a:pPr marL="533400" indent="-457200">
              <a:buAutoNum type="arabicPeriod"/>
            </a:pPr>
            <a:r>
              <a:rPr lang="en-US" altLang="en-US" b="1" dirty="0">
                <a:latin typeface="Cambria" panose="02040503050406030204" pitchFamily="18" charset="0"/>
                <a:ea typeface="Cambria" panose="02040503050406030204" pitchFamily="18" charset="0"/>
              </a:rPr>
              <a:t>Facilitates efficient client-provider matching based </a:t>
            </a:r>
            <a:r>
              <a:rPr lang="en-US" altLang="en-US" dirty="0">
                <a:latin typeface="Cambria" panose="02040503050406030204" pitchFamily="18" charset="0"/>
                <a:ea typeface="Cambria" panose="02040503050406030204" pitchFamily="18" charset="0"/>
              </a:rPr>
              <a:t>on needs, expertise, and availability.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Background and Related work for title Selection</a:t>
            </a:r>
          </a:p>
        </p:txBody>
      </p:sp>
      <p:sp>
        <p:nvSpPr>
          <p:cNvPr id="97" name="Google Shape;97;p14"/>
          <p:cNvSpPr txBox="1">
            <a:spLocks noGrp="1"/>
          </p:cNvSpPr>
          <p:nvPr>
            <p:ph type="body" idx="1"/>
          </p:nvPr>
        </p:nvSpPr>
        <p:spPr>
          <a:xfrm>
            <a:off x="331572" y="1002270"/>
            <a:ext cx="11528855" cy="5350475"/>
          </a:xfrm>
          <a:prstGeom prst="rect">
            <a:avLst/>
          </a:prstGeom>
          <a:noFill/>
          <a:ln>
            <a:noFill/>
          </a:ln>
        </p:spPr>
        <p:txBody>
          <a:bodyPr spcFirstLastPara="1" wrap="square" lIns="91425" tIns="45700" rIns="91425" bIns="45700" anchor="t" anchorCtr="0">
            <a:normAutofit lnSpcReduction="10000"/>
          </a:bodyPr>
          <a:lstStyle/>
          <a:p>
            <a:r>
              <a:rPr lang="en-US" sz="2800" dirty="0">
                <a:latin typeface="Cambria" panose="02040503050406030204" pitchFamily="18" charset="0"/>
                <a:ea typeface="Cambria" panose="02040503050406030204" pitchFamily="18" charset="0"/>
              </a:rPr>
              <a:t>India’s legal services remain largely unorganized, creating barriers in transparency, quality, and accessibility.</a:t>
            </a:r>
          </a:p>
          <a:p>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Existing platforms (</a:t>
            </a:r>
            <a:r>
              <a:rPr lang="en-US" sz="2800" i="1" dirty="0" err="1">
                <a:latin typeface="Cambria" panose="02040503050406030204" pitchFamily="18" charset="0"/>
                <a:ea typeface="Cambria" panose="02040503050406030204" pitchFamily="18" charset="0"/>
              </a:rPr>
              <a:t>LawRato</a:t>
            </a:r>
            <a:r>
              <a:rPr lang="en-US" sz="2800" dirty="0">
                <a:latin typeface="Cambria" panose="02040503050406030204" pitchFamily="18" charset="0"/>
                <a:ea typeface="Cambria" panose="02040503050406030204" pitchFamily="18" charset="0"/>
              </a:rPr>
              <a:t>, </a:t>
            </a:r>
            <a:r>
              <a:rPr lang="en-US" sz="2800" i="1" dirty="0" err="1">
                <a:latin typeface="Cambria" panose="02040503050406030204" pitchFamily="18" charset="0"/>
                <a:ea typeface="Cambria" panose="02040503050406030204" pitchFamily="18" charset="0"/>
              </a:rPr>
              <a:t>VakilSearch</a:t>
            </a:r>
            <a:r>
              <a:rPr lang="en-US" sz="2800" dirty="0">
                <a:latin typeface="Cambria" panose="02040503050406030204" pitchFamily="18" charset="0"/>
                <a:ea typeface="Cambria" panose="02040503050406030204" pitchFamily="18" charset="0"/>
              </a:rPr>
              <a:t>) focus on limited segments, lacking performance-based incentivization and wider inclusivity.</a:t>
            </a:r>
          </a:p>
          <a:p>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Government efforts like </a:t>
            </a:r>
            <a:r>
              <a:rPr lang="en-US" sz="2800" b="1" dirty="0">
                <a:latin typeface="Cambria" panose="02040503050406030204" pitchFamily="18" charset="0"/>
                <a:ea typeface="Cambria" panose="02040503050406030204" pitchFamily="18" charset="0"/>
              </a:rPr>
              <a:t>NALSA</a:t>
            </a:r>
            <a:r>
              <a:rPr lang="en-US" sz="2800" dirty="0">
                <a:latin typeface="Cambria" panose="02040503050406030204" pitchFamily="18" charset="0"/>
                <a:ea typeface="Cambria" panose="02040503050406030204" pitchFamily="18" charset="0"/>
              </a:rPr>
              <a:t> and </a:t>
            </a:r>
            <a:r>
              <a:rPr lang="en-US" sz="2800" b="1" dirty="0">
                <a:latin typeface="Cambria" panose="02040503050406030204" pitchFamily="18" charset="0"/>
                <a:ea typeface="Cambria" panose="02040503050406030204" pitchFamily="18" charset="0"/>
              </a:rPr>
              <a:t>Tele-Law</a:t>
            </a:r>
            <a:r>
              <a:rPr lang="en-US" sz="2800" dirty="0">
                <a:latin typeface="Cambria" panose="02040503050406030204" pitchFamily="18" charset="0"/>
                <a:ea typeface="Cambria" panose="02040503050406030204" pitchFamily="18" charset="0"/>
              </a:rPr>
              <a:t> provide significant outreach but are not integrated into a single </a:t>
            </a:r>
            <a:r>
              <a:rPr lang="en-US" sz="2800" dirty="0" err="1">
                <a:latin typeface="Cambria" panose="02040503050406030204" pitchFamily="18" charset="0"/>
                <a:ea typeface="Cambria" panose="02040503050406030204" pitchFamily="18" charset="0"/>
              </a:rPr>
              <a:t>eMarketplace</a:t>
            </a:r>
            <a:r>
              <a:rPr lang="en-US" sz="2800" dirty="0">
                <a:latin typeface="Cambria" panose="02040503050406030204" pitchFamily="18" charset="0"/>
                <a:ea typeface="Cambria" panose="02040503050406030204" pitchFamily="18" charset="0"/>
              </a:rPr>
              <a:t>.</a:t>
            </a:r>
          </a:p>
          <a:p>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Research highlights that verified profiles, transparent ratings, and gamified rewards can attract, retain, and motivate legal service providers effectively.</a:t>
            </a:r>
          </a:p>
          <a:p>
            <a:pPr marL="152400" indent="0" algn="just">
              <a:lnSpc>
                <a:spcPct val="200000"/>
              </a:lnSpc>
              <a:spcBef>
                <a:spcPts val="0"/>
              </a:spcBef>
              <a:buNone/>
            </a:pPr>
            <a:endParaRPr lang="en-US" b="1"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Analysis of Problem Statement</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32485" y="951470"/>
            <a:ext cx="11528855" cy="5350475"/>
          </a:xfrm>
          <a:prstGeom prst="rect">
            <a:avLst/>
          </a:prstGeom>
          <a:noFill/>
          <a:ln>
            <a:noFill/>
          </a:ln>
        </p:spPr>
        <p:txBody>
          <a:bodyPr spcFirstLastPara="1" wrap="square" lIns="91425" tIns="45700" rIns="91425" bIns="45700" anchor="t" anchorCtr="0">
            <a:normAutofit fontScale="92500"/>
          </a:bodyPr>
          <a:lstStyle/>
          <a:p>
            <a:r>
              <a:rPr lang="en-US" sz="2800" dirty="0">
                <a:latin typeface="Cambria" panose="02040503050406030204" pitchFamily="18" charset="0"/>
                <a:ea typeface="Cambria" panose="02040503050406030204" pitchFamily="18" charset="0"/>
              </a:rPr>
              <a:t>The unorganized sector accounts for about 90% of India’s workforce, highlighting the scale of informality across sectors including legal services.</a:t>
            </a:r>
          </a:p>
          <a:p>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India’s legal profession is the world’s second largest, with over 600,000 lawyers practicing nationwide.</a:t>
            </a:r>
          </a:p>
          <a:p>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sym typeface="+mn-ea"/>
              </a:rPr>
              <a:t>Online legal marketplaces like </a:t>
            </a:r>
            <a:r>
              <a:rPr lang="en-US" sz="2800" dirty="0" err="1">
                <a:latin typeface="Cambria" panose="02040503050406030204" pitchFamily="18" charset="0"/>
                <a:ea typeface="Cambria" panose="02040503050406030204" pitchFamily="18" charset="0"/>
                <a:sym typeface="+mn-ea"/>
              </a:rPr>
              <a:t>LawRato</a:t>
            </a:r>
            <a:r>
              <a:rPr lang="en-US" sz="2800" dirty="0">
                <a:latin typeface="Cambria" panose="02040503050406030204" pitchFamily="18" charset="0"/>
                <a:ea typeface="Cambria" panose="02040503050406030204" pitchFamily="18" charset="0"/>
                <a:sym typeface="+mn-ea"/>
              </a:rPr>
              <a:t> and </a:t>
            </a:r>
            <a:r>
              <a:rPr lang="en-US" sz="2800" dirty="0" err="1">
                <a:latin typeface="Cambria" panose="02040503050406030204" pitchFamily="18" charset="0"/>
                <a:ea typeface="Cambria" panose="02040503050406030204" pitchFamily="18" charset="0"/>
                <a:sym typeface="+mn-ea"/>
              </a:rPr>
              <a:t>Vakilsearch</a:t>
            </a:r>
            <a:r>
              <a:rPr lang="en-US" sz="2800" dirty="0">
                <a:latin typeface="Cambria" panose="02040503050406030204" pitchFamily="18" charset="0"/>
                <a:ea typeface="Cambria" panose="02040503050406030204" pitchFamily="18" charset="0"/>
                <a:sym typeface="+mn-ea"/>
              </a:rPr>
              <a:t> currently serve urban and niche clientele but lack comprehensive incentivization models for providers and broader accessibility.</a:t>
            </a:r>
          </a:p>
          <a:p>
            <a:endParaRPr lang="en-US" sz="2800" dirty="0">
              <a:latin typeface="Cambria" panose="02040503050406030204" pitchFamily="18" charset="0"/>
              <a:ea typeface="Cambria" panose="02040503050406030204" pitchFamily="18" charset="0"/>
            </a:endParaRPr>
          </a:p>
          <a:p>
            <a:r>
              <a:rPr lang="en-US" sz="2800" dirty="0">
                <a:latin typeface="Cambria" panose="02040503050406030204" pitchFamily="18" charset="0"/>
                <a:ea typeface="Cambria" panose="02040503050406030204" pitchFamily="18" charset="0"/>
              </a:rPr>
              <a:t>In 2022, about 25 million cases were filed and approximately 23 million cases disposed of by district judiciary courts across India, showing the huge volume of legal service demand. </a:t>
            </a:r>
          </a:p>
          <a:p>
            <a:pPr marL="495300" indent="-342900" algn="just">
              <a:lnSpc>
                <a:spcPct val="200000"/>
              </a:lnSpc>
              <a:spcBef>
                <a:spcPts val="0"/>
              </a:spcBef>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br>
              <a:rPr lang="en-US" dirty="0">
                <a:latin typeface="Cambria" panose="02040503050406030204" pitchFamily="18" charset="0"/>
                <a:ea typeface="Cambria" panose="02040503050406030204" pitchFamily="18" charset="0"/>
              </a:rPr>
            </a:br>
            <a:r>
              <a:rPr lang="en-US" altLang="en-US" dirty="0">
                <a:latin typeface="Cambria" panose="02040503050406030204" pitchFamily="18" charset="0"/>
                <a:ea typeface="Cambria" panose="02040503050406030204" pitchFamily="18" charset="0"/>
              </a:rPr>
              <a:t>Innovation &amp; Novel Contribution</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32485" y="951470"/>
            <a:ext cx="11528855" cy="5350475"/>
          </a:xfrm>
          <a:prstGeom prst="rect">
            <a:avLst/>
          </a:prstGeom>
          <a:noFill/>
          <a:ln>
            <a:noFill/>
          </a:ln>
        </p:spPr>
        <p:txBody>
          <a:bodyPr spcFirstLastPara="1" wrap="square" lIns="91425" tIns="45700" rIns="91425" bIns="45700" anchor="t" anchorCtr="0">
            <a:normAutofit/>
          </a:bodyPr>
          <a:lstStyle/>
          <a:p>
            <a:r>
              <a:rPr lang="en-US" altLang="en-US" b="1" dirty="0">
                <a:latin typeface="Cambria" panose="02040503050406030204" pitchFamily="18" charset="0"/>
                <a:ea typeface="Cambria" panose="02040503050406030204" pitchFamily="18" charset="0"/>
              </a:rPr>
              <a:t>Integrated Workflow</a:t>
            </a:r>
            <a:r>
              <a:rPr lang="en-US" altLang="en-US" dirty="0">
                <a:latin typeface="Cambria" panose="02040503050406030204" pitchFamily="18" charset="0"/>
                <a:ea typeface="Cambria" panose="02040503050406030204" pitchFamily="18" charset="0"/>
              </a:rPr>
              <a:t> – Combines student application, approval, attendance, fee management, and online classes in one seamless platform.</a:t>
            </a:r>
          </a:p>
          <a:p>
            <a:r>
              <a:rPr lang="en-US" altLang="en-US" b="1" dirty="0">
                <a:latin typeface="Cambria" panose="02040503050406030204" pitchFamily="18" charset="0"/>
                <a:ea typeface="Cambria" panose="02040503050406030204" pitchFamily="18" charset="0"/>
              </a:rPr>
              <a:t>Automated Credentials &amp; Notifications</a:t>
            </a:r>
            <a:r>
              <a:rPr lang="en-US" altLang="en-US" dirty="0">
                <a:latin typeface="Cambria" panose="02040503050406030204" pitchFamily="18" charset="0"/>
                <a:ea typeface="Cambria" panose="02040503050406030204" pitchFamily="18" charset="0"/>
              </a:rPr>
              <a:t> – Generates student login credentials automatically upon approval and sends them via email, reducing admin effort.</a:t>
            </a:r>
          </a:p>
          <a:p>
            <a:r>
              <a:rPr lang="en-US" altLang="en-US" b="1" dirty="0">
                <a:latin typeface="Cambria" panose="02040503050406030204" pitchFamily="18" charset="0"/>
                <a:ea typeface="Cambria" panose="02040503050406030204" pitchFamily="18" charset="0"/>
              </a:rPr>
              <a:t>Batch-wise &amp; Mode-specific Scheduling</a:t>
            </a:r>
            <a:r>
              <a:rPr lang="en-US" altLang="en-US" dirty="0">
                <a:latin typeface="Cambria" panose="02040503050406030204" pitchFamily="18" charset="0"/>
                <a:ea typeface="Cambria" panose="02040503050406030204" pitchFamily="18" charset="0"/>
              </a:rPr>
              <a:t> – Handles online/offline scheduling dynamically, ensuring personalized timetables.</a:t>
            </a:r>
          </a:p>
          <a:p>
            <a:r>
              <a:rPr lang="en-US" altLang="en-US" b="1" dirty="0">
                <a:latin typeface="Cambria" panose="02040503050406030204" pitchFamily="18" charset="0"/>
                <a:ea typeface="Cambria" panose="02040503050406030204" pitchFamily="18" charset="0"/>
              </a:rPr>
              <a:t>Incentive-driven Service Model (for Legal Services Project)</a:t>
            </a:r>
            <a:r>
              <a:rPr lang="en-US" altLang="en-US" dirty="0">
                <a:latin typeface="Cambria" panose="02040503050406030204" pitchFamily="18" charset="0"/>
                <a:ea typeface="Cambria" panose="02040503050406030204" pitchFamily="18" charset="0"/>
              </a:rPr>
              <a:t> – Uses gamified rewards and reputation scores to encourage legal service providers to maintain high service quality.</a:t>
            </a:r>
          </a:p>
          <a:p>
            <a:r>
              <a:rPr lang="en-US" altLang="en-US" b="1" dirty="0">
                <a:latin typeface="Cambria" panose="02040503050406030204" pitchFamily="18" charset="0"/>
                <a:ea typeface="Cambria" panose="02040503050406030204" pitchFamily="18" charset="0"/>
              </a:rPr>
              <a:t>Transparent Fee Tracking</a:t>
            </a:r>
            <a:r>
              <a:rPr lang="en-US" altLang="en-US" dirty="0">
                <a:latin typeface="Cambria" panose="02040503050406030204" pitchFamily="18" charset="0"/>
                <a:ea typeface="Cambria" panose="02040503050406030204" pitchFamily="18" charset="0"/>
              </a:rPr>
              <a:t> – Provides a dual-view fee system for admins (batch-wise, student-wise) and students (payment history, dues).</a:t>
            </a:r>
          </a:p>
          <a:p>
            <a:r>
              <a:rPr lang="en-US" altLang="en-US" b="1" dirty="0">
                <a:latin typeface="Cambria" panose="02040503050406030204" pitchFamily="18" charset="0"/>
                <a:ea typeface="Cambria" panose="02040503050406030204" pitchFamily="18" charset="0"/>
              </a:rPr>
              <a:t>Cross-platform Accessibility</a:t>
            </a:r>
            <a:r>
              <a:rPr lang="en-US" altLang="en-US" dirty="0">
                <a:latin typeface="Cambria" panose="02040503050406030204" pitchFamily="18" charset="0"/>
                <a:ea typeface="Cambria" panose="02040503050406030204" pitchFamily="18" charset="0"/>
              </a:rPr>
              <a:t> – Responsive frontend ensures smooth use across desktop and mobile without separate apps.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427789" y="237831"/>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427789" y="951207"/>
            <a:ext cx="11751276" cy="5668962"/>
          </a:xfrm>
          <a:prstGeom prst="rect">
            <a:avLst/>
          </a:prstGeom>
          <a:noFill/>
          <a:ln>
            <a:noFill/>
          </a:ln>
        </p:spPr>
        <p:txBody>
          <a:bodyPr spcFirstLastPara="1" wrap="square" lIns="91425" tIns="45700" rIns="91425" bIns="45700" anchor="t" anchorCtr="0">
            <a:normAutofit/>
          </a:bodyPr>
          <a:lstStyle/>
          <a:p>
            <a:pPr marL="152400" lvl="0" indent="0" algn="just">
              <a:spcBef>
                <a:spcPts val="0"/>
              </a:spcBef>
              <a:buSzPct val="100000"/>
              <a:buNone/>
            </a:pPr>
            <a:r>
              <a:rPr lang="en-IN" altLang="en-US" b="1" dirty="0">
                <a:solidFill>
                  <a:schemeClr val="tx1"/>
                </a:solidFill>
                <a:latin typeface="Calibri" panose="020F0502020204030204" charset="0"/>
                <a:ea typeface="Cambria" panose="02040503050406030204" pitchFamily="18" charset="0"/>
                <a:cs typeface="Calibri" panose="020F0502020204030204" charset="0"/>
              </a:rPr>
              <a:t>Solutions</a:t>
            </a:r>
            <a:endParaRPr lang="en-US" altLang="en-US" b="1" dirty="0">
              <a:solidFill>
                <a:schemeClr val="tx1"/>
              </a:solidFill>
              <a:latin typeface="Calibri" panose="020F0502020204030204" charset="0"/>
              <a:ea typeface="Cambria" panose="02040503050406030204" pitchFamily="18" charset="0"/>
              <a:cs typeface="Calibri" panose="020F0502020204030204" charset="0"/>
            </a:endParaRP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Centralized </a:t>
            </a:r>
            <a:r>
              <a:rPr lang="en-US" altLang="en-US" b="1" dirty="0" err="1">
                <a:solidFill>
                  <a:schemeClr val="tx1"/>
                </a:solidFill>
                <a:latin typeface="Calibri" panose="020F0502020204030204" charset="0"/>
                <a:ea typeface="Cambria" panose="02040503050406030204" pitchFamily="18" charset="0"/>
                <a:cs typeface="Calibri" panose="020F0502020204030204" charset="0"/>
              </a:rPr>
              <a:t>eMarketplace</a:t>
            </a:r>
            <a:r>
              <a:rPr lang="en-US" altLang="en-US" dirty="0">
                <a:solidFill>
                  <a:schemeClr val="tx1"/>
                </a:solidFill>
                <a:latin typeface="Calibri" panose="020F0502020204030204" charset="0"/>
                <a:ea typeface="Cambria" panose="02040503050406030204" pitchFamily="18" charset="0"/>
                <a:cs typeface="Calibri" panose="020F0502020204030204" charset="0"/>
              </a:rPr>
              <a:t> to connect citizens with verified legal service providers (advocates, arbitrators, mediators, notaries, document writers, etc.).</a:t>
            </a: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Incentive Mechanisms:</a:t>
            </a:r>
          </a:p>
          <a:p>
            <a:pPr marL="609600" lvl="0" indent="-457200" algn="just">
              <a:spcBef>
                <a:spcPts val="0"/>
              </a:spcBef>
              <a:buSzPct val="100000"/>
              <a:buAutoNum type="arabicPeriod"/>
            </a:pPr>
            <a:r>
              <a:rPr lang="en-US" altLang="en-US" dirty="0">
                <a:solidFill>
                  <a:schemeClr val="tx1"/>
                </a:solidFill>
                <a:latin typeface="Calibri" panose="020F0502020204030204" charset="0"/>
                <a:ea typeface="Cambria" panose="02040503050406030204" pitchFamily="18" charset="0"/>
                <a:cs typeface="Calibri" panose="020F0502020204030204" charset="0"/>
              </a:rPr>
              <a:t>Monetary rewards for case completions.</a:t>
            </a:r>
          </a:p>
          <a:p>
            <a:pPr marL="609600" lvl="0" indent="-457200" algn="just">
              <a:spcBef>
                <a:spcPts val="0"/>
              </a:spcBef>
              <a:buSzPct val="100000"/>
              <a:buAutoNum type="arabicPeriod"/>
            </a:pPr>
            <a:r>
              <a:rPr lang="en-US" altLang="en-US" dirty="0">
                <a:solidFill>
                  <a:schemeClr val="tx1"/>
                </a:solidFill>
                <a:latin typeface="Calibri" panose="020F0502020204030204" charset="0"/>
                <a:ea typeface="Cambria" panose="02040503050406030204" pitchFamily="18" charset="0"/>
                <a:cs typeface="Calibri" panose="020F0502020204030204" charset="0"/>
              </a:rPr>
              <a:t>Badges, ratings, and leaderboards via gamification.</a:t>
            </a:r>
          </a:p>
          <a:p>
            <a:pPr marL="609600" lvl="0" indent="-457200" algn="just">
              <a:spcBef>
                <a:spcPts val="0"/>
              </a:spcBef>
              <a:buSzPct val="100000"/>
              <a:buAutoNum type="arabicPeriod"/>
            </a:pPr>
            <a:r>
              <a:rPr lang="en-US" altLang="en-US" dirty="0">
                <a:solidFill>
                  <a:schemeClr val="tx1"/>
                </a:solidFill>
                <a:latin typeface="Calibri" panose="020F0502020204030204" charset="0"/>
                <a:ea typeface="Cambria" panose="02040503050406030204" pitchFamily="18" charset="0"/>
                <a:cs typeface="Calibri" panose="020F0502020204030204" charset="0"/>
              </a:rPr>
              <a:t>Discounts on platform fees for consistent service quality.</a:t>
            </a:r>
          </a:p>
          <a:p>
            <a:pPr marL="152400" lvl="0" indent="0" algn="just">
              <a:spcBef>
                <a:spcPts val="0"/>
              </a:spcBef>
              <a:buSzPct val="100000"/>
              <a:buNone/>
            </a:pPr>
            <a:endParaRPr lang="en-US" altLang="en-US" dirty="0">
              <a:solidFill>
                <a:schemeClr val="tx1"/>
              </a:solidFill>
              <a:latin typeface="Calibri" panose="020F0502020204030204" charset="0"/>
              <a:ea typeface="Cambria" panose="02040503050406030204" pitchFamily="18" charset="0"/>
              <a:cs typeface="Calibri" panose="020F0502020204030204" charset="0"/>
            </a:endParaRP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Institutional Verification</a:t>
            </a:r>
            <a:r>
              <a:rPr lang="en-US" altLang="en-US" dirty="0">
                <a:solidFill>
                  <a:schemeClr val="tx1"/>
                </a:solidFill>
                <a:latin typeface="Calibri" panose="020F0502020204030204" charset="0"/>
                <a:ea typeface="Cambria" panose="02040503050406030204" pitchFamily="18" charset="0"/>
                <a:cs typeface="Calibri" panose="020F0502020204030204" charset="0"/>
              </a:rPr>
              <a:t> with Bar Councils, arbitration bodies, and notary authorities for trust and credibility.</a:t>
            </a: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Intelligent Matching</a:t>
            </a:r>
            <a:r>
              <a:rPr lang="en-US" altLang="en-US" dirty="0">
                <a:solidFill>
                  <a:schemeClr val="tx1"/>
                </a:solidFill>
                <a:latin typeface="Calibri" panose="020F0502020204030204" charset="0"/>
                <a:ea typeface="Cambria" panose="02040503050406030204" pitchFamily="18" charset="0"/>
                <a:cs typeface="Calibri" panose="020F0502020204030204" charset="0"/>
              </a:rPr>
              <a:t> algorithm to pair clients with the most suitable providers.</a:t>
            </a:r>
          </a:p>
          <a:p>
            <a:pPr marL="152400" lvl="0" indent="0" algn="just">
              <a:spcBef>
                <a:spcPts val="0"/>
              </a:spcBef>
              <a:buSzPct val="100000"/>
              <a:buNone/>
            </a:pPr>
            <a:endParaRPr lang="en-US" altLang="en-US" dirty="0">
              <a:solidFill>
                <a:schemeClr val="tx1"/>
              </a:solidFill>
              <a:latin typeface="Calibri" panose="020F0502020204030204" charset="0"/>
              <a:ea typeface="Cambria" panose="02040503050406030204" pitchFamily="18" charset="0"/>
              <a:cs typeface="Calibri" panose="020F0502020204030204" charset="0"/>
            </a:endParaRP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Inclusive Design</a:t>
            </a:r>
            <a:r>
              <a:rPr lang="en-US" altLang="en-US" dirty="0">
                <a:solidFill>
                  <a:schemeClr val="tx1"/>
                </a:solidFill>
                <a:latin typeface="Calibri" panose="020F0502020204030204" charset="0"/>
                <a:ea typeface="Cambria" panose="02040503050406030204" pitchFamily="18" charset="0"/>
                <a:cs typeface="Calibri" panose="020F0502020204030204" charset="0"/>
              </a:rPr>
              <a:t> to ensure affordability and accessibility for citizens from all socio-economic backgrounds.</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Technology Stack Components:</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1. Frontend (User Interface): React.js</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2. Backend (Server-side Logic): Java</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3. Database (Data Storage): MySQL</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4. Security &amp; Authentication: JWT</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5. Integration Services</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APIs: Integration with court systems, legal aid clinics, bar associations.</a:t>
            </a:r>
          </a:p>
          <a:p>
            <a:pPr marL="152400" lvl="0" indent="0" algn="just">
              <a:spcBef>
                <a:spcPts val="0"/>
              </a:spcBef>
              <a:buSzPct val="100000"/>
              <a:buNone/>
            </a:pPr>
            <a:r>
              <a:rPr lang="en-US" altLang="en-US" dirty="0">
                <a:solidFill>
                  <a:schemeClr val="tx1"/>
                </a:solidFill>
                <a:latin typeface="Calibri" panose="020F0502020204030204" charset="0"/>
                <a:ea typeface="Cambria" panose="02040503050406030204" pitchFamily="18" charset="0"/>
                <a:cs typeface="Calibri" panose="020F0502020204030204" charset="0"/>
              </a:rPr>
              <a:t>6. Deployment:</a:t>
            </a: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Frontend</a:t>
            </a:r>
            <a:r>
              <a:rPr lang="en-US" altLang="en-US" dirty="0">
                <a:solidFill>
                  <a:schemeClr val="tx1"/>
                </a:solidFill>
                <a:latin typeface="Calibri" panose="020F0502020204030204" charset="0"/>
                <a:ea typeface="Cambria" panose="02040503050406030204" pitchFamily="18" charset="0"/>
                <a:cs typeface="Calibri" panose="020F0502020204030204" charset="0"/>
              </a:rPr>
              <a:t>: </a:t>
            </a:r>
            <a:r>
              <a:rPr lang="en-US" altLang="en-US" dirty="0" err="1">
                <a:solidFill>
                  <a:schemeClr val="tx1"/>
                </a:solidFill>
                <a:latin typeface="Calibri" panose="020F0502020204030204" charset="0"/>
                <a:ea typeface="Cambria" panose="02040503050406030204" pitchFamily="18" charset="0"/>
                <a:cs typeface="Calibri" panose="020F0502020204030204" charset="0"/>
              </a:rPr>
              <a:t>Vercel</a:t>
            </a:r>
            <a:r>
              <a:rPr lang="en-US" altLang="en-US" dirty="0">
                <a:solidFill>
                  <a:schemeClr val="tx1"/>
                </a:solidFill>
                <a:latin typeface="Calibri" panose="020F0502020204030204" charset="0"/>
                <a:ea typeface="Cambria" panose="02040503050406030204" pitchFamily="18" charset="0"/>
                <a:cs typeface="Calibri" panose="020F0502020204030204" charset="0"/>
              </a:rPr>
              <a:t> /Netlify (React.js)</a:t>
            </a: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Backend</a:t>
            </a:r>
            <a:r>
              <a:rPr lang="en-US" altLang="en-US" dirty="0">
                <a:solidFill>
                  <a:schemeClr val="tx1"/>
                </a:solidFill>
                <a:latin typeface="Calibri" panose="020F0502020204030204" charset="0"/>
                <a:ea typeface="Cambria" panose="02040503050406030204" pitchFamily="18" charset="0"/>
                <a:cs typeface="Calibri" panose="020F0502020204030204" charset="0"/>
              </a:rPr>
              <a:t>: Render (Java)</a:t>
            </a:r>
          </a:p>
          <a:p>
            <a:pPr marL="152400" lvl="0" indent="0" algn="just">
              <a:spcBef>
                <a:spcPts val="0"/>
              </a:spcBef>
              <a:buSzPct val="100000"/>
              <a:buNone/>
            </a:pPr>
            <a:r>
              <a:rPr lang="en-US" altLang="en-US" b="1" dirty="0">
                <a:solidFill>
                  <a:schemeClr val="tx1"/>
                </a:solidFill>
                <a:latin typeface="Calibri" panose="020F0502020204030204" charset="0"/>
                <a:ea typeface="Cambria" panose="02040503050406030204" pitchFamily="18" charset="0"/>
                <a:cs typeface="Calibri" panose="020F0502020204030204" charset="0"/>
              </a:rPr>
              <a:t>Database</a:t>
            </a:r>
            <a:r>
              <a:rPr lang="en-US" altLang="en-US" dirty="0">
                <a:solidFill>
                  <a:schemeClr val="tx1"/>
                </a:solidFill>
                <a:latin typeface="Calibri" panose="020F0502020204030204" charset="0"/>
                <a:ea typeface="Cambria" panose="02040503050406030204" pitchFamily="18" charset="0"/>
                <a:cs typeface="Calibri" panose="020F0502020204030204" charset="0"/>
              </a:rPr>
              <a:t>: </a:t>
            </a:r>
            <a:r>
              <a:rPr lang="en-IN" dirty="0">
                <a:latin typeface="Calibri" panose="020F0502020204030204" pitchFamily="34" charset="0"/>
                <a:ea typeface="Calibri" panose="020F0502020204030204" pitchFamily="34" charset="0"/>
                <a:cs typeface="Calibri" panose="020F0502020204030204" pitchFamily="34" charset="0"/>
              </a:rPr>
              <a:t>RemoteMySQL</a:t>
            </a:r>
            <a:r>
              <a:rPr lang="en-IN" dirty="0"/>
              <a:t>.com</a:t>
            </a:r>
            <a:endParaRPr lang="en-US" altLang="en-US" dirty="0">
              <a:solidFill>
                <a:schemeClr val="tx1"/>
              </a:solidFill>
              <a:latin typeface="Calibri" panose="020F0502020204030204" charset="0"/>
              <a:ea typeface="Cambria" panose="02040503050406030204" pitchFamily="18" charset="0"/>
              <a:cs typeface="Calibri" panose="020F0502020204030204" charset="0"/>
            </a:endParaRPr>
          </a:p>
        </p:txBody>
      </p:sp>
      <p:pic>
        <p:nvPicPr>
          <p:cNvPr id="3" name="Picture 2">
            <a:extLst>
              <a:ext uri="{FF2B5EF4-FFF2-40B4-BE49-F238E27FC236}">
                <a16:creationId xmlns:a16="http://schemas.microsoft.com/office/drawing/2014/main" id="{FE20FBAB-5890-8A14-8E8F-2CB21281B127}"/>
              </a:ext>
            </a:extLst>
          </p:cNvPr>
          <p:cNvPicPr>
            <a:picLocks noChangeAspect="1"/>
          </p:cNvPicPr>
          <p:nvPr/>
        </p:nvPicPr>
        <p:blipFill>
          <a:blip r:embed="rId3"/>
          <a:stretch>
            <a:fillRect/>
          </a:stretch>
        </p:blipFill>
        <p:spPr>
          <a:xfrm>
            <a:off x="8546006" y="2235420"/>
            <a:ext cx="637721" cy="637721"/>
          </a:xfrm>
          <a:prstGeom prst="rect">
            <a:avLst/>
          </a:prstGeom>
        </p:spPr>
      </p:pic>
      <p:pic>
        <p:nvPicPr>
          <p:cNvPr id="7" name="Picture 6"/>
          <p:cNvPicPr>
            <a:picLocks noChangeAspect="1"/>
          </p:cNvPicPr>
          <p:nvPr/>
        </p:nvPicPr>
        <p:blipFill>
          <a:blip r:embed="rId4"/>
          <a:stretch>
            <a:fillRect/>
          </a:stretch>
        </p:blipFill>
        <p:spPr>
          <a:xfrm>
            <a:off x="8337247" y="1127334"/>
            <a:ext cx="1096880" cy="637721"/>
          </a:xfrm>
          <a:prstGeom prst="rect">
            <a:avLst/>
          </a:prstGeom>
        </p:spPr>
      </p:pic>
      <p:pic>
        <p:nvPicPr>
          <p:cNvPr id="9" name="Picture 8"/>
          <p:cNvPicPr>
            <a:picLocks noChangeAspect="1"/>
          </p:cNvPicPr>
          <p:nvPr/>
        </p:nvPicPr>
        <p:blipFill>
          <a:blip r:embed="rId5"/>
          <a:stretch>
            <a:fillRect/>
          </a:stretch>
        </p:blipFill>
        <p:spPr>
          <a:xfrm>
            <a:off x="9740716" y="1446195"/>
            <a:ext cx="781250" cy="781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a:t>
            </a:r>
          </a:p>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6" name="Table 5"/>
          <p:cNvGraphicFramePr/>
          <p:nvPr>
            <p:custDataLst>
              <p:tags r:id="rId1"/>
            </p:custDataLst>
            <p:extLst>
              <p:ext uri="{D42A27DB-BD31-4B8C-83A1-F6EECF244321}">
                <p14:modId xmlns:p14="http://schemas.microsoft.com/office/powerpoint/2010/main" val="3139355827"/>
              </p:ext>
            </p:extLst>
          </p:nvPr>
        </p:nvGraphicFramePr>
        <p:xfrm>
          <a:off x="565150" y="2020570"/>
          <a:ext cx="11115040" cy="3995737"/>
        </p:xfrm>
        <a:graphic>
          <a:graphicData uri="http://schemas.openxmlformats.org/drawingml/2006/table">
            <a:tbl>
              <a:tblPr/>
              <a:tblGrid>
                <a:gridCol w="5284470">
                  <a:extLst>
                    <a:ext uri="{9D8B030D-6E8A-4147-A177-3AD203B41FA5}">
                      <a16:colId xmlns:a16="http://schemas.microsoft.com/office/drawing/2014/main" val="20000"/>
                    </a:ext>
                  </a:extLst>
                </a:gridCol>
                <a:gridCol w="5830570">
                  <a:extLst>
                    <a:ext uri="{9D8B030D-6E8A-4147-A177-3AD203B41FA5}">
                      <a16:colId xmlns:a16="http://schemas.microsoft.com/office/drawing/2014/main" val="20001"/>
                    </a:ext>
                  </a:extLst>
                </a:gridCol>
              </a:tblGrid>
              <a:tr h="307340">
                <a:tc>
                  <a:txBody>
                    <a:bodyPr/>
                    <a:lstStyle/>
                    <a:p>
                      <a:pPr algn="ctr" fontAlgn="ctr"/>
                      <a:r>
                        <a:rPr lang="en-US" altLang="zh-CN" sz="2000" b="1" i="0">
                          <a:solidFill>
                            <a:srgbClr val="000000"/>
                          </a:solidFill>
                          <a:latin typeface="Calibri" panose="020F0502020204030204"/>
                          <a:ea typeface="Calibri" panose="020F0502020204030204"/>
                        </a:rPr>
                        <a:t>Software Requirements</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ctr" fontAlgn="ctr"/>
                      <a:r>
                        <a:rPr lang="en-US" altLang="zh-CN" sz="2000" b="1" i="0">
                          <a:solidFill>
                            <a:srgbClr val="000000"/>
                          </a:solidFill>
                          <a:latin typeface="Calibri" panose="020F0502020204030204"/>
                          <a:ea typeface="Calibri" panose="020F0502020204030204"/>
                        </a:rPr>
                        <a:t>Hardware Requirements</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614045">
                <a:tc>
                  <a:txBody>
                    <a:bodyPr/>
                    <a:lstStyle/>
                    <a:p>
                      <a:pPr algn="l" fontAlgn="ctr"/>
                      <a:r>
                        <a:rPr lang="en-US" altLang="zh-CN" sz="1800" b="1" i="0">
                          <a:solidFill>
                            <a:srgbClr val="000000"/>
                          </a:solidFill>
                          <a:latin typeface="Calibri" panose="020F0502020204030204"/>
                          <a:ea typeface="Calibri" panose="020F0502020204030204"/>
                        </a:rPr>
                        <a:t>Operating System:</a:t>
                      </a:r>
                      <a:r>
                        <a:rPr lang="en-US" altLang="zh-CN" sz="1800" b="0" i="0">
                          <a:solidFill>
                            <a:srgbClr val="000000"/>
                          </a:solidFill>
                          <a:latin typeface="Calibri" panose="020F0502020204030204"/>
                          <a:ea typeface="Calibri" panose="020F0502020204030204"/>
                        </a:rPr>
                        <a:t> Windows 10 </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Processor:</a:t>
                      </a:r>
                      <a:r>
                        <a:rPr lang="en-US" altLang="zh-CN" sz="1800" b="0" i="0">
                          <a:solidFill>
                            <a:srgbClr val="000000"/>
                          </a:solidFill>
                          <a:latin typeface="Calibri" panose="020F0502020204030204"/>
                          <a:ea typeface="Calibri" panose="020F0502020204030204"/>
                        </a:rPr>
                        <a:t> Intel Core i5 or higher</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306070">
                <a:tc>
                  <a:txBody>
                    <a:bodyPr/>
                    <a:lstStyle/>
                    <a:p>
                      <a:pPr algn="l" fontAlgn="ctr"/>
                      <a:r>
                        <a:rPr lang="en-US" altLang="zh-CN" sz="1800" b="1" i="0">
                          <a:solidFill>
                            <a:srgbClr val="000000"/>
                          </a:solidFill>
                          <a:latin typeface="Calibri" panose="020F0502020204030204"/>
                          <a:ea typeface="Calibri" panose="020F0502020204030204"/>
                        </a:rPr>
                        <a:t>Backend:</a:t>
                      </a:r>
                      <a:r>
                        <a:rPr lang="en-US" altLang="zh-CN" sz="1800" b="0" i="0">
                          <a:solidFill>
                            <a:srgbClr val="000000"/>
                          </a:solidFill>
                          <a:latin typeface="Calibri" panose="020F0502020204030204"/>
                          <a:ea typeface="Calibri" panose="020F0502020204030204"/>
                        </a:rPr>
                        <a:t> Java Spring Boot (v3.x)</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RAM:</a:t>
                      </a:r>
                      <a:r>
                        <a:rPr lang="en-US" altLang="zh-CN" sz="1800" b="0" i="0">
                          <a:solidFill>
                            <a:srgbClr val="000000"/>
                          </a:solidFill>
                          <a:latin typeface="Calibri" panose="020F0502020204030204"/>
                          <a:ea typeface="Calibri" panose="020F0502020204030204"/>
                        </a:rPr>
                        <a:t> 8 GB or more</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307975">
                <a:tc>
                  <a:txBody>
                    <a:bodyPr/>
                    <a:lstStyle/>
                    <a:p>
                      <a:pPr algn="l" fontAlgn="ctr"/>
                      <a:r>
                        <a:rPr lang="en-US" altLang="zh-CN" sz="1800" b="1" i="0">
                          <a:solidFill>
                            <a:srgbClr val="000000"/>
                          </a:solidFill>
                          <a:latin typeface="Calibri" panose="020F0502020204030204"/>
                          <a:ea typeface="Calibri" panose="020F0502020204030204"/>
                        </a:rPr>
                        <a:t>Frontend:</a:t>
                      </a:r>
                      <a:r>
                        <a:rPr lang="en-US" altLang="zh-CN" sz="1800" b="0" i="0">
                          <a:solidFill>
                            <a:srgbClr val="000000"/>
                          </a:solidFill>
                          <a:latin typeface="Calibri" panose="020F0502020204030204"/>
                          <a:ea typeface="Calibri" panose="020F0502020204030204"/>
                        </a:rPr>
                        <a:t> React.js (v18+)</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Storage:</a:t>
                      </a:r>
                      <a:r>
                        <a:rPr lang="en-US" altLang="zh-CN" sz="1800" b="0" i="0">
                          <a:solidFill>
                            <a:srgbClr val="000000"/>
                          </a:solidFill>
                          <a:latin typeface="Calibri" panose="020F0502020204030204"/>
                          <a:ea typeface="Calibri" panose="020F0502020204030204"/>
                        </a:rPr>
                        <a:t> 256 GB SSD or higher</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307340">
                <a:tc>
                  <a:txBody>
                    <a:bodyPr/>
                    <a:lstStyle/>
                    <a:p>
                      <a:pPr algn="l" fontAlgn="ctr"/>
                      <a:r>
                        <a:rPr lang="en-US" altLang="zh-CN" sz="1800" b="1" i="0">
                          <a:solidFill>
                            <a:srgbClr val="000000"/>
                          </a:solidFill>
                          <a:latin typeface="Calibri" panose="020F0502020204030204"/>
                          <a:ea typeface="Calibri" panose="020F0502020204030204"/>
                        </a:rPr>
                        <a:t>Database:</a:t>
                      </a:r>
                      <a:r>
                        <a:rPr lang="en-US" altLang="zh-CN" sz="1800" b="0" i="0">
                          <a:solidFill>
                            <a:srgbClr val="000000"/>
                          </a:solidFill>
                          <a:latin typeface="Calibri" panose="020F0502020204030204"/>
                          <a:ea typeface="Calibri" panose="020F0502020204030204"/>
                        </a:rPr>
                        <a:t> MySQL (v8.0+)</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Display:</a:t>
                      </a:r>
                      <a:r>
                        <a:rPr lang="en-US" altLang="zh-CN" sz="1800" b="0" i="0">
                          <a:solidFill>
                            <a:srgbClr val="000000"/>
                          </a:solidFill>
                          <a:latin typeface="Calibri" panose="020F0502020204030204"/>
                          <a:ea typeface="Calibri" panose="020F0502020204030204"/>
                        </a:rPr>
                        <a:t> 1080p Full HD monitor</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613410">
                <a:tc>
                  <a:txBody>
                    <a:bodyPr/>
                    <a:lstStyle/>
                    <a:p>
                      <a:pPr algn="l" fontAlgn="ctr"/>
                      <a:r>
                        <a:rPr lang="en-US" altLang="zh-CN" sz="1800" b="1" i="0">
                          <a:solidFill>
                            <a:srgbClr val="000000"/>
                          </a:solidFill>
                          <a:latin typeface="Calibri" panose="020F0502020204030204"/>
                          <a:ea typeface="Calibri" panose="020F0502020204030204"/>
                        </a:rPr>
                        <a:t>Authentication:</a:t>
                      </a:r>
                      <a:r>
                        <a:rPr lang="en-US" altLang="zh-CN" sz="1800" b="0" i="0">
                          <a:solidFill>
                            <a:srgbClr val="000000"/>
                          </a:solidFill>
                          <a:latin typeface="Calibri" panose="020F0502020204030204"/>
                          <a:ea typeface="Calibri" panose="020F0502020204030204"/>
                        </a:rPr>
                        <a:t> JWT / Firebase Auth</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Network:</a:t>
                      </a:r>
                      <a:r>
                        <a:rPr lang="en-US" altLang="zh-CN" sz="1800" b="0" i="0">
                          <a:solidFill>
                            <a:srgbClr val="000000"/>
                          </a:solidFill>
                          <a:latin typeface="Calibri" panose="020F0502020204030204"/>
                          <a:ea typeface="Calibri" panose="020F0502020204030204"/>
                        </a:rPr>
                        <a:t> Stable broadband internet (10 Mbps+)</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5"/>
                  </a:ext>
                </a:extLst>
              </a:tr>
              <a:tr h="307975">
                <a:tc>
                  <a:txBody>
                    <a:bodyPr/>
                    <a:lstStyle/>
                    <a:p>
                      <a:pPr algn="l" fontAlgn="ctr"/>
                      <a:r>
                        <a:rPr lang="en-US" altLang="zh-CN" sz="1800" b="1" i="0">
                          <a:solidFill>
                            <a:srgbClr val="000000"/>
                          </a:solidFill>
                          <a:latin typeface="Calibri" panose="020F0502020204030204"/>
                          <a:ea typeface="Calibri" panose="020F0502020204030204"/>
                        </a:rPr>
                        <a:t>Web Server:</a:t>
                      </a:r>
                      <a:r>
                        <a:rPr lang="en-US" altLang="zh-CN" sz="1800" b="0" i="0">
                          <a:solidFill>
                            <a:srgbClr val="000000"/>
                          </a:solidFill>
                          <a:latin typeface="Calibri" panose="020F0502020204030204"/>
                          <a:ea typeface="Calibri" panose="020F0502020204030204"/>
                        </a:rPr>
                        <a:t> Apache Tomcat 10+</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Peripherals</a:t>
                      </a:r>
                      <a:r>
                        <a:rPr lang="en-US" altLang="zh-CN" sz="1800" b="0" i="0">
                          <a:solidFill>
                            <a:srgbClr val="000000"/>
                          </a:solidFill>
                          <a:latin typeface="Calibri" panose="020F0502020204030204"/>
                          <a:ea typeface="Calibri" panose="020F0502020204030204"/>
                        </a:rPr>
                        <a:t>: Keyboard, mouse</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306070">
                <a:tc>
                  <a:txBody>
                    <a:bodyPr/>
                    <a:lstStyle/>
                    <a:p>
                      <a:pPr algn="l" fontAlgn="ctr"/>
                      <a:r>
                        <a:rPr lang="en-US" altLang="zh-CN" sz="1800" b="1" i="0" dirty="0">
                          <a:solidFill>
                            <a:srgbClr val="000000"/>
                          </a:solidFill>
                          <a:latin typeface="Calibri" panose="020F0502020204030204"/>
                          <a:ea typeface="Calibri" panose="020F0502020204030204"/>
                        </a:rPr>
                        <a:t>Build Tools:</a:t>
                      </a:r>
                      <a:r>
                        <a:rPr lang="en-US" altLang="zh-CN" sz="1800" b="0" i="0" dirty="0">
                          <a:solidFill>
                            <a:srgbClr val="000000"/>
                          </a:solidFill>
                          <a:latin typeface="Calibri" panose="020F0502020204030204"/>
                          <a:ea typeface="Calibri" panose="020F0502020204030204"/>
                        </a:rPr>
                        <a:t> Maven </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1" i="0">
                          <a:solidFill>
                            <a:srgbClr val="000000"/>
                          </a:solidFill>
                          <a:latin typeface="Calibri" panose="020F0502020204030204"/>
                          <a:ea typeface="Calibri" panose="020F0502020204030204"/>
                        </a:rPr>
                        <a:t>Optional:</a:t>
                      </a:r>
                      <a:r>
                        <a:rPr lang="en-US" altLang="zh-CN" sz="1800" b="0" i="0">
                          <a:solidFill>
                            <a:srgbClr val="000000"/>
                          </a:solidFill>
                          <a:latin typeface="Calibri" panose="020F0502020204030204"/>
                          <a:ea typeface="Calibri" panose="020F0502020204030204"/>
                        </a:rPr>
                        <a:t> UPS for power backup</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614045">
                <a:tc>
                  <a:txBody>
                    <a:bodyPr/>
                    <a:lstStyle/>
                    <a:p>
                      <a:pPr algn="l" fontAlgn="ctr"/>
                      <a:r>
                        <a:rPr lang="en-US" altLang="zh-CN" sz="1800" b="1" i="0">
                          <a:solidFill>
                            <a:srgbClr val="000000"/>
                          </a:solidFill>
                          <a:latin typeface="Calibri" panose="020F0502020204030204"/>
                          <a:ea typeface="Calibri" panose="020F0502020204030204"/>
                        </a:rPr>
                        <a:t>Payment Integration:</a:t>
                      </a:r>
                      <a:r>
                        <a:rPr lang="en-US" altLang="zh-CN" sz="1800" b="0" i="0">
                          <a:solidFill>
                            <a:srgbClr val="000000"/>
                          </a:solidFill>
                          <a:latin typeface="Calibri" panose="020F0502020204030204"/>
                          <a:ea typeface="Calibri" panose="020F0502020204030204"/>
                        </a:rPr>
                        <a:t> Razorpay </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l" fontAlgn="ctr"/>
                      <a:r>
                        <a:rPr lang="en-US" altLang="zh-CN" sz="1800" b="0" i="0">
                          <a:solidFill>
                            <a:srgbClr val="000000"/>
                          </a:solidFill>
                          <a:latin typeface="Calibri" panose="020F0502020204030204"/>
                          <a:ea typeface="Calibri" panose="020F0502020204030204"/>
                        </a:rPr>
                        <a:t>—</a:t>
                      </a:r>
                    </a:p>
                  </a:txBody>
                  <a:tcPr marL="6667" marR="6667" marT="6667"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r h="307340">
                <a:tc>
                  <a:txBody>
                    <a:bodyPr/>
                    <a:lstStyle/>
                    <a:p>
                      <a:pPr algn="l" fontAlgn="b"/>
                      <a:endParaRPr sz="1100" b="0" i="0">
                        <a:solidFill>
                          <a:srgbClr val="000000"/>
                        </a:solidFill>
                        <a:latin typeface="Calibri" panose="020F0502020204030204"/>
                        <a:ea typeface="Calibri" panose="020F0502020204030204"/>
                      </a:endParaRPr>
                    </a:p>
                  </a:txBody>
                  <a:tcPr marL="6667" marR="6667" marT="6667" marB="0" anchor="b">
                    <a:lnL>
                      <a:noFill/>
                    </a:lnL>
                    <a:lnR>
                      <a:noFill/>
                    </a:lnR>
                    <a:lnT w="6350" cap="flat" cmpd="sng">
                      <a:solidFill>
                        <a:srgbClr val="000008"/>
                      </a:solidFill>
                      <a:prstDash val="solid"/>
                      <a:headEnd type="none" w="med" len="med"/>
                      <a:tailEnd type="none" w="med" len="med"/>
                    </a:lnT>
                    <a:lnB>
                      <a:noFill/>
                    </a:lnB>
                    <a:noFill/>
                  </a:tcPr>
                </a:tc>
                <a:tc>
                  <a:txBody>
                    <a:bodyPr/>
                    <a:lstStyle/>
                    <a:p>
                      <a:pPr algn="l" fontAlgn="b"/>
                      <a:endParaRPr sz="1100" b="0" i="0" dirty="0">
                        <a:solidFill>
                          <a:srgbClr val="000000"/>
                        </a:solidFill>
                        <a:latin typeface="Calibri" panose="020F0502020204030204"/>
                        <a:ea typeface="Calibri" panose="020F0502020204030204"/>
                      </a:endParaRPr>
                    </a:p>
                  </a:txBody>
                  <a:tcPr marL="6667" marR="6667" marT="6667" marB="0" anchor="b">
                    <a:lnL>
                      <a:noFill/>
                    </a:lnL>
                    <a:lnR>
                      <a:noFill/>
                    </a:lnR>
                    <a:lnT w="6350" cap="flat" cmpd="sng">
                      <a:solidFill>
                        <a:srgbClr val="000008"/>
                      </a:solidFill>
                      <a:prstDash val="solid"/>
                      <a:headEnd type="none" w="med" len="med"/>
                      <a:tailEnd type="none" w="med" len="med"/>
                    </a:lnT>
                    <a:lnB>
                      <a:noFill/>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a:latin typeface="Cambria" panose="02040503050406030204" pitchFamily="18" charset="0"/>
                <a:ea typeface="Cambria" panose="02040503050406030204" pitchFamily="18" charset="0"/>
                <a:sym typeface="+mn-ea"/>
              </a:rPr>
              <a:t>The Github link provided should have public access permission.</a:t>
            </a: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a:solidFill>
                  <a:schemeClr val="accent2">
                    <a:lumMod val="75000"/>
                  </a:schemeClr>
                </a:solidFill>
                <a:latin typeface="Cambria" panose="02040503050406030204" pitchFamily="18" charset="0"/>
                <a:ea typeface="Cambria" panose="02040503050406030204" pitchFamily="18" charset="0"/>
                <a:sym typeface="+mn-ea"/>
              </a:rPr>
              <a:t>GitHub </a:t>
            </a:r>
            <a:r>
              <a:rPr lang="en-US" b="1" dirty="0">
                <a:solidFill>
                  <a:schemeClr val="accent2">
                    <a:lumMod val="75000"/>
                  </a:schemeClr>
                </a:solidFill>
                <a:latin typeface="Cambria" panose="02040503050406030204" pitchFamily="18" charset="0"/>
                <a:ea typeface="Cambria" panose="02040503050406030204" pitchFamily="18" charset="0"/>
                <a:sym typeface="+mn-ea"/>
              </a:rPr>
              <a:t>Link: </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rgbClr val="0070C0"/>
                </a:solidFill>
                <a:latin typeface="Cambria" panose="02040503050406030204" pitchFamily="18" charset="0"/>
                <a:ea typeface="Cambria" panose="02040503050406030204" pitchFamily="18" charset="0"/>
                <a:sym typeface="+mn-ea"/>
              </a:rPr>
              <a:t>https://github.com/Mohith4488/Capstone-project-legal-service-adviser</a:t>
            </a:r>
            <a:endParaRPr lang="en-US" b="1" dirty="0">
              <a:solidFill>
                <a:srgbClr val="0070C0"/>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stretch>
            <a:fillRect/>
          </a:stretch>
        </p:blipFill>
        <p:spPr>
          <a:xfrm>
            <a:off x="413385" y="1142365"/>
            <a:ext cx="11543030" cy="48628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altLang="en-US" dirty="0">
              <a:latin typeface="Cambria" panose="02040503050406030204" pitchFamily="18" charset="0"/>
              <a:ea typeface="Cambria" panose="02040503050406030204" pitchFamily="18" charset="0"/>
            </a:endParaRPr>
          </a:p>
          <a:p>
            <a:pPr marL="609600" lvl="1" indent="0">
              <a:spcBef>
                <a:spcPts val="0"/>
              </a:spcBef>
              <a:buNone/>
            </a:pPr>
            <a:r>
              <a:rPr lang="en-US" dirty="0">
                <a:sym typeface="+mn-ea"/>
              </a:rPr>
              <a:t>[1] S. K. Tripathi and P. K. Jain, "Digital transformation of legal services in India: Opportunities and challenges," </a:t>
            </a:r>
            <a:r>
              <a:rPr lang="en-US" i="1" dirty="0">
                <a:sym typeface="+mn-ea"/>
              </a:rPr>
              <a:t>International Journal of Law and Technology</a:t>
            </a:r>
            <a:r>
              <a:rPr lang="en-US" dirty="0">
                <a:sym typeface="+mn-ea"/>
              </a:rPr>
              <a:t>, vol. 12, no. 3, pp. 45-58, Sep. 2022.</a:t>
            </a:r>
            <a:endParaRPr lang="en-US" dirty="0"/>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sym typeface="+mn-ea"/>
              </a:rPr>
              <a:t>[2] M. R. Gupta and A. Singh, "Incentive mechanisms for online marketplace service provider onboarding," </a:t>
            </a:r>
            <a:r>
              <a:rPr lang="en-US" i="1" dirty="0">
                <a:sym typeface="+mn-ea"/>
              </a:rPr>
              <a:t>IEEE Transactions on Engineering Management</a:t>
            </a:r>
            <a:r>
              <a:rPr lang="en-US" dirty="0">
                <a:sym typeface="+mn-ea"/>
              </a:rPr>
              <a:t>, vol. 67, no. 1, pp. 112-123, Feb. 2020.</a:t>
            </a:r>
            <a:endParaRPr lang="en-US" dirty="0"/>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sym typeface="+mn-ea"/>
              </a:rPr>
              <a:t>3] A. Das and R. Kumar, "Designing reputation systems for multi-sided digital marketplaces," </a:t>
            </a:r>
            <a:r>
              <a:rPr lang="en-US" i="1" dirty="0">
                <a:sym typeface="+mn-ea"/>
              </a:rPr>
              <a:t>Proceedings of the 18th ACM Conference on Electronic Commerce</a:t>
            </a:r>
            <a:r>
              <a:rPr lang="en-US" dirty="0">
                <a:sym typeface="+mn-ea"/>
              </a:rPr>
              <a:t>, pp. 189-198, June 2017.</a:t>
            </a:r>
            <a:endParaRPr lang="en-US" dirty="0">
              <a:latin typeface="Cambria" panose="02040503050406030204" pitchFamily="18" charset="0"/>
              <a:ea typeface="Cambria" panose="02040503050406030204" pitchFamily="18" charset="0"/>
            </a:endParaRPr>
          </a:p>
          <a:p>
            <a:pPr marL="609600" lvl="1" indent="0">
              <a:spcBef>
                <a:spcPts val="0"/>
              </a:spcBef>
              <a:buNone/>
            </a:pPr>
            <a:endParaRPr lang="en-US" alt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75*314"/>
  <p:tag name="TABLE_ENDDRAG_RECT" val="44*159*875*314"/>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1192</Words>
  <Application>Microsoft Office PowerPoint</Application>
  <PresentationFormat>Widescreen</PresentationFormat>
  <Paragraphs>143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Verdana</vt:lpstr>
      <vt:lpstr>Wingdings</vt:lpstr>
      <vt:lpstr>Bioinformatics</vt:lpstr>
      <vt:lpstr>Incentives based Design for onboarding Legal Service Providers such as Advocates, Arbitrators, Mediators, Notaries, Document Writers, etc on eMarket Place for extending Legal Services to Citizens in India </vt:lpstr>
      <vt:lpstr>PS</vt:lpstr>
      <vt:lpstr>Problem Statement</vt:lpstr>
      <vt:lpstr>Objectives</vt:lpstr>
      <vt:lpstr>Background and Related work for title Selection</vt:lpstr>
      <vt:lpstr> Analysis of Problem Statement </vt:lpstr>
      <vt:lpstr> Innovation &amp; Novel Contribution </vt:lpstr>
      <vt:lpstr>Analysis of Problem Statement</vt:lpstr>
      <vt:lpstr>Analysis of Problem Statement </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mohith gowda j p</cp:lastModifiedBy>
  <cp:revision>51</cp:revision>
  <dcterms:created xsi:type="dcterms:W3CDTF">2025-08-12T15:37:00Z</dcterms:created>
  <dcterms:modified xsi:type="dcterms:W3CDTF">2025-08-13T04:28:01Z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09398149FF464B579A4AAB4D90E25FE9_12</vt:lpwstr>
  </property>
  <property fmtid="{D5CDD505-2E9C-101B-9397-08002B2CF9AE}" pid="3" name="KSOProductBuildVer">
    <vt:lpwstr>1033-12.2.0.21931</vt:lpwstr>
  </property>
</Properties>
</file>
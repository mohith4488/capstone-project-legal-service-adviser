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80" r:id="rId5"/>
    <p:sldId id="269" r:id="rId6"/>
    <p:sldId id="257" r:id="rId7"/>
    <p:sldId id="281" r:id="rId8"/>
    <p:sldId id="288" r:id="rId9"/>
    <p:sldId id="278" r:id="rId10"/>
    <p:sldId id="274" r:id="rId11"/>
    <p:sldId id="282" r:id="rId12"/>
    <p:sldId id="277" r:id="rId13"/>
    <p:sldId id="285" r:id="rId14"/>
    <p:sldId id="287" r:id="rId15"/>
    <p:sldId id="273" r:id="rId16"/>
    <p:sldId id="270" r:id="rId17"/>
    <p:sldId id="290" r:id="rId18"/>
    <p:sldId id="294" r:id="rId19"/>
    <p:sldId id="293" r:id="rId20"/>
    <p:sldId id="291" r:id="rId21"/>
    <p:sldId id="292" r:id="rId22"/>
    <p:sldId id="265" r:id="rId23"/>
    <p:sldId id="289" r:id="rId24"/>
    <p:sldId id="266"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825" autoAdjust="0"/>
    <p:restoredTop sz="93030" autoAdjust="0"/>
  </p:normalViewPr>
  <p:slideViewPr>
    <p:cSldViewPr snapToGrid="0">
      <p:cViewPr varScale="1">
        <p:scale>
          <a:sx n="52" d="100"/>
          <a:sy n="52" d="100"/>
        </p:scale>
        <p:origin x="552" y="48"/>
      </p:cViewPr>
      <p:guideLst/>
    </p:cSldViewPr>
  </p:slideViewPr>
  <p:outlineViewPr>
    <p:cViewPr>
      <p:scale>
        <a:sx n="33" d="100"/>
        <a:sy n="33" d="100"/>
      </p:scale>
      <p:origin x="0" y="-680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104140" y="707390"/>
            <a:ext cx="12426950" cy="133731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panose="020B0604030504040204"/>
              <a:buNone/>
            </a:pPr>
            <a:r>
              <a:rPr lang="en-US" sz="3200" dirty="0">
                <a:latin typeface="Cambria" panose="02040503050406030204" pitchFamily="18" charset="0"/>
                <a:ea typeface="Cambria" panose="02040503050406030204" pitchFamily="18" charset="0"/>
                <a:sym typeface="+mn-ea"/>
              </a:rPr>
              <a:t>Incentives based Design for onboarding Legal Service Providers on </a:t>
            </a:r>
            <a:r>
              <a:rPr lang="en-US" sz="3200" dirty="0" err="1">
                <a:latin typeface="Cambria" panose="02040503050406030204" pitchFamily="18" charset="0"/>
                <a:ea typeface="Cambria" panose="02040503050406030204" pitchFamily="18" charset="0"/>
                <a:sym typeface="+mn-ea"/>
              </a:rPr>
              <a:t>eMarket</a:t>
            </a:r>
            <a:r>
              <a:rPr lang="en-US" sz="3200" dirty="0">
                <a:latin typeface="Cambria" panose="02040503050406030204" pitchFamily="18" charset="0"/>
                <a:ea typeface="Cambria" panose="02040503050406030204" pitchFamily="18" charset="0"/>
                <a:sym typeface="+mn-ea"/>
              </a:rPr>
              <a:t> Place </a:t>
            </a:r>
            <a:endParaRPr lang="en-US" sz="3200" dirty="0">
              <a:solidFill>
                <a:schemeClr val="tx1"/>
              </a:solidFill>
              <a:latin typeface="Cambria" panose="02040503050406030204" pitchFamily="18" charset="0"/>
              <a:ea typeface="Cambria" panose="02040503050406030204" pitchFamily="18" charset="0"/>
              <a:sym typeface="+mn-ea"/>
            </a:endParaRPr>
          </a:p>
        </p:txBody>
      </p:sp>
      <p:sp>
        <p:nvSpPr>
          <p:cNvPr id="88" name="Google Shape;88;p13"/>
          <p:cNvSpPr txBox="1">
            <a:spLocks noGrp="1"/>
          </p:cNvSpPr>
          <p:nvPr>
            <p:ph type="subTitle" idx="1"/>
          </p:nvPr>
        </p:nvSpPr>
        <p:spPr>
          <a:xfrm>
            <a:off x="0" y="2331258"/>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a:t>
            </a:r>
            <a:r>
              <a:rPr lang="en-IN" altLang="en-GB" sz="1800" dirty="0">
                <a:latin typeface="Cambria" panose="02040503050406030204" pitchFamily="18" charset="0"/>
                <a:ea typeface="Cambria" panose="02040503050406030204" pitchFamily="18" charset="0"/>
              </a:rPr>
              <a:t> CSE_166</a:t>
            </a:r>
            <a:endParaRPr lang="en-IN" altLang="en-GB" sz="1800" dirty="0">
              <a:latin typeface="Cambria" panose="02040503050406030204" pitchFamily="18" charset="0"/>
              <a:ea typeface="Cambria" panose="02040503050406030204" pitchFamily="18" charset="0"/>
            </a:endParaRPr>
          </a:p>
        </p:txBody>
      </p:sp>
      <p:sp>
        <p:nvSpPr>
          <p:cNvPr id="90" name="Google Shape;90;p13"/>
          <p:cNvSpPr txBox="1"/>
          <p:nvPr/>
        </p:nvSpPr>
        <p:spPr>
          <a:xfrm>
            <a:off x="7631931" y="2593275"/>
            <a:ext cx="5514300" cy="2020560"/>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lang="en-GB" sz="1800" dirty="0">
              <a:latin typeface="Cambria" panose="02040503050406030204" pitchFamily="18" charset="0"/>
              <a:ea typeface="Cambria" panose="02040503050406030204" pitchFamily="18" charset="0"/>
            </a:endParaRPr>
          </a:p>
          <a:p>
            <a:pPr marL="0" marR="0" lvl="0" indent="0" algn="l" rtl="0">
              <a:spcBef>
                <a:spcPts val="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Dr.</a:t>
            </a:r>
            <a:r>
              <a:rPr lang="en-IN" alt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B Chandrashekar</a:t>
            </a:r>
            <a:endParaRPr sz="1800" b="1"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a:t>
            </a:r>
            <a:r>
              <a:rPr lang="en-IN" altLang="en-GB" sz="1800" b="1" i="0" u="none" strike="noStrike" cap="none">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5</a:t>
            </a:r>
            <a:endParaRPr lang="en-IN" alt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IN" alt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B.Tech </a:t>
            </a:r>
            <a:r>
              <a:rPr lang="en-US" altLang="en-GB"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Computer Science and Engineering</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IN" sz="1800" b="1" dirty="0">
                <a:latin typeface="Cambria" panose="02040503050406030204" pitchFamily="18" charset="0"/>
                <a:ea typeface="Cambria" panose="02040503050406030204" pitchFamily="18" charset="0"/>
              </a:rPr>
              <a:t>Dr. Asif Mohammed </a:t>
            </a:r>
            <a:endParaRPr lang="en-IN" sz="1800" b="1" dirty="0">
              <a:latin typeface="Cambria" panose="02040503050406030204" pitchFamily="18" charset="0"/>
              <a:ea typeface="Cambria" panose="02040503050406030204" pitchFamily="18" charset="0"/>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 </a:t>
            </a:r>
            <a:r>
              <a:rPr lang="en-IN" sz="1800" b="1" dirty="0">
                <a:latin typeface="Cambria" panose="02040503050406030204" pitchFamily="18" charset="0"/>
                <a:ea typeface="Cambria" panose="02040503050406030204" pitchFamily="18" charset="0"/>
              </a:rPr>
              <a:t>Dr. Jayavadivel Ravi </a:t>
            </a:r>
            <a:endParaRPr lang="en-IN" sz="1800" b="1" dirty="0">
              <a:latin typeface="Cambria" panose="02040503050406030204" pitchFamily="18" charset="0"/>
              <a:ea typeface="Cambria" panose="02040503050406030204" pitchFamily="18" charset="0"/>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2" name="Table 1"/>
          <p:cNvGraphicFramePr>
            <a:graphicFrameLocks noGrp="1"/>
          </p:cNvGraphicFramePr>
          <p:nvPr/>
        </p:nvGraphicFramePr>
        <p:xfrm>
          <a:off x="90255" y="2662497"/>
          <a:ext cx="6645360" cy="1761224"/>
        </p:xfrm>
        <a:graphic>
          <a:graphicData uri="http://schemas.openxmlformats.org/drawingml/2006/table">
            <a:tbl>
              <a:tblPr firstRow="1" bandRow="1">
                <a:tableStyleId>{5C22544A-7EE6-4342-B048-85BDC9FD1C3A}</a:tableStyleId>
              </a:tblPr>
              <a:tblGrid>
                <a:gridCol w="3016734"/>
                <a:gridCol w="3628626"/>
              </a:tblGrid>
              <a:tr h="440306">
                <a:tc>
                  <a:txBody>
                    <a:bodyPr/>
                    <a:lstStyle/>
                    <a:p>
                      <a:pPr algn="l" fontAlgn="b">
                        <a:buNone/>
                      </a:pPr>
                      <a:r>
                        <a:rPr lang="en-IN" sz="2000" u="none" strike="noStrike" dirty="0">
                          <a:solidFill>
                            <a:schemeClr val="accent1"/>
                          </a:solidFill>
                          <a:effectLst/>
                          <a:latin typeface="Bookman Old Style" panose="02050604050505020204" pitchFamily="18" charset="0"/>
                        </a:rPr>
                        <a:t>Roll Number </a:t>
                      </a:r>
                      <a:endParaRPr lang="en-IN" sz="2000" b="1" i="0" u="none" strike="noStrike" dirty="0">
                        <a:solidFill>
                          <a:schemeClr val="accent1"/>
                        </a:solidFill>
                        <a:effectLst/>
                        <a:latin typeface="Bookman Old Style" panose="02050604050505020204" pitchFamily="18" charset="0"/>
                      </a:endParaRPr>
                    </a:p>
                  </a:txBody>
                  <a:tcPr marL="6350" marR="6350" marT="6350" marB="0" anchor="b">
                    <a:solidFill>
                      <a:schemeClr val="bg1"/>
                    </a:solidFill>
                  </a:tcPr>
                </a:tc>
                <a:tc>
                  <a:txBody>
                    <a:bodyPr/>
                    <a:lstStyle/>
                    <a:p>
                      <a:pPr algn="l" fontAlgn="b">
                        <a:buNone/>
                      </a:pPr>
                      <a:r>
                        <a:rPr lang="en-IN" sz="2000" u="none" strike="noStrike" dirty="0">
                          <a:solidFill>
                            <a:schemeClr val="accent1"/>
                          </a:solidFill>
                          <a:effectLst/>
                          <a:latin typeface="Bookman Old Style" panose="02050604050505020204" pitchFamily="18" charset="0"/>
                        </a:rPr>
                        <a:t>Name</a:t>
                      </a:r>
                      <a:endParaRPr lang="en-IN" sz="2000" b="1" i="0" u="none" strike="noStrike" dirty="0">
                        <a:solidFill>
                          <a:schemeClr val="accent1"/>
                        </a:solidFill>
                        <a:effectLst/>
                        <a:latin typeface="Bookman Old Style" panose="02050604050505020204" pitchFamily="18" charset="0"/>
                      </a:endParaRPr>
                    </a:p>
                  </a:txBody>
                  <a:tcPr marL="6350" marR="6350" marT="6350" marB="0" anchor="b">
                    <a:solidFill>
                      <a:schemeClr val="bg1"/>
                    </a:solidFill>
                  </a:tcPr>
                </a:tc>
              </a:tr>
              <a:tr h="440306">
                <a:tc>
                  <a:txBody>
                    <a:bodyPr/>
                    <a:lstStyle/>
                    <a:p>
                      <a:pPr algn="l" fontAlgn="b">
                        <a:buNone/>
                      </a:pPr>
                      <a:r>
                        <a:rPr lang="en-IN" sz="2000" u="none" strike="noStrike" dirty="0">
                          <a:effectLst/>
                          <a:latin typeface="Bookman Old Style" panose="02050604050505020204" pitchFamily="18" charset="0"/>
                        </a:rPr>
                        <a:t>20221CSE0363</a:t>
                      </a:r>
                      <a:endParaRPr lang="en-IN" sz="2000" b="0" i="0" u="none" strike="noStrike" dirty="0">
                        <a:solidFill>
                          <a:srgbClr val="000000"/>
                        </a:solidFill>
                        <a:effectLst/>
                        <a:latin typeface="Bookman Old Style" panose="02050604050505020204" pitchFamily="18" charset="0"/>
                      </a:endParaRPr>
                    </a:p>
                  </a:txBody>
                  <a:tcPr marL="6350" marR="6350" marT="6350" marB="0" anchor="b">
                    <a:solidFill>
                      <a:schemeClr val="bg1"/>
                    </a:solidFill>
                  </a:tcPr>
                </a:tc>
                <a:tc>
                  <a:txBody>
                    <a:bodyPr/>
                    <a:lstStyle/>
                    <a:p>
                      <a:pPr algn="l" fontAlgn="b">
                        <a:buNone/>
                      </a:pPr>
                      <a:r>
                        <a:rPr lang="en-IN" sz="2000" u="none" strike="noStrike" dirty="0">
                          <a:effectLst/>
                          <a:latin typeface="Bookman Old Style" panose="02050604050505020204" pitchFamily="18" charset="0"/>
                        </a:rPr>
                        <a:t>YASHAVANTH K S</a:t>
                      </a:r>
                      <a:endParaRPr lang="en-IN" sz="2000" b="0" i="0" u="none" strike="noStrike" dirty="0">
                        <a:solidFill>
                          <a:srgbClr val="000000"/>
                        </a:solidFill>
                        <a:effectLst/>
                        <a:latin typeface="Bookman Old Style" panose="02050604050505020204" pitchFamily="18" charset="0"/>
                      </a:endParaRPr>
                    </a:p>
                  </a:txBody>
                  <a:tcPr marL="6350" marR="6350" marT="6350" marB="0" anchor="b">
                    <a:solidFill>
                      <a:schemeClr val="bg1"/>
                    </a:solidFill>
                  </a:tcPr>
                </a:tc>
              </a:tr>
              <a:tr h="440306">
                <a:tc>
                  <a:txBody>
                    <a:bodyPr/>
                    <a:lstStyle/>
                    <a:p>
                      <a:pPr algn="l" fontAlgn="b">
                        <a:buNone/>
                      </a:pPr>
                      <a:r>
                        <a:rPr lang="en-IN" sz="2000" u="none" strike="noStrike" dirty="0">
                          <a:effectLst/>
                          <a:latin typeface="Bookman Old Style" panose="02050604050505020204" pitchFamily="18" charset="0"/>
                        </a:rPr>
                        <a:t>20221CSE0325</a:t>
                      </a:r>
                      <a:endParaRPr lang="en-IN" sz="2000" b="0" i="0" u="none" strike="noStrike" dirty="0">
                        <a:solidFill>
                          <a:srgbClr val="000000"/>
                        </a:solidFill>
                        <a:effectLst/>
                        <a:latin typeface="Bookman Old Style" panose="02050604050505020204" pitchFamily="18" charset="0"/>
                      </a:endParaRPr>
                    </a:p>
                  </a:txBody>
                  <a:tcPr marL="6350" marR="6350" marT="6350" marB="0" anchor="b">
                    <a:solidFill>
                      <a:schemeClr val="bg1"/>
                    </a:solidFill>
                  </a:tcPr>
                </a:tc>
                <a:tc>
                  <a:txBody>
                    <a:bodyPr/>
                    <a:lstStyle/>
                    <a:p>
                      <a:pPr algn="l" fontAlgn="b">
                        <a:buNone/>
                      </a:pPr>
                      <a:r>
                        <a:rPr lang="en-IN" sz="2000" u="none" strike="noStrike" dirty="0">
                          <a:effectLst/>
                          <a:latin typeface="Bookman Old Style" panose="02050604050505020204" pitchFamily="18" charset="0"/>
                        </a:rPr>
                        <a:t>LANCHAN J</a:t>
                      </a:r>
                      <a:endParaRPr lang="en-IN" sz="2000" b="0" i="0" u="none" strike="noStrike" dirty="0">
                        <a:solidFill>
                          <a:srgbClr val="000000"/>
                        </a:solidFill>
                        <a:effectLst/>
                        <a:latin typeface="Bookman Old Style" panose="02050604050505020204" pitchFamily="18" charset="0"/>
                      </a:endParaRPr>
                    </a:p>
                  </a:txBody>
                  <a:tcPr marL="6350" marR="6350" marT="6350" marB="0" anchor="b">
                    <a:solidFill>
                      <a:schemeClr val="bg1"/>
                    </a:solidFill>
                  </a:tcPr>
                </a:tc>
              </a:tr>
              <a:tr h="440306">
                <a:tc>
                  <a:txBody>
                    <a:bodyPr/>
                    <a:lstStyle/>
                    <a:p>
                      <a:pPr algn="l" fontAlgn="b">
                        <a:buNone/>
                      </a:pPr>
                      <a:r>
                        <a:rPr lang="en-IN" sz="2000" u="none" strike="noStrike" dirty="0">
                          <a:effectLst/>
                          <a:latin typeface="Bookman Old Style" panose="02050604050505020204" pitchFamily="18" charset="0"/>
                        </a:rPr>
                        <a:t>20221CSE0328</a:t>
                      </a:r>
                      <a:endParaRPr lang="en-IN" sz="2000" b="0" i="0" u="none" strike="noStrike" dirty="0">
                        <a:solidFill>
                          <a:srgbClr val="000000"/>
                        </a:solidFill>
                        <a:effectLst/>
                        <a:latin typeface="Bookman Old Style" panose="02050604050505020204" pitchFamily="18" charset="0"/>
                      </a:endParaRPr>
                    </a:p>
                  </a:txBody>
                  <a:tcPr marL="6350" marR="6350" marT="6350" marB="0" anchor="b">
                    <a:solidFill>
                      <a:schemeClr val="bg1"/>
                    </a:solidFill>
                  </a:tcPr>
                </a:tc>
                <a:tc>
                  <a:txBody>
                    <a:bodyPr/>
                    <a:lstStyle/>
                    <a:p>
                      <a:pPr algn="l" fontAlgn="b">
                        <a:buNone/>
                      </a:pPr>
                      <a:r>
                        <a:rPr lang="en-IN" sz="2000" u="none" strike="noStrike" dirty="0">
                          <a:effectLst/>
                          <a:latin typeface="Bookman Old Style" panose="02050604050505020204" pitchFamily="18" charset="0"/>
                        </a:rPr>
                        <a:t>MOHITH GOWDA J P</a:t>
                      </a:r>
                      <a:endParaRPr lang="en-IN" sz="2000" b="0" i="0" u="none" strike="noStrike" dirty="0">
                        <a:solidFill>
                          <a:srgbClr val="000000"/>
                        </a:solidFill>
                        <a:effectLst/>
                        <a:latin typeface="Bookman Old Style" panose="02050604050505020204" pitchFamily="18" charset="0"/>
                      </a:endParaRPr>
                    </a:p>
                  </a:txBody>
                  <a:tcPr marL="6350" marR="6350" marT="6350" marB="0" anchor="b">
                    <a:solidFill>
                      <a:schemeClr val="bg1"/>
                    </a:solid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762000" y="274499"/>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sym typeface="+mn-ea"/>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495300" indent="-342900">
              <a:lnSpc>
                <a:spcPct val="150000"/>
              </a:lnSpc>
              <a:spcBef>
                <a:spcPts val="0"/>
              </a:spcBef>
              <a:buFont typeface="Arial" panose="020B0604020202020204" pitchFamily="34" charset="0"/>
              <a:buChar char="•"/>
            </a:pPr>
            <a:r>
              <a:rPr lang="en-US" sz="1800" b="1" dirty="0">
                <a:latin typeface="Cambria" panose="02040503050406030204" pitchFamily="18" charset="0"/>
                <a:ea typeface="Cambria" panose="02040503050406030204" pitchFamily="18" charset="0"/>
                <a:sym typeface="+mn-ea"/>
              </a:rPr>
              <a:t>Problem Statement</a:t>
            </a:r>
            <a:endParaRPr lang="en-US" sz="1800" b="1" dirty="0">
              <a:latin typeface="Cambria" panose="02040503050406030204" pitchFamily="18" charset="0"/>
              <a:ea typeface="Cambria" panose="02040503050406030204" pitchFamily="18" charset="0"/>
              <a:sym typeface="+mn-ea"/>
            </a:endParaRPr>
          </a:p>
          <a:p>
            <a:pPr marL="495300" indent="-342900">
              <a:lnSpc>
                <a:spcPct val="150000"/>
              </a:lnSpc>
              <a:spcBef>
                <a:spcPts val="0"/>
              </a:spcBef>
              <a:buFont typeface="Arial" panose="020B0604020202020204" pitchFamily="34" charset="0"/>
              <a:buChar char="•"/>
            </a:pPr>
            <a:r>
              <a:rPr lang="en-US" sz="1800" b="1" dirty="0">
                <a:latin typeface="Cambria" panose="02040503050406030204" pitchFamily="18" charset="0"/>
                <a:ea typeface="Cambria" panose="02040503050406030204" pitchFamily="18" charset="0"/>
              </a:rPr>
              <a:t>Abstract</a:t>
            </a:r>
            <a:endParaRPr lang="en-US" sz="1800" b="1" dirty="0">
              <a:latin typeface="Cambria" panose="02040503050406030204" pitchFamily="18" charset="0"/>
              <a:ea typeface="Cambria" panose="02040503050406030204" pitchFamily="18" charset="0"/>
            </a:endParaRPr>
          </a:p>
          <a:p>
            <a:pPr marL="495300" indent="-342900">
              <a:lnSpc>
                <a:spcPct val="150000"/>
              </a:lnSpc>
              <a:spcBef>
                <a:spcPts val="0"/>
              </a:spcBef>
              <a:buFont typeface="Arial" panose="020B0604020202020204" pitchFamily="34" charset="0"/>
              <a:buChar char="•"/>
            </a:pPr>
            <a:r>
              <a:rPr lang="en-US" sz="1800" b="1" dirty="0">
                <a:latin typeface="Cambria" panose="02040503050406030204" pitchFamily="18" charset="0"/>
                <a:ea typeface="Cambria" panose="02040503050406030204" pitchFamily="18" charset="0"/>
              </a:rPr>
              <a:t>Literature Survey</a:t>
            </a:r>
            <a:endParaRPr lang="en-US" sz="1800" b="1" dirty="0">
              <a:latin typeface="Cambria" panose="02040503050406030204" pitchFamily="18" charset="0"/>
              <a:ea typeface="Cambria" panose="02040503050406030204" pitchFamily="18" charset="0"/>
            </a:endParaRPr>
          </a:p>
          <a:p>
            <a:pPr marL="495300" indent="-342900">
              <a:lnSpc>
                <a:spcPct val="150000"/>
              </a:lnSpc>
              <a:spcBef>
                <a:spcPts val="0"/>
              </a:spcBef>
              <a:buFont typeface="Arial" panose="020B0604020202020204" pitchFamily="34" charset="0"/>
              <a:buChar char="•"/>
            </a:pPr>
            <a:r>
              <a:rPr lang="en-US" sz="1800" b="1" dirty="0">
                <a:latin typeface="Cambria" panose="02040503050406030204" pitchFamily="18" charset="0"/>
                <a:ea typeface="Cambria" panose="02040503050406030204" pitchFamily="18" charset="0"/>
                <a:sym typeface="+mn-ea"/>
              </a:rPr>
              <a:t>Objectives</a:t>
            </a:r>
            <a:endParaRPr lang="en-US" sz="1800" b="1" dirty="0">
              <a:latin typeface="Cambria" panose="02040503050406030204" pitchFamily="18" charset="0"/>
              <a:ea typeface="Cambria" panose="02040503050406030204" pitchFamily="18" charset="0"/>
            </a:endParaRPr>
          </a:p>
          <a:p>
            <a:pPr marL="495300" lvl="0" indent="-342900">
              <a:lnSpc>
                <a:spcPct val="150000"/>
              </a:lnSpc>
              <a:spcBef>
                <a:spcPts val="0"/>
              </a:spcBef>
              <a:buFont typeface="Arial" panose="020B0604020202020204" pitchFamily="34" charset="0"/>
              <a:buChar char="•"/>
            </a:pPr>
            <a:r>
              <a:rPr lang="en-US" sz="1800" b="1" dirty="0">
                <a:latin typeface="Cambria" panose="02040503050406030204" pitchFamily="18" charset="0"/>
                <a:ea typeface="Cambria" panose="02040503050406030204" pitchFamily="18" charset="0"/>
              </a:rPr>
              <a:t>Existing Methods and Drawbacks</a:t>
            </a:r>
            <a:endParaRPr lang="en-US" sz="1800" b="1" dirty="0">
              <a:latin typeface="Cambria" panose="02040503050406030204" pitchFamily="18" charset="0"/>
              <a:ea typeface="Cambria" panose="02040503050406030204" pitchFamily="18" charset="0"/>
            </a:endParaRPr>
          </a:p>
          <a:p>
            <a:pPr marL="495300" lvl="0" indent="-342900">
              <a:lnSpc>
                <a:spcPct val="150000"/>
              </a:lnSpc>
              <a:spcBef>
                <a:spcPts val="0"/>
              </a:spcBef>
              <a:buFont typeface="Arial" panose="020B0604020202020204" pitchFamily="34" charset="0"/>
              <a:buChar char="•"/>
            </a:pPr>
            <a:r>
              <a:rPr lang="en-US" sz="1800" b="1" dirty="0">
                <a:latin typeface="Cambria" panose="02040503050406030204" pitchFamily="18" charset="0"/>
                <a:ea typeface="Cambria" panose="02040503050406030204" pitchFamily="18" charset="0"/>
              </a:rPr>
              <a:t>Proposed Methods and Feasibility Study</a:t>
            </a:r>
            <a:endParaRPr lang="en-US" sz="1800" b="1" dirty="0">
              <a:latin typeface="Cambria" panose="02040503050406030204" pitchFamily="18" charset="0"/>
              <a:ea typeface="Cambria" panose="02040503050406030204" pitchFamily="18" charset="0"/>
            </a:endParaRPr>
          </a:p>
          <a:p>
            <a:pPr marL="495300" lvl="0" indent="-342900">
              <a:lnSpc>
                <a:spcPct val="150000"/>
              </a:lnSpc>
              <a:spcBef>
                <a:spcPts val="0"/>
              </a:spcBef>
              <a:buFont typeface="Arial" panose="020B0604020202020204" pitchFamily="34" charset="0"/>
              <a:buChar char="•"/>
            </a:pPr>
            <a:r>
              <a:rPr lang="en-US" sz="1800" b="1" dirty="0">
                <a:latin typeface="Cambria" panose="02040503050406030204" pitchFamily="18" charset="0"/>
                <a:ea typeface="Cambria" panose="02040503050406030204" pitchFamily="18" charset="0"/>
              </a:rPr>
              <a:t>Architecture </a:t>
            </a:r>
            <a:r>
              <a:rPr lang="en-US" sz="1800" b="1" dirty="0" err="1">
                <a:latin typeface="Cambria" panose="02040503050406030204" pitchFamily="18" charset="0"/>
                <a:ea typeface="Cambria" panose="02040503050406030204" pitchFamily="18" charset="0"/>
              </a:rPr>
              <a:t>Diaagram</a:t>
            </a:r>
            <a:endParaRPr lang="en-US" sz="1800" b="1" dirty="0">
              <a:latin typeface="Cambria" panose="02040503050406030204" pitchFamily="18" charset="0"/>
              <a:ea typeface="Cambria" panose="02040503050406030204" pitchFamily="18" charset="0"/>
            </a:endParaRPr>
          </a:p>
          <a:p>
            <a:pPr marL="495300" lvl="0" indent="-342900">
              <a:lnSpc>
                <a:spcPct val="150000"/>
              </a:lnSpc>
              <a:spcBef>
                <a:spcPts val="0"/>
              </a:spcBef>
              <a:buFont typeface="Arial" panose="020B0604020202020204" pitchFamily="34" charset="0"/>
              <a:buChar char="•"/>
            </a:pPr>
            <a:r>
              <a:rPr lang="en-US" sz="1800" b="1" dirty="0">
                <a:latin typeface="Cambria" panose="02040503050406030204" pitchFamily="18" charset="0"/>
                <a:ea typeface="Cambria" panose="02040503050406030204" pitchFamily="18" charset="0"/>
              </a:rPr>
              <a:t>Modules</a:t>
            </a:r>
            <a:endParaRPr lang="en-US" sz="1800" b="1" dirty="0">
              <a:latin typeface="Cambria" panose="02040503050406030204" pitchFamily="18" charset="0"/>
              <a:ea typeface="Cambria" panose="02040503050406030204" pitchFamily="18" charset="0"/>
            </a:endParaRPr>
          </a:p>
          <a:p>
            <a:pPr marL="495300" lvl="0" indent="-342900" rtl="0">
              <a:lnSpc>
                <a:spcPct val="150000"/>
              </a:lnSpc>
              <a:spcBef>
                <a:spcPts val="0"/>
              </a:spcBef>
              <a:spcAft>
                <a:spcPts val="0"/>
              </a:spcAft>
              <a:buClr>
                <a:schemeClr val="dk1"/>
              </a:buClr>
              <a:buSzPts val="2400"/>
              <a:buFont typeface="Arial" panose="020B0604020202020204" pitchFamily="34" charset="0"/>
              <a:buChar char="•"/>
            </a:pPr>
            <a:r>
              <a:rPr lang="en-US" sz="1800" b="1" dirty="0">
                <a:latin typeface="Cambria" panose="02040503050406030204" pitchFamily="18" charset="0"/>
                <a:ea typeface="Cambria" panose="02040503050406030204" pitchFamily="18" charset="0"/>
                <a:sym typeface="+mn-ea"/>
              </a:rPr>
              <a:t>Timeline of the Project</a:t>
            </a:r>
            <a:endParaRPr lang="en-US" sz="1800" b="1" dirty="0">
              <a:latin typeface="Cambria" panose="02040503050406030204" pitchFamily="18" charset="0"/>
              <a:ea typeface="Cambria" panose="02040503050406030204" pitchFamily="18" charset="0"/>
              <a:sym typeface="+mn-ea"/>
            </a:endParaRPr>
          </a:p>
          <a:p>
            <a:pPr marL="495300" lvl="0" indent="-342900" rtl="0">
              <a:lnSpc>
                <a:spcPct val="150000"/>
              </a:lnSpc>
              <a:spcBef>
                <a:spcPts val="0"/>
              </a:spcBef>
              <a:spcAft>
                <a:spcPts val="0"/>
              </a:spcAft>
              <a:buClr>
                <a:schemeClr val="dk1"/>
              </a:buClr>
              <a:buSzPts val="2400"/>
              <a:buFont typeface="Arial" panose="020B0604020202020204" pitchFamily="34" charset="0"/>
              <a:buChar char="•"/>
            </a:pPr>
            <a:r>
              <a:rPr lang="en-IN" altLang="en-US" sz="1800" b="1" dirty="0">
                <a:latin typeface="Cambria" panose="02040503050406030204" pitchFamily="18" charset="0"/>
                <a:ea typeface="Cambria" panose="02040503050406030204" pitchFamily="18" charset="0"/>
                <a:sym typeface="+mn-ea"/>
              </a:rPr>
              <a:t>Results</a:t>
            </a:r>
            <a:endParaRPr lang="en-US" sz="1800" b="1" dirty="0">
              <a:latin typeface="Cambria" panose="02040503050406030204" pitchFamily="18" charset="0"/>
              <a:ea typeface="Cambria" panose="02040503050406030204" pitchFamily="18" charset="0"/>
            </a:endParaRPr>
          </a:p>
          <a:p>
            <a:pPr marL="495300" lvl="0" indent="-342900" rtl="0">
              <a:lnSpc>
                <a:spcPct val="150000"/>
              </a:lnSpc>
              <a:spcBef>
                <a:spcPts val="0"/>
              </a:spcBef>
              <a:spcAft>
                <a:spcPts val="0"/>
              </a:spcAft>
              <a:buClr>
                <a:schemeClr val="dk1"/>
              </a:buClr>
              <a:buSzPts val="2400"/>
              <a:buFont typeface="Arial" panose="020B0604020202020204" pitchFamily="34" charset="0"/>
              <a:buChar char="•"/>
            </a:pPr>
            <a:r>
              <a:rPr lang="en-US" sz="1800" b="1" dirty="0">
                <a:latin typeface="Cambria" panose="02040503050406030204" pitchFamily="18" charset="0"/>
                <a:ea typeface="Cambria" panose="02040503050406030204" pitchFamily="18" charset="0"/>
                <a:sym typeface="+mn-ea"/>
              </a:rPr>
              <a:t>References</a:t>
            </a:r>
            <a:endParaRPr lang="en-US" sz="1800" b="1" dirty="0">
              <a:latin typeface="Cambria" panose="02040503050406030204" pitchFamily="18" charset="0"/>
              <a:ea typeface="Cambria" panose="02040503050406030204" pitchFamily="18" charset="0"/>
            </a:endParaRPr>
          </a:p>
          <a:p>
            <a:pPr marL="76200" indent="0">
              <a:lnSpc>
                <a:spcPct val="150000"/>
              </a:lnSpc>
              <a:buNone/>
            </a:pPr>
            <a:endParaRPr lang="en-IN" altLang="en-US" sz="1800" b="1"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762000" y="274499"/>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dirty="0">
                <a:latin typeface="Cambria" panose="02040503050406030204" pitchFamily="18" charset="0"/>
                <a:ea typeface="Cambria" panose="02040503050406030204" pitchFamily="18" charset="0"/>
                <a:sym typeface="+mn-ea"/>
              </a:rPr>
              <a:t>Problem Statement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US" b="1" dirty="0">
                <a:latin typeface="Cambria" panose="02040503050406030204" pitchFamily="18" charset="0"/>
                <a:ea typeface="Cambria" panose="02040503050406030204" pitchFamily="18" charset="0"/>
              </a:rPr>
              <a:t>Organization: </a:t>
            </a:r>
            <a:r>
              <a:rPr lang="en-US" sz="2200" dirty="0">
                <a:latin typeface="Cambria" panose="02040503050406030204" pitchFamily="18" charset="0"/>
                <a:ea typeface="Cambria" panose="02040503050406030204" pitchFamily="18" charset="0"/>
              </a:rPr>
              <a:t>Ministry of Law and Justice</a:t>
            </a:r>
            <a:endParaRPr lang="en-US" sz="2200" dirty="0">
              <a:latin typeface="Cambria" panose="02040503050406030204" pitchFamily="18" charset="0"/>
              <a:ea typeface="Cambria" panose="02040503050406030204" pitchFamily="18" charset="0"/>
            </a:endParaRPr>
          </a:p>
          <a:p>
            <a:pPr marL="76200" indent="0">
              <a:buNone/>
            </a:pPr>
            <a:r>
              <a:rPr lang="en-US" b="1" dirty="0">
                <a:latin typeface="Cambria" panose="02040503050406030204" pitchFamily="18" charset="0"/>
                <a:ea typeface="Cambria" panose="02040503050406030204" pitchFamily="18" charset="0"/>
              </a:rPr>
              <a:t>Category : </a:t>
            </a:r>
            <a:r>
              <a:rPr lang="en-US" dirty="0">
                <a:latin typeface="Cambria" panose="02040503050406030204" pitchFamily="18" charset="0"/>
                <a:ea typeface="Cambria" panose="02040503050406030204" pitchFamily="18" charset="0"/>
              </a:rPr>
              <a:t>Software</a:t>
            </a:r>
            <a:endParaRPr lang="en-US" dirty="0">
              <a:latin typeface="Cambria" panose="02040503050406030204" pitchFamily="18" charset="0"/>
              <a:ea typeface="Cambria" panose="02040503050406030204" pitchFamily="18" charset="0"/>
            </a:endParaRPr>
          </a:p>
          <a:p>
            <a:pPr marL="76200" indent="0">
              <a:buNone/>
            </a:pPr>
            <a:r>
              <a:rPr lang="en-US" b="1" dirty="0">
                <a:latin typeface="Cambria" panose="02040503050406030204" pitchFamily="18" charset="0"/>
                <a:ea typeface="Cambria" panose="02040503050406030204" pitchFamily="18" charset="0"/>
              </a:rPr>
              <a:t>Problem Description:</a:t>
            </a:r>
            <a:endParaRPr lang="en-US" b="1" dirty="0">
              <a:latin typeface="Cambria" panose="02040503050406030204" pitchFamily="18" charset="0"/>
              <a:ea typeface="Cambria" panose="02040503050406030204" pitchFamily="18" charset="0"/>
            </a:endParaRPr>
          </a:p>
          <a:p>
            <a:pPr marL="76200" indent="0">
              <a:buNone/>
            </a:pPr>
            <a:r>
              <a:rPr lang="en-US" altLang="en-US" dirty="0">
                <a:latin typeface="Cambria" panose="02040503050406030204" pitchFamily="18" charset="0"/>
                <a:ea typeface="Cambria" panose="02040503050406030204" pitchFamily="18" charset="0"/>
              </a:rPr>
              <a:t>India’s legal service sector is fragmented, with advocates, mediators, notaries, and others operating independently without a centralized platform. This creates challenges in transparency, accessibility, quality assurance, and affordability for citizens. The objective is to design an incentivized eMarketplace that onboards legal service providers, motivates them through rewards and gamification, ensures quality and accountability, and enables citizens from all socio-economic backgrounds to easily find and access suitable legal services. Integration with legal institutions such as courts, bar associations, and legal aid clinics will further enhance trust and service reach.</a:t>
            </a:r>
            <a:endParaRPr lang="en-US" altLang="en-US"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US" dirty="0">
                <a:latin typeface="Cambria" panose="02040503050406030204" pitchFamily="18" charset="0"/>
                <a:ea typeface="Cambria" panose="02040503050406030204" pitchFamily="18" charset="0"/>
              </a:rPr>
              <a:t>Abstract</a:t>
            </a:r>
            <a:endParaRPr lang="en-US"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518983" y="1050324"/>
            <a:ext cx="11442357" cy="5226908"/>
          </a:xfrm>
          <a:prstGeom prst="rect">
            <a:avLst/>
          </a:prstGeom>
          <a:noFill/>
          <a:ln>
            <a:noFill/>
          </a:ln>
        </p:spPr>
        <p:txBody>
          <a:bodyPr spcFirstLastPara="1" wrap="square" lIns="91425" tIns="45700" rIns="91425" bIns="45700" anchor="t" anchorCtr="0">
            <a:normAutofit lnSpcReduction="10000"/>
          </a:bodyPr>
          <a:lstStyle/>
          <a:p>
            <a:pPr marL="76200" indent="0">
              <a:buNone/>
            </a:pPr>
            <a:r>
              <a:rPr lang="en-US" dirty="0">
                <a:latin typeface="Cambria" panose="02040503050406030204" pitchFamily="18" charset="0"/>
                <a:ea typeface="Cambria" panose="02040503050406030204" pitchFamily="18" charset="0"/>
                <a:cs typeface="Calibri" panose="020F0502020204030204" pitchFamily="34" charset="0"/>
              </a:rPr>
              <a:t>Access to legal services is challenged in India as a result of lack of transparency, affordability, and difficulty in finding the right professionals available to citizens. This project displays a way to centralize a new type of e-Marketplace that connects citizens to legal service providers that are verified. Legal professionals could include advocates, arbitrators, mediators, notaries, and document writers situated in any city in India. The platform also developed pricing structures for aggregated services that include an incentive program for participation including financial rewards if completed on time, gamified features like badges and leaderboards, discounted platform time for multi-year use and verified services. Providers participate most in an institutional manner through Bar Councils, arbitration boards, and notary authorities. Our system uses an intelligent algorithm that can match all clients with the best legal professional based on case type, area of expertise, and availability. This system is intended to be inclusive, affordable, and available to all citizens, regardless of socio-economic background. This will provide transparency, efficiency, and accountability in the legal profession.</a:t>
            </a:r>
            <a:endParaRPr dirty="0">
              <a:latin typeface="Cambria" panose="02040503050406030204" pitchFamily="18" charset="0"/>
              <a:ea typeface="Cambria" panose="02040503050406030204" pitchFamily="18" charset="0"/>
              <a:cs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US" dirty="0">
                <a:latin typeface="Cambria" panose="02040503050406030204" pitchFamily="18" charset="0"/>
                <a:ea typeface="Cambria" panose="02040503050406030204" pitchFamily="18" charset="0"/>
              </a:rPr>
              <a:t>Literature Survey</a:t>
            </a:r>
            <a:endParaRPr lang="en-US"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518983" y="1050324"/>
            <a:ext cx="11442357" cy="5226908"/>
          </a:xfrm>
          <a:prstGeom prst="rect">
            <a:avLst/>
          </a:prstGeom>
          <a:noFill/>
          <a:ln>
            <a:noFill/>
          </a:ln>
        </p:spPr>
        <p:txBody>
          <a:bodyPr spcFirstLastPara="1" wrap="square" lIns="91425" tIns="45700" rIns="91425" bIns="45700" anchor="t" anchorCtr="0">
            <a:normAutofit lnSpcReduction="10000"/>
          </a:bodyPr>
          <a:lstStyle/>
          <a:p>
            <a:pPr marL="76200" indent="0">
              <a:lnSpc>
                <a:spcPct val="90000"/>
              </a:lnSpc>
              <a:spcBef>
                <a:spcPts val="0"/>
              </a:spcBef>
              <a:buNone/>
            </a:pPr>
            <a:r>
              <a:rPr lang="en-US" altLang="en-US" dirty="0">
                <a:latin typeface="Cambria" panose="02040503050406030204" pitchFamily="18" charset="0"/>
                <a:ea typeface="Calibri" panose="020F0502020204030204" pitchFamily="34" charset="0"/>
                <a:cs typeface="Cambria" panose="02040503050406030204" pitchFamily="18" charset="0"/>
              </a:rPr>
              <a:t>The literature review highlights that access to legal services in India remains limited due to economic, geographical, informational, and cultural barriers, causing a significant portion of the population—especially rural and marginalized groups—to remain disconnected from justice systems. Although government-led digital initiatives such as e-Courts, Tele-Law, and ODR frameworks represent progress, they lack comprehensive integration, incentive structures, and widespread adoption. Global platforms like LegalZoom and Rocket Lawyer demonstrate useful models, yet require major contextual adaptations to suit India’s diverse socio-legal landscape. Research on digital marketplaces shows that incentive mechanisms—such as badges, ratings, leaderboards, and structured rewards—improve participation and accountability, though they must be carefully designed to protect legal ethics and service quality. Overall, the literature reveals clear gaps, including lack of verified legal networks, limited pricing transparency, insufficient incentive frameworks, and inadequate coverage for underserved communities. These gaps indicate the necessity for a unified, incentivized digital legal marketplace tailored to Indian needs, ensuring trust, accessibility, transparency, and improved justice delivery.</a:t>
            </a:r>
            <a:endParaRPr lang="en-US" altLang="en-US" dirty="0">
              <a:latin typeface="Cambria" panose="02040503050406030204" pitchFamily="18" charset="0"/>
              <a:ea typeface="Calibri" panose="020F0502020204030204" pitchFamily="34" charset="0"/>
              <a:cs typeface="Cambria" panose="0204050305040603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US" dirty="0">
                <a:latin typeface="Cambria" panose="02040503050406030204" pitchFamily="18" charset="0"/>
                <a:ea typeface="Cambria" panose="02040503050406030204" pitchFamily="18" charset="0"/>
              </a:rPr>
              <a:t>Literature Survey</a:t>
            </a:r>
            <a:endParaRPr lang="en-US"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518983" y="1050324"/>
            <a:ext cx="11442357" cy="5226908"/>
          </a:xfrm>
          <a:prstGeom prst="rect">
            <a:avLst/>
          </a:prstGeom>
          <a:noFill/>
          <a:ln>
            <a:noFill/>
          </a:ln>
        </p:spPr>
        <p:txBody>
          <a:bodyPr spcFirstLastPara="1" wrap="square" lIns="91425" tIns="45700" rIns="91425" bIns="45700" anchor="t" anchorCtr="0">
            <a:normAutofit/>
          </a:bodyPr>
          <a:lstStyle/>
          <a:p>
            <a:endParaRPr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3" name="Table 2"/>
          <p:cNvGraphicFramePr/>
          <p:nvPr>
            <p:custDataLst>
              <p:tags r:id="rId1"/>
            </p:custDataLst>
          </p:nvPr>
        </p:nvGraphicFramePr>
        <p:xfrm>
          <a:off x="436880" y="1050290"/>
          <a:ext cx="11524615" cy="5226685"/>
        </p:xfrm>
        <a:graphic>
          <a:graphicData uri="http://schemas.openxmlformats.org/drawingml/2006/table">
            <a:tbl>
              <a:tblPr/>
              <a:tblGrid>
                <a:gridCol w="578485"/>
                <a:gridCol w="3301365"/>
                <a:gridCol w="1539240"/>
                <a:gridCol w="2200275"/>
                <a:gridCol w="1839595"/>
                <a:gridCol w="2065655"/>
              </a:tblGrid>
              <a:tr h="290195">
                <a:tc>
                  <a:txBody>
                    <a:bodyPr/>
                    <a:p>
                      <a:pPr marL="0" indent="0">
                        <a:spcBef>
                          <a:spcPct val="0"/>
                        </a:spcBef>
                        <a:spcAft>
                          <a:spcPct val="0"/>
                        </a:spcAft>
                      </a:pPr>
                      <a:r>
                        <a:rPr lang="en-US" altLang="zh-CN" sz="1200" b="1">
                          <a:solidFill>
                            <a:srgbClr val="FFFFFF"/>
                          </a:solidFill>
                          <a:latin typeface="Times New Roman" panose="02020603050405020304"/>
                          <a:ea typeface="SimSun" panose="02010600030101010101" pitchFamily="2" charset="-122"/>
                        </a:rPr>
                        <a:t>S#</a:t>
                      </a:r>
                      <a:endParaRPr lang="en-US" altLang="zh-CN" sz="1200" b="1">
                        <a:solidFill>
                          <a:srgbClr val="FFFFFF"/>
                        </a:solidFill>
                        <a:latin typeface="Times New Roman" panose="02020603050405020304"/>
                        <a:ea typeface="SimSun" panose="02010600030101010101" pitchFamily="2" charset="-122"/>
                      </a:endParaRPr>
                    </a:p>
                  </a:txBody>
                  <a:tcPr marL="68580" marR="68580" marT="0" marB="0" anchor="t" anchorCtr="0">
                    <a:lnL w="635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4472C4"/>
                    </a:solidFill>
                  </a:tcPr>
                </a:tc>
                <a:tc>
                  <a:txBody>
                    <a:bodyPr/>
                    <a:p>
                      <a:pPr marL="0" indent="0">
                        <a:spcBef>
                          <a:spcPct val="0"/>
                        </a:spcBef>
                        <a:spcAft>
                          <a:spcPct val="0"/>
                        </a:spcAft>
                      </a:pPr>
                      <a:r>
                        <a:rPr lang="en-US" altLang="zh-CN" sz="1200" b="1">
                          <a:solidFill>
                            <a:srgbClr val="FFFFFF"/>
                          </a:solidFill>
                          <a:latin typeface="Times New Roman" panose="02020603050405020304"/>
                          <a:ea typeface="SimSun" panose="02010600030101010101" pitchFamily="2" charset="-122"/>
                        </a:rPr>
                        <a:t>Article Title, Published Year, Journal Name</a:t>
                      </a:r>
                      <a:endParaRPr lang="en-US" altLang="zh-CN" sz="1200" b="1">
                        <a:solidFill>
                          <a:srgbClr val="FFFFFF"/>
                        </a:solidFill>
                        <a:latin typeface="Times New Roman" panose="02020603050405020304"/>
                        <a:ea typeface="SimSun"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4472C4"/>
                    </a:solidFill>
                  </a:tcPr>
                </a:tc>
                <a:tc>
                  <a:txBody>
                    <a:bodyPr/>
                    <a:p>
                      <a:pPr marL="0" indent="0">
                        <a:spcBef>
                          <a:spcPct val="0"/>
                        </a:spcBef>
                        <a:spcAft>
                          <a:spcPct val="0"/>
                        </a:spcAft>
                      </a:pPr>
                      <a:r>
                        <a:rPr lang="en-US" altLang="zh-CN" sz="1200" b="1">
                          <a:solidFill>
                            <a:srgbClr val="FFFFFF"/>
                          </a:solidFill>
                          <a:latin typeface="Times New Roman" panose="02020603050405020304"/>
                          <a:ea typeface="SimSun" panose="02010600030101010101" pitchFamily="2" charset="-122"/>
                        </a:rPr>
                        <a:t>Methods</a:t>
                      </a:r>
                      <a:endParaRPr lang="en-US" altLang="zh-CN" sz="1200" b="1">
                        <a:solidFill>
                          <a:srgbClr val="FFFFFF"/>
                        </a:solidFill>
                        <a:latin typeface="Times New Roman" panose="02020603050405020304"/>
                        <a:ea typeface="SimSun"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4472C4"/>
                      </a:solidFill>
                      <a:prstDash val="solid"/>
                      <a:headEnd type="none" w="med" len="med"/>
                      <a:tailEnd type="none" w="med" len="med"/>
                    </a:lnT>
                    <a:lnB w="6350" cap="flat" cmpd="sng">
                      <a:solidFill>
                        <a:srgbClr val="4472C4"/>
                      </a:solidFill>
                      <a:prstDash val="solid"/>
                      <a:headEnd type="none" w="med" len="med"/>
                      <a:tailEnd type="none" w="med" len="med"/>
                    </a:lnB>
                    <a:solidFill>
                      <a:srgbClr val="4472C4"/>
                    </a:solidFill>
                  </a:tcPr>
                </a:tc>
                <a:tc>
                  <a:txBody>
                    <a:bodyPr/>
                    <a:p>
                      <a:pPr marL="0" indent="0">
                        <a:spcBef>
                          <a:spcPct val="0"/>
                        </a:spcBef>
                        <a:spcAft>
                          <a:spcPct val="0"/>
                        </a:spcAft>
                      </a:pPr>
                      <a:r>
                        <a:rPr lang="en-US" altLang="zh-CN" sz="1200" b="1">
                          <a:solidFill>
                            <a:srgbClr val="FFFFFF"/>
                          </a:solidFill>
                          <a:latin typeface="Times New Roman" panose="02020603050405020304"/>
                          <a:ea typeface="SimSun" panose="02010600030101010101" pitchFamily="2" charset="-122"/>
                        </a:rPr>
                        <a:t>Methods</a:t>
                      </a:r>
                      <a:endParaRPr lang="en-US" altLang="zh-CN" sz="1200" b="1">
                        <a:solidFill>
                          <a:srgbClr val="FFFFFF"/>
                        </a:solidFill>
                        <a:latin typeface="Times New Roman" panose="02020603050405020304"/>
                        <a:ea typeface="SimSun" panose="02010600030101010101" pitchFamily="2" charset="-122"/>
                      </a:endParaRPr>
                    </a:p>
                  </a:txBody>
                  <a:tcPr marL="68580" marR="68580" marT="0" marB="0" anchor="t" anchorCtr="0">
                    <a:lnL w="635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4472C4"/>
                    </a:solidFill>
                  </a:tcPr>
                </a:tc>
                <a:tc>
                  <a:txBody>
                    <a:bodyPr/>
                    <a:p>
                      <a:pPr marL="0" indent="0">
                        <a:spcBef>
                          <a:spcPct val="0"/>
                        </a:spcBef>
                        <a:spcAft>
                          <a:spcPct val="0"/>
                        </a:spcAft>
                      </a:pPr>
                      <a:r>
                        <a:rPr lang="en-US" altLang="zh-CN" sz="1200" b="1">
                          <a:solidFill>
                            <a:srgbClr val="FFFFFF"/>
                          </a:solidFill>
                          <a:latin typeface="Times New Roman" panose="02020603050405020304"/>
                          <a:ea typeface="SimSun" panose="02010600030101010101" pitchFamily="2" charset="-122"/>
                        </a:rPr>
                        <a:t>Merits</a:t>
                      </a:r>
                      <a:endParaRPr lang="en-US" altLang="zh-CN" sz="1200" b="1">
                        <a:solidFill>
                          <a:srgbClr val="FFFFFF"/>
                        </a:solidFill>
                        <a:latin typeface="Times New Roman" panose="02020603050405020304"/>
                        <a:ea typeface="SimSun"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4472C4"/>
                    </a:solidFill>
                  </a:tcPr>
                </a:tc>
                <a:tc>
                  <a:txBody>
                    <a:bodyPr/>
                    <a:p>
                      <a:pPr marL="0" indent="0">
                        <a:spcBef>
                          <a:spcPct val="0"/>
                        </a:spcBef>
                        <a:spcAft>
                          <a:spcPct val="0"/>
                        </a:spcAft>
                      </a:pPr>
                      <a:r>
                        <a:rPr lang="en-US" altLang="zh-CN" sz="1200" b="1">
                          <a:solidFill>
                            <a:srgbClr val="FFFFFF"/>
                          </a:solidFill>
                          <a:latin typeface="Times New Roman" panose="02020603050405020304"/>
                          <a:ea typeface="SimSun" panose="02010600030101010101" pitchFamily="2" charset="-122"/>
                        </a:rPr>
                        <a:t>Demerits</a:t>
                      </a:r>
                      <a:endParaRPr lang="en-US" altLang="zh-CN" sz="1200" b="1">
                        <a:solidFill>
                          <a:srgbClr val="FFFFFF"/>
                        </a:solidFill>
                        <a:latin typeface="Times New Roman" panose="02020603050405020304"/>
                        <a:ea typeface="SimSun"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4472C4"/>
                    </a:solidFill>
                  </a:tcPr>
                </a:tc>
              </a:tr>
              <a:tr h="1016635">
                <a:tc>
                  <a:txBody>
                    <a:bodyPr/>
                    <a:p>
                      <a:pPr marL="0" indent="0">
                        <a:spcBef>
                          <a:spcPct val="0"/>
                        </a:spcBef>
                        <a:spcAft>
                          <a:spcPct val="0"/>
                        </a:spcAft>
                      </a:pPr>
                      <a:r>
                        <a:rPr lang="en-US" altLang="zh-CN" sz="1200" b="1">
                          <a:solidFill>
                            <a:srgbClr val="000000"/>
                          </a:solidFill>
                          <a:latin typeface="Times New Roman" panose="02020603050405020304"/>
                          <a:ea typeface="SimSun" panose="02010600030101010101" pitchFamily="2" charset="-122"/>
                        </a:rPr>
                        <a:t>1</a:t>
                      </a:r>
                      <a:endParaRPr lang="en-US" altLang="zh-CN" sz="1200" b="1">
                        <a:solidFill>
                          <a:srgbClr val="000000"/>
                        </a:solidFill>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8EAADB"/>
                      </a:solidFill>
                      <a:prstDash val="solid"/>
                      <a:headEnd type="none" w="med" len="med"/>
                      <a:tailEnd type="none" w="med" len="med"/>
                    </a:lnB>
                    <a:solidFill>
                      <a:srgbClr val="D9E2F3"/>
                    </a:solidFill>
                  </a:tcPr>
                </a:tc>
                <a:tc>
                  <a:txBody>
                    <a:bodyPr/>
                    <a:p>
                      <a:pPr marL="0" indent="0">
                        <a:spcBef>
                          <a:spcPct val="0"/>
                        </a:spcBef>
                        <a:spcAft>
                          <a:spcPct val="0"/>
                        </a:spcAft>
                      </a:pPr>
                      <a:r>
                        <a:rPr lang="en-US" altLang="zh-CN" sz="1200" b="1">
                          <a:solidFill>
                            <a:srgbClr val="000000"/>
                          </a:solidFill>
                          <a:latin typeface="Times New Roman" panose="02020603050405020304"/>
                          <a:ea typeface="SimSun" panose="02010600030101010101" pitchFamily="2" charset="-122"/>
                        </a:rPr>
                        <a:t>Designing Digital Marketplaces for Legal Services: Incentive Mechanisms and Governance Models” (2020, </a:t>
                      </a:r>
                      <a:r>
                        <a:rPr lang="en-US" altLang="zh-CN" sz="1200" b="1" i="1">
                          <a:solidFill>
                            <a:srgbClr val="000000"/>
                          </a:solidFill>
                          <a:latin typeface="Times New Roman" panose="02020603050405020304"/>
                          <a:ea typeface="SimSun" panose="02010600030101010101" pitchFamily="2" charset="-122"/>
                        </a:rPr>
                        <a:t>Journal of Legal Technology and Research</a:t>
                      </a:r>
                      <a:r>
                        <a:rPr lang="en-US" altLang="zh-CN" sz="1200" b="1">
                          <a:solidFill>
                            <a:srgbClr val="000000"/>
                          </a:solidFill>
                          <a:latin typeface="Times New Roman" panose="02020603050405020304"/>
                          <a:ea typeface="SimSun" panose="02010600030101010101" pitchFamily="2" charset="-122"/>
                        </a:rPr>
                        <a:t>)</a:t>
                      </a:r>
                      <a:endParaRPr lang="en-US" altLang="zh-CN" sz="1200" b="1">
                        <a:solidFill>
                          <a:srgbClr val="000000"/>
                        </a:solidFill>
                        <a:latin typeface="Times New Roman" panose="02020603050405020304"/>
                        <a:ea typeface="SimSun" panose="02010600030101010101" pitchFamily="2" charset="-122"/>
                      </a:endParaRPr>
                    </a:p>
                    <a:p>
                      <a:pPr marL="0" indent="0">
                        <a:spcBef>
                          <a:spcPct val="0"/>
                        </a:spcBef>
                        <a:spcAft>
                          <a:spcPct val="0"/>
                        </a:spcAft>
                      </a:pPr>
                      <a:r>
                        <a:rPr lang="en-US" altLang="zh-CN" sz="1200">
                          <a:latin typeface="Times New Roman" panose="02020603050405020304"/>
                          <a:ea typeface="SimSun" panose="02010600030101010101" pitchFamily="2" charset="-122"/>
                        </a:rPr>
                        <a:t> </a:t>
                      </a:r>
                      <a:endParaRPr lang="en-US" altLang="zh-CN" sz="1200" b="1">
                        <a:solidFill>
                          <a:srgbClr val="000000"/>
                        </a:solidFill>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8EAADB"/>
                      </a:solidFill>
                      <a:prstDash val="solid"/>
                      <a:headEnd type="none" w="med" len="med"/>
                      <a:tailEnd type="none" w="med" len="med"/>
                    </a:lnB>
                    <a:solidFill>
                      <a:srgbClr val="D9E2F3"/>
                    </a:solidFill>
                  </a:tcPr>
                </a:tc>
                <a:tc>
                  <a:txBody>
                    <a:bodyPr/>
                    <a:p>
                      <a:pPr marL="0" indent="0">
                        <a:spcBef>
                          <a:spcPct val="0"/>
                        </a:spcBef>
                        <a:spcAft>
                          <a:spcPct val="0"/>
                        </a:spcAft>
                      </a:pPr>
                      <a:r>
                        <a:rPr lang="en-US" altLang="zh-CN" sz="1200">
                          <a:solidFill>
                            <a:srgbClr val="000000"/>
                          </a:solidFill>
                          <a:latin typeface="Times New Roman" panose="02020603050405020304"/>
                          <a:ea typeface="SimSun" panose="02010600030101010101" pitchFamily="2" charset="-122"/>
                        </a:rPr>
                        <a:t>Mixed-method approach (survey + game theory)</a:t>
                      </a:r>
                      <a:endParaRPr lang="en-US" altLang="zh-CN" sz="1200">
                        <a:solidFill>
                          <a:srgbClr val="000000"/>
                        </a:solidFill>
                        <a:latin typeface="Times New Roman" panose="02020603050405020304"/>
                        <a:ea typeface="SimSun" panose="02010600030101010101" pitchFamily="2" charset="-122"/>
                      </a:endParaRPr>
                    </a:p>
                    <a:p>
                      <a:pPr marL="0" indent="0">
                        <a:spcBef>
                          <a:spcPct val="0"/>
                        </a:spcBef>
                        <a:spcAft>
                          <a:spcPct val="0"/>
                        </a:spcAft>
                      </a:pPr>
                      <a:r>
                        <a:rPr lang="en-US" altLang="zh-CN" sz="1200">
                          <a:solidFill>
                            <a:srgbClr val="000000"/>
                          </a:solidFill>
                          <a:latin typeface="Times New Roman" panose="02020603050405020304"/>
                          <a:ea typeface="SimSun" panose="02010600030101010101" pitchFamily="2" charset="-122"/>
                        </a:rPr>
                        <a:t> </a:t>
                      </a:r>
                      <a:endParaRPr lang="en-US" altLang="zh-CN" sz="1200">
                        <a:solidFill>
                          <a:srgbClr val="000000"/>
                        </a:solidFill>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4472C4"/>
                      </a:solidFill>
                      <a:prstDash val="solid"/>
                      <a:headEnd type="none" w="med" len="med"/>
                      <a:tailEnd type="none" w="med" len="med"/>
                    </a:lnT>
                    <a:lnB w="6350" cap="flat" cmpd="sng">
                      <a:solidFill>
                        <a:srgbClr val="8EAADB"/>
                      </a:solidFill>
                      <a:prstDash val="solid"/>
                      <a:headEnd type="none" w="med" len="med"/>
                      <a:tailEnd type="none" w="med" len="med"/>
                    </a:lnB>
                    <a:solidFill>
                      <a:srgbClr val="D9E2F3"/>
                    </a:solidFill>
                  </a:tcPr>
                </a:tc>
                <a:tc>
                  <a:txBody>
                    <a:bodyPr/>
                    <a:p>
                      <a:pPr marL="0" indent="0">
                        <a:spcBef>
                          <a:spcPct val="0"/>
                        </a:spcBef>
                        <a:spcAft>
                          <a:spcPct val="0"/>
                        </a:spcAft>
                      </a:pPr>
                      <a:r>
                        <a:rPr lang="en-US" altLang="zh-CN" sz="1200">
                          <a:solidFill>
                            <a:srgbClr val="000000"/>
                          </a:solidFill>
                          <a:latin typeface="Times New Roman" panose="02020603050405020304"/>
                          <a:ea typeface="SimSun" panose="02010600030101010101" pitchFamily="2" charset="-122"/>
                        </a:rPr>
                        <a:t>Proposes an incentive-driven governance model for digital legal marketplaces using reward-based participation.</a:t>
                      </a:r>
                      <a:endParaRPr lang="en-US" altLang="zh-CN" sz="1200">
                        <a:solidFill>
                          <a:srgbClr val="000000"/>
                        </a:solidFill>
                        <a:latin typeface="Times New Roman" panose="02020603050405020304"/>
                        <a:ea typeface="SimSun" panose="02010600030101010101" pitchFamily="2" charset="-122"/>
                      </a:endParaRPr>
                    </a:p>
                    <a:p>
                      <a:pPr marL="0" indent="0">
                        <a:spcBef>
                          <a:spcPct val="0"/>
                        </a:spcBef>
                        <a:spcAft>
                          <a:spcPct val="0"/>
                        </a:spcAft>
                      </a:pPr>
                      <a:r>
                        <a:rPr lang="en-US" altLang="zh-CN" sz="1200">
                          <a:latin typeface="Times New Roman" panose="02020603050405020304"/>
                          <a:ea typeface="SimSun" panose="02010600030101010101" pitchFamily="2" charset="-122"/>
                        </a:rPr>
                        <a:t> </a:t>
                      </a:r>
                      <a:endParaRPr lang="en-US" altLang="zh-CN" sz="1200">
                        <a:solidFill>
                          <a:srgbClr val="000000"/>
                        </a:solidFill>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8EAADB"/>
                      </a:solidFill>
                      <a:prstDash val="solid"/>
                      <a:headEnd type="none" w="med" len="med"/>
                      <a:tailEnd type="none" w="med" len="med"/>
                    </a:lnB>
                    <a:solidFill>
                      <a:srgbClr val="D9E2F3"/>
                    </a:solidFill>
                  </a:tcPr>
                </a:tc>
                <a:tc>
                  <a:txBody>
                    <a:bodyPr/>
                    <a:p>
                      <a:pPr marL="0" indent="0">
                        <a:spcBef>
                          <a:spcPct val="0"/>
                        </a:spcBef>
                        <a:spcAft>
                          <a:spcPct val="0"/>
                        </a:spcAft>
                      </a:pPr>
                      <a:r>
                        <a:rPr lang="en-US" altLang="zh-CN" sz="1200">
                          <a:solidFill>
                            <a:srgbClr val="000000"/>
                          </a:solidFill>
                          <a:latin typeface="Times New Roman" panose="02020603050405020304"/>
                          <a:ea typeface="SimSun" panose="02010600030101010101" pitchFamily="2" charset="-122"/>
                        </a:rPr>
                        <a:t>Enhances participation of diverse legal professionals through structured incentive policies.</a:t>
                      </a:r>
                      <a:endParaRPr lang="en-US" altLang="zh-CN" sz="1200">
                        <a:solidFill>
                          <a:srgbClr val="000000"/>
                        </a:solidFill>
                        <a:latin typeface="Times New Roman" panose="02020603050405020304"/>
                        <a:ea typeface="SimSun" panose="02010600030101010101" pitchFamily="2" charset="-122"/>
                      </a:endParaRPr>
                    </a:p>
                    <a:p>
                      <a:pPr marL="0" indent="0">
                        <a:spcBef>
                          <a:spcPct val="0"/>
                        </a:spcBef>
                        <a:spcAft>
                          <a:spcPct val="0"/>
                        </a:spcAft>
                      </a:pPr>
                      <a:r>
                        <a:rPr lang="en-US" altLang="zh-CN" sz="1200">
                          <a:latin typeface="Times New Roman" panose="02020603050405020304"/>
                          <a:ea typeface="SimSun" panose="02010600030101010101" pitchFamily="2" charset="-122"/>
                        </a:rPr>
                        <a:t> </a:t>
                      </a:r>
                      <a:endParaRPr lang="en-US" altLang="zh-CN" sz="1200">
                        <a:solidFill>
                          <a:srgbClr val="000000"/>
                        </a:solidFill>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8EAADB"/>
                      </a:solidFill>
                      <a:prstDash val="solid"/>
                      <a:headEnd type="none" w="med" len="med"/>
                      <a:tailEnd type="none" w="med" len="med"/>
                    </a:lnB>
                    <a:solidFill>
                      <a:srgbClr val="D9E2F3"/>
                    </a:solidFill>
                  </a:tcPr>
                </a:tc>
                <a:tc>
                  <a:txBody>
                    <a:bodyPr/>
                    <a:p>
                      <a:pPr marL="0" indent="0">
                        <a:spcBef>
                          <a:spcPct val="0"/>
                        </a:spcBef>
                        <a:spcAft>
                          <a:spcPct val="0"/>
                        </a:spcAft>
                      </a:pPr>
                      <a:r>
                        <a:rPr lang="en-US" altLang="zh-CN" sz="1200">
                          <a:solidFill>
                            <a:srgbClr val="000000"/>
                          </a:solidFill>
                          <a:latin typeface="Times New Roman" panose="02020603050405020304"/>
                          <a:ea typeface="SimSun" panose="02010600030101010101" pitchFamily="2" charset="-122"/>
                        </a:rPr>
                        <a:t>Limited to developed countries’ market models; lacks adaptation for Indian regulatory setup.</a:t>
                      </a:r>
                      <a:endParaRPr lang="en-US" altLang="zh-CN" sz="1200">
                        <a:solidFill>
                          <a:srgbClr val="000000"/>
                        </a:solidFill>
                        <a:latin typeface="Times New Roman" panose="02020603050405020304"/>
                        <a:ea typeface="SimSun" panose="02010600030101010101" pitchFamily="2" charset="-122"/>
                      </a:endParaRPr>
                    </a:p>
                    <a:p>
                      <a:pPr marL="0" indent="0">
                        <a:spcBef>
                          <a:spcPct val="0"/>
                        </a:spcBef>
                        <a:spcAft>
                          <a:spcPct val="0"/>
                        </a:spcAft>
                      </a:pPr>
                      <a:r>
                        <a:rPr lang="en-US" altLang="zh-CN" sz="1200">
                          <a:latin typeface="Times New Roman" panose="02020603050405020304"/>
                          <a:ea typeface="SimSun" panose="02010600030101010101" pitchFamily="2" charset="-122"/>
                        </a:rPr>
                        <a:t> </a:t>
                      </a:r>
                      <a:endParaRPr lang="en-US" altLang="zh-CN" sz="1200">
                        <a:solidFill>
                          <a:srgbClr val="000000"/>
                        </a:solidFill>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8EAADB"/>
                      </a:solidFill>
                      <a:prstDash val="solid"/>
                      <a:headEnd type="none" w="med" len="med"/>
                      <a:tailEnd type="none" w="med" len="med"/>
                    </a:lnB>
                    <a:solidFill>
                      <a:srgbClr val="D9E2F3"/>
                    </a:solidFill>
                  </a:tcPr>
                </a:tc>
              </a:tr>
              <a:tr h="1016000">
                <a:tc>
                  <a:txBody>
                    <a:bodyPr/>
                    <a:p>
                      <a:pPr marL="0" indent="0">
                        <a:spcBef>
                          <a:spcPct val="0"/>
                        </a:spcBef>
                        <a:spcAft>
                          <a:spcPct val="0"/>
                        </a:spcAft>
                      </a:pPr>
                      <a:r>
                        <a:rPr lang="en-US" altLang="zh-CN" sz="1200" b="1">
                          <a:latin typeface="Times New Roman" panose="02020603050405020304"/>
                          <a:ea typeface="SimSun" panose="02010600030101010101" pitchFamily="2" charset="-122"/>
                        </a:rPr>
                        <a:t>2</a:t>
                      </a:r>
                      <a:endParaRPr lang="en-US" altLang="zh-CN" sz="1200" b="1">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8EAADB"/>
                      </a:solidFill>
                      <a:prstDash val="solid"/>
                      <a:headEnd type="none" w="med" len="med"/>
                      <a:tailEnd type="none" w="med" len="med"/>
                    </a:lnT>
                    <a:lnB w="6350" cap="flat" cmpd="sng">
                      <a:solidFill>
                        <a:srgbClr val="8EAADB"/>
                      </a:solidFill>
                      <a:prstDash val="solid"/>
                      <a:headEnd type="none" w="med" len="med"/>
                      <a:tailEnd type="none" w="med" len="med"/>
                    </a:lnB>
                    <a:noFill/>
                  </a:tcPr>
                </a:tc>
                <a:tc>
                  <a:txBody>
                    <a:bodyPr/>
                    <a:p>
                      <a:pPr marL="0" indent="0">
                        <a:spcBef>
                          <a:spcPct val="0"/>
                        </a:spcBef>
                        <a:spcAft>
                          <a:spcPct val="0"/>
                        </a:spcAft>
                      </a:pPr>
                      <a:r>
                        <a:rPr lang="en-US" altLang="zh-CN" sz="1200" b="1">
                          <a:solidFill>
                            <a:srgbClr val="000000"/>
                          </a:solidFill>
                          <a:latin typeface="Times New Roman" panose="02020603050405020304"/>
                          <a:ea typeface="SimSun" panose="02010600030101010101" pitchFamily="2" charset="-122"/>
                        </a:rPr>
                        <a:t>“Blockchain-based Smart Contracts for Legal Service Marketplaces” (2021, </a:t>
                      </a:r>
                      <a:r>
                        <a:rPr lang="en-US" altLang="zh-CN" sz="1200" b="1" i="1">
                          <a:solidFill>
                            <a:srgbClr val="000000"/>
                          </a:solidFill>
                          <a:latin typeface="Times New Roman" panose="02020603050405020304"/>
                          <a:ea typeface="SimSun" panose="02010600030101010101" pitchFamily="2" charset="-122"/>
                        </a:rPr>
                        <a:t>IEEE Access</a:t>
                      </a:r>
                      <a:r>
                        <a:rPr lang="en-US" altLang="zh-CN" sz="1200" b="1">
                          <a:solidFill>
                            <a:srgbClr val="000000"/>
                          </a:solidFill>
                          <a:latin typeface="Times New Roman" panose="02020603050405020304"/>
                          <a:ea typeface="SimSun" panose="02010600030101010101" pitchFamily="2" charset="-122"/>
                        </a:rPr>
                        <a:t>)</a:t>
                      </a:r>
                      <a:endParaRPr lang="en-US" altLang="zh-CN" sz="1200" b="1">
                        <a:solidFill>
                          <a:srgbClr val="000000"/>
                        </a:solidFill>
                        <a:latin typeface="Times New Roman" panose="02020603050405020304"/>
                        <a:ea typeface="SimSun" panose="02010600030101010101" pitchFamily="2" charset="-122"/>
                      </a:endParaRPr>
                    </a:p>
                    <a:p>
                      <a:pPr marL="0" indent="0">
                        <a:spcBef>
                          <a:spcPct val="0"/>
                        </a:spcBef>
                        <a:spcAft>
                          <a:spcPct val="0"/>
                        </a:spcAft>
                      </a:pPr>
                      <a:r>
                        <a:rPr lang="en-US" altLang="zh-CN" sz="1200">
                          <a:latin typeface="Times New Roman" panose="02020603050405020304"/>
                          <a:ea typeface="SimSun" panose="02010600030101010101" pitchFamily="2" charset="-122"/>
                        </a:rPr>
                        <a:t> </a:t>
                      </a:r>
                      <a:endParaRPr lang="en-US" altLang="zh-CN" sz="1200" b="1">
                        <a:solidFill>
                          <a:srgbClr val="000000"/>
                        </a:solidFill>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8EAADB"/>
                      </a:solidFill>
                      <a:prstDash val="solid"/>
                      <a:headEnd type="none" w="med" len="med"/>
                      <a:tailEnd type="none" w="med" len="med"/>
                    </a:lnT>
                    <a:lnB w="6350" cap="flat" cmpd="sng">
                      <a:solidFill>
                        <a:srgbClr val="8EAADB"/>
                      </a:solidFill>
                      <a:prstDash val="solid"/>
                      <a:headEnd type="none" w="med" len="med"/>
                      <a:tailEnd type="none" w="med" len="med"/>
                    </a:lnB>
                    <a:noFill/>
                  </a:tcPr>
                </a:tc>
                <a:tc>
                  <a:txBody>
                    <a:bodyPr/>
                    <a:p>
                      <a:pPr marL="0" indent="0">
                        <a:spcBef>
                          <a:spcPct val="0"/>
                        </a:spcBef>
                        <a:spcAft>
                          <a:spcPct val="0"/>
                        </a:spcAft>
                      </a:pPr>
                      <a:r>
                        <a:rPr lang="en-US" altLang="zh-CN" sz="1200">
                          <a:solidFill>
                            <a:srgbClr val="000000"/>
                          </a:solidFill>
                          <a:latin typeface="Times New Roman" panose="02020603050405020304"/>
                          <a:ea typeface="SimSun" panose="02010600030101010101" pitchFamily="2" charset="-122"/>
                        </a:rPr>
                        <a:t>Blockchain integration &amp; smart contract automation</a:t>
                      </a:r>
                      <a:endParaRPr lang="en-US" altLang="zh-CN" sz="1200">
                        <a:solidFill>
                          <a:srgbClr val="000000"/>
                        </a:solidFill>
                        <a:latin typeface="Times New Roman" panose="02020603050405020304"/>
                        <a:ea typeface="SimSun" panose="02010600030101010101" pitchFamily="2" charset="-122"/>
                      </a:endParaRPr>
                    </a:p>
                    <a:p>
                      <a:pPr marL="0" indent="0">
                        <a:spcBef>
                          <a:spcPct val="0"/>
                        </a:spcBef>
                        <a:spcAft>
                          <a:spcPct val="0"/>
                        </a:spcAft>
                      </a:pPr>
                      <a:r>
                        <a:rPr lang="en-US" altLang="zh-CN" sz="1200">
                          <a:solidFill>
                            <a:srgbClr val="000000"/>
                          </a:solidFill>
                          <a:latin typeface="Times New Roman" panose="02020603050405020304"/>
                          <a:ea typeface="SimSun" panose="02010600030101010101" pitchFamily="2" charset="-122"/>
                        </a:rPr>
                        <a:t> </a:t>
                      </a:r>
                      <a:endParaRPr lang="en-US" altLang="zh-CN" sz="1200">
                        <a:solidFill>
                          <a:srgbClr val="000000"/>
                        </a:solidFill>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8EAADB"/>
                      </a:solidFill>
                      <a:prstDash val="solid"/>
                      <a:headEnd type="none" w="med" len="med"/>
                      <a:tailEnd type="none" w="med" len="med"/>
                    </a:lnT>
                    <a:lnB w="6350" cap="flat" cmpd="sng">
                      <a:solidFill>
                        <a:srgbClr val="8EAADB"/>
                      </a:solidFill>
                      <a:prstDash val="solid"/>
                      <a:headEnd type="none" w="med" len="med"/>
                      <a:tailEnd type="none" w="med" len="med"/>
                    </a:lnB>
                    <a:noFill/>
                  </a:tcPr>
                </a:tc>
                <a:tc>
                  <a:txBody>
                    <a:bodyPr/>
                    <a:p>
                      <a:pPr marL="0" indent="0">
                        <a:spcBef>
                          <a:spcPct val="0"/>
                        </a:spcBef>
                        <a:spcAft>
                          <a:spcPct val="0"/>
                        </a:spcAft>
                      </a:pPr>
                      <a:r>
                        <a:rPr lang="en-US" altLang="zh-CN" sz="1200">
                          <a:solidFill>
                            <a:srgbClr val="000000"/>
                          </a:solidFill>
                          <a:latin typeface="Times New Roman" panose="02020603050405020304"/>
                          <a:ea typeface="SimSun" panose="02010600030101010101" pitchFamily="2" charset="-122"/>
                        </a:rPr>
                        <a:t>Introduces blockchain to ensure transparency, authentication, and fair remuneration via automated smart contracts.</a:t>
                      </a:r>
                      <a:endParaRPr lang="en-US" altLang="zh-CN" sz="1200">
                        <a:solidFill>
                          <a:srgbClr val="000000"/>
                        </a:solidFill>
                        <a:latin typeface="Times New Roman" panose="02020603050405020304"/>
                        <a:ea typeface="SimSun" panose="02010600030101010101" pitchFamily="2" charset="-122"/>
                      </a:endParaRPr>
                    </a:p>
                    <a:p>
                      <a:pPr marL="0" indent="0">
                        <a:spcBef>
                          <a:spcPct val="0"/>
                        </a:spcBef>
                        <a:spcAft>
                          <a:spcPct val="0"/>
                        </a:spcAft>
                      </a:pPr>
                      <a:r>
                        <a:rPr lang="en-US" altLang="zh-CN" sz="1200">
                          <a:latin typeface="Times New Roman" panose="02020603050405020304"/>
                          <a:ea typeface="SimSun" panose="02010600030101010101" pitchFamily="2" charset="-122"/>
                        </a:rPr>
                        <a:t> </a:t>
                      </a:r>
                      <a:endParaRPr lang="en-US" altLang="zh-CN" sz="1200">
                        <a:solidFill>
                          <a:srgbClr val="000000"/>
                        </a:solidFill>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8EAADB"/>
                      </a:solidFill>
                      <a:prstDash val="solid"/>
                      <a:headEnd type="none" w="med" len="med"/>
                      <a:tailEnd type="none" w="med" len="med"/>
                    </a:lnT>
                    <a:lnB w="6350" cap="flat" cmpd="sng">
                      <a:solidFill>
                        <a:srgbClr val="8EAADB"/>
                      </a:solidFill>
                      <a:prstDash val="solid"/>
                      <a:headEnd type="none" w="med" len="med"/>
                      <a:tailEnd type="none" w="med" len="med"/>
                    </a:lnB>
                    <a:noFill/>
                  </a:tcPr>
                </a:tc>
                <a:tc>
                  <a:txBody>
                    <a:bodyPr/>
                    <a:p>
                      <a:pPr marL="0" indent="0">
                        <a:spcBef>
                          <a:spcPct val="0"/>
                        </a:spcBef>
                        <a:spcAft>
                          <a:spcPct val="0"/>
                        </a:spcAft>
                      </a:pPr>
                      <a:r>
                        <a:rPr lang="en-US" altLang="zh-CN" sz="1200">
                          <a:solidFill>
                            <a:srgbClr val="000000"/>
                          </a:solidFill>
                          <a:latin typeface="Times New Roman" panose="02020603050405020304"/>
                          <a:ea typeface="SimSun" panose="02010600030101010101" pitchFamily="2" charset="-122"/>
                        </a:rPr>
                        <a:t>Improves trust, reduces fraud, and ensures transparency in fee distribution.</a:t>
                      </a:r>
                      <a:endParaRPr lang="en-US" altLang="zh-CN" sz="1200">
                        <a:solidFill>
                          <a:srgbClr val="000000"/>
                        </a:solidFill>
                        <a:latin typeface="Times New Roman" panose="02020603050405020304"/>
                        <a:ea typeface="SimSun" panose="02010600030101010101" pitchFamily="2" charset="-122"/>
                      </a:endParaRPr>
                    </a:p>
                    <a:p>
                      <a:pPr marL="0" indent="0">
                        <a:spcBef>
                          <a:spcPct val="0"/>
                        </a:spcBef>
                        <a:spcAft>
                          <a:spcPct val="0"/>
                        </a:spcAft>
                      </a:pPr>
                      <a:r>
                        <a:rPr lang="en-US" altLang="zh-CN" sz="1200">
                          <a:latin typeface="Times New Roman" panose="02020603050405020304"/>
                          <a:ea typeface="SimSun" panose="02010600030101010101" pitchFamily="2" charset="-122"/>
                        </a:rPr>
                        <a:t> </a:t>
                      </a:r>
                      <a:endParaRPr lang="en-US" altLang="zh-CN" sz="1200">
                        <a:solidFill>
                          <a:srgbClr val="000000"/>
                        </a:solidFill>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8EAADB"/>
                      </a:solidFill>
                      <a:prstDash val="solid"/>
                      <a:headEnd type="none" w="med" len="med"/>
                      <a:tailEnd type="none" w="med" len="med"/>
                    </a:lnT>
                    <a:lnB w="6350" cap="flat" cmpd="sng">
                      <a:solidFill>
                        <a:srgbClr val="8EAADB"/>
                      </a:solidFill>
                      <a:prstDash val="solid"/>
                      <a:headEnd type="none" w="med" len="med"/>
                      <a:tailEnd type="none" w="med" len="med"/>
                    </a:lnB>
                    <a:noFill/>
                  </a:tcPr>
                </a:tc>
                <a:tc>
                  <a:txBody>
                    <a:bodyPr/>
                    <a:p>
                      <a:pPr marL="0" indent="0">
                        <a:spcBef>
                          <a:spcPct val="0"/>
                        </a:spcBef>
                        <a:spcAft>
                          <a:spcPct val="0"/>
                        </a:spcAft>
                      </a:pPr>
                      <a:r>
                        <a:rPr lang="en-US" altLang="zh-CN" sz="1200">
                          <a:solidFill>
                            <a:srgbClr val="000000"/>
                          </a:solidFill>
                          <a:latin typeface="Times New Roman" panose="02020603050405020304"/>
                          <a:ea typeface="SimSun" panose="02010600030101010101" pitchFamily="2" charset="-122"/>
                        </a:rPr>
                        <a:t>Implementation cost and technical literacy among legal practitioners remain barriers.</a:t>
                      </a:r>
                      <a:endParaRPr lang="en-US" altLang="zh-CN" sz="1200">
                        <a:solidFill>
                          <a:srgbClr val="000000"/>
                        </a:solidFill>
                        <a:latin typeface="Times New Roman" panose="02020603050405020304"/>
                        <a:ea typeface="SimSun" panose="02010600030101010101" pitchFamily="2" charset="-122"/>
                      </a:endParaRPr>
                    </a:p>
                    <a:p>
                      <a:pPr marL="0" indent="0">
                        <a:spcBef>
                          <a:spcPct val="0"/>
                        </a:spcBef>
                        <a:spcAft>
                          <a:spcPct val="0"/>
                        </a:spcAft>
                      </a:pPr>
                      <a:r>
                        <a:rPr lang="en-US" altLang="zh-CN" sz="1200">
                          <a:latin typeface="Times New Roman" panose="02020603050405020304"/>
                          <a:ea typeface="SimSun" panose="02010600030101010101" pitchFamily="2" charset="-122"/>
                        </a:rPr>
                        <a:t> </a:t>
                      </a:r>
                      <a:endParaRPr lang="en-US" altLang="zh-CN" sz="1200">
                        <a:solidFill>
                          <a:srgbClr val="000000"/>
                        </a:solidFill>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8EAADB"/>
                      </a:solidFill>
                      <a:prstDash val="solid"/>
                      <a:headEnd type="none" w="med" len="med"/>
                      <a:tailEnd type="none" w="med" len="med"/>
                    </a:lnT>
                    <a:lnB w="6350" cap="flat" cmpd="sng">
                      <a:solidFill>
                        <a:srgbClr val="8EAADB"/>
                      </a:solidFill>
                      <a:prstDash val="solid"/>
                      <a:headEnd type="none" w="med" len="med"/>
                      <a:tailEnd type="none" w="med" len="med"/>
                    </a:lnB>
                    <a:noFill/>
                  </a:tcPr>
                </a:tc>
              </a:tr>
              <a:tr h="1016000">
                <a:tc>
                  <a:txBody>
                    <a:bodyPr/>
                    <a:p>
                      <a:pPr marL="0" indent="0">
                        <a:spcBef>
                          <a:spcPct val="0"/>
                        </a:spcBef>
                        <a:spcAft>
                          <a:spcPct val="0"/>
                        </a:spcAft>
                      </a:pPr>
                      <a:r>
                        <a:rPr lang="en-US" altLang="zh-CN" sz="1200" b="1">
                          <a:solidFill>
                            <a:srgbClr val="000000"/>
                          </a:solidFill>
                          <a:latin typeface="Times New Roman" panose="02020603050405020304"/>
                          <a:ea typeface="SimSun" panose="02010600030101010101" pitchFamily="2" charset="-122"/>
                        </a:rPr>
                        <a:t>3</a:t>
                      </a:r>
                      <a:endParaRPr lang="en-US" altLang="zh-CN" sz="1200" b="1">
                        <a:solidFill>
                          <a:srgbClr val="000000"/>
                        </a:solidFill>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8EAADB"/>
                      </a:solidFill>
                      <a:prstDash val="solid"/>
                      <a:headEnd type="none" w="med" len="med"/>
                      <a:tailEnd type="none" w="med" len="med"/>
                    </a:lnT>
                    <a:lnB w="6350" cap="flat" cmpd="sng">
                      <a:solidFill>
                        <a:srgbClr val="8EAADB"/>
                      </a:solidFill>
                      <a:prstDash val="solid"/>
                      <a:headEnd type="none" w="med" len="med"/>
                      <a:tailEnd type="none" w="med" len="med"/>
                    </a:lnB>
                    <a:solidFill>
                      <a:srgbClr val="D9E2F3"/>
                    </a:solidFill>
                  </a:tcPr>
                </a:tc>
                <a:tc>
                  <a:txBody>
                    <a:bodyPr/>
                    <a:p>
                      <a:pPr marL="0" indent="0">
                        <a:spcBef>
                          <a:spcPct val="0"/>
                        </a:spcBef>
                        <a:spcAft>
                          <a:spcPct val="0"/>
                        </a:spcAft>
                      </a:pPr>
                      <a:r>
                        <a:rPr lang="en-US" altLang="zh-CN" sz="1200" b="1">
                          <a:solidFill>
                            <a:srgbClr val="000000"/>
                          </a:solidFill>
                          <a:latin typeface="Times New Roman" panose="02020603050405020304"/>
                          <a:ea typeface="SimSun" panose="02010600030101010101" pitchFamily="2" charset="-122"/>
                        </a:rPr>
                        <a:t>“Crowdsourcing Legal Expertise through Incentive Design in Online Platforms” (2019, </a:t>
                      </a:r>
                      <a:r>
                        <a:rPr lang="en-US" altLang="zh-CN" sz="1200" b="1" i="1">
                          <a:solidFill>
                            <a:srgbClr val="000000"/>
                          </a:solidFill>
                          <a:latin typeface="Times New Roman" panose="02020603050405020304"/>
                          <a:ea typeface="SimSun" panose="02010600030101010101" pitchFamily="2" charset="-122"/>
                        </a:rPr>
                        <a:t>International Journal of Information Management</a:t>
                      </a:r>
                      <a:r>
                        <a:rPr lang="en-US" altLang="zh-CN" sz="1200" b="1">
                          <a:solidFill>
                            <a:srgbClr val="000000"/>
                          </a:solidFill>
                          <a:latin typeface="Times New Roman" panose="02020603050405020304"/>
                          <a:ea typeface="SimSun" panose="02010600030101010101" pitchFamily="2" charset="-122"/>
                        </a:rPr>
                        <a:t>)</a:t>
                      </a:r>
                      <a:endParaRPr lang="en-US" altLang="zh-CN" sz="1200" b="1">
                        <a:solidFill>
                          <a:srgbClr val="000000"/>
                        </a:solidFill>
                        <a:latin typeface="Times New Roman" panose="02020603050405020304"/>
                        <a:ea typeface="SimSun" panose="02010600030101010101" pitchFamily="2" charset="-122"/>
                      </a:endParaRPr>
                    </a:p>
                    <a:p>
                      <a:pPr marL="0" indent="0">
                        <a:spcBef>
                          <a:spcPct val="0"/>
                        </a:spcBef>
                        <a:spcAft>
                          <a:spcPct val="0"/>
                        </a:spcAft>
                      </a:pPr>
                      <a:r>
                        <a:rPr lang="en-US" altLang="zh-CN" sz="1200">
                          <a:latin typeface="Times New Roman" panose="02020603050405020304"/>
                          <a:ea typeface="SimSun" panose="02010600030101010101" pitchFamily="2" charset="-122"/>
                        </a:rPr>
                        <a:t> </a:t>
                      </a:r>
                      <a:endParaRPr lang="en-US" altLang="zh-CN" sz="1200" b="1">
                        <a:solidFill>
                          <a:srgbClr val="000000"/>
                        </a:solidFill>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8EAADB"/>
                      </a:solidFill>
                      <a:prstDash val="solid"/>
                      <a:headEnd type="none" w="med" len="med"/>
                      <a:tailEnd type="none" w="med" len="med"/>
                    </a:lnT>
                    <a:lnB w="6350" cap="flat" cmpd="sng">
                      <a:solidFill>
                        <a:srgbClr val="8EAADB"/>
                      </a:solidFill>
                      <a:prstDash val="solid"/>
                      <a:headEnd type="none" w="med" len="med"/>
                      <a:tailEnd type="none" w="med" len="med"/>
                    </a:lnB>
                    <a:solidFill>
                      <a:srgbClr val="D9E2F3"/>
                    </a:solidFill>
                  </a:tcPr>
                </a:tc>
                <a:tc>
                  <a:txBody>
                    <a:bodyPr/>
                    <a:p>
                      <a:pPr marL="0" indent="0">
                        <a:spcBef>
                          <a:spcPct val="0"/>
                        </a:spcBef>
                        <a:spcAft>
                          <a:spcPct val="0"/>
                        </a:spcAft>
                      </a:pPr>
                      <a:r>
                        <a:rPr lang="en-US" altLang="zh-CN" sz="1200">
                          <a:solidFill>
                            <a:srgbClr val="000000"/>
                          </a:solidFill>
                          <a:latin typeface="Times New Roman" panose="02020603050405020304"/>
                          <a:ea typeface="SimSun" panose="02010600030101010101" pitchFamily="2" charset="-122"/>
                        </a:rPr>
                        <a:t>Econometric modelling &amp; incentive analysis</a:t>
                      </a:r>
                      <a:endParaRPr lang="en-US" altLang="zh-CN" sz="1200">
                        <a:solidFill>
                          <a:srgbClr val="000000"/>
                        </a:solidFill>
                        <a:latin typeface="Times New Roman" panose="02020603050405020304"/>
                        <a:ea typeface="SimSun" panose="02010600030101010101" pitchFamily="2" charset="-122"/>
                      </a:endParaRPr>
                    </a:p>
                    <a:p>
                      <a:pPr marL="0" indent="0">
                        <a:spcBef>
                          <a:spcPct val="0"/>
                        </a:spcBef>
                        <a:spcAft>
                          <a:spcPct val="0"/>
                        </a:spcAft>
                      </a:pPr>
                      <a:r>
                        <a:rPr lang="en-US" altLang="zh-CN" sz="1200">
                          <a:solidFill>
                            <a:srgbClr val="000000"/>
                          </a:solidFill>
                          <a:latin typeface="Times New Roman" panose="02020603050405020304"/>
                          <a:ea typeface="SimSun" panose="02010600030101010101" pitchFamily="2" charset="-122"/>
                        </a:rPr>
                        <a:t> </a:t>
                      </a:r>
                      <a:endParaRPr lang="en-US" altLang="zh-CN" sz="1200">
                        <a:solidFill>
                          <a:srgbClr val="000000"/>
                        </a:solidFill>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8EAADB"/>
                      </a:solidFill>
                      <a:prstDash val="solid"/>
                      <a:headEnd type="none" w="med" len="med"/>
                      <a:tailEnd type="none" w="med" len="med"/>
                    </a:lnT>
                    <a:lnB w="6350" cap="flat" cmpd="sng">
                      <a:solidFill>
                        <a:srgbClr val="8EAADB"/>
                      </a:solidFill>
                      <a:prstDash val="solid"/>
                      <a:headEnd type="none" w="med" len="med"/>
                      <a:tailEnd type="none" w="med" len="med"/>
                    </a:lnB>
                    <a:solidFill>
                      <a:srgbClr val="D9E2F3"/>
                    </a:solidFill>
                  </a:tcPr>
                </a:tc>
                <a:tc>
                  <a:txBody>
                    <a:bodyPr/>
                    <a:p>
                      <a:pPr marL="0" indent="0">
                        <a:spcBef>
                          <a:spcPct val="0"/>
                        </a:spcBef>
                        <a:spcAft>
                          <a:spcPct val="0"/>
                        </a:spcAft>
                      </a:pPr>
                      <a:r>
                        <a:rPr lang="en-US" altLang="zh-CN" sz="1200">
                          <a:solidFill>
                            <a:srgbClr val="000000"/>
                          </a:solidFill>
                          <a:latin typeface="Times New Roman" panose="02020603050405020304"/>
                          <a:ea typeface="SimSun" panose="02010600030101010101" pitchFamily="2" charset="-122"/>
                        </a:rPr>
                        <a:t>Studies reward mechanisms and peer reputation systems for motivating experts to participate in online legal platforms.</a:t>
                      </a:r>
                      <a:endParaRPr lang="en-US" altLang="zh-CN" sz="1200">
                        <a:solidFill>
                          <a:srgbClr val="000000"/>
                        </a:solidFill>
                        <a:latin typeface="Times New Roman" panose="02020603050405020304"/>
                        <a:ea typeface="SimSun" panose="02010600030101010101" pitchFamily="2" charset="-122"/>
                      </a:endParaRPr>
                    </a:p>
                    <a:p>
                      <a:pPr marL="0" indent="0">
                        <a:spcBef>
                          <a:spcPct val="0"/>
                        </a:spcBef>
                        <a:spcAft>
                          <a:spcPct val="0"/>
                        </a:spcAft>
                      </a:pPr>
                      <a:r>
                        <a:rPr lang="en-US" altLang="zh-CN" sz="1200">
                          <a:latin typeface="Times New Roman" panose="02020603050405020304"/>
                          <a:ea typeface="SimSun" panose="02010600030101010101" pitchFamily="2" charset="-122"/>
                        </a:rPr>
                        <a:t> </a:t>
                      </a:r>
                      <a:endParaRPr lang="en-US" altLang="zh-CN" sz="1200">
                        <a:solidFill>
                          <a:srgbClr val="000000"/>
                        </a:solidFill>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8EAADB"/>
                      </a:solidFill>
                      <a:prstDash val="solid"/>
                      <a:headEnd type="none" w="med" len="med"/>
                      <a:tailEnd type="none" w="med" len="med"/>
                    </a:lnT>
                    <a:lnB w="6350" cap="flat" cmpd="sng">
                      <a:solidFill>
                        <a:srgbClr val="8EAADB"/>
                      </a:solidFill>
                      <a:prstDash val="solid"/>
                      <a:headEnd type="none" w="med" len="med"/>
                      <a:tailEnd type="none" w="med" len="med"/>
                    </a:lnB>
                    <a:solidFill>
                      <a:srgbClr val="D9E2F3"/>
                    </a:solidFill>
                  </a:tcPr>
                </a:tc>
                <a:tc>
                  <a:txBody>
                    <a:bodyPr/>
                    <a:p>
                      <a:pPr marL="0" indent="0">
                        <a:spcBef>
                          <a:spcPct val="0"/>
                        </a:spcBef>
                        <a:spcAft>
                          <a:spcPct val="0"/>
                        </a:spcAft>
                      </a:pPr>
                      <a:r>
                        <a:rPr lang="en-US" altLang="zh-CN" sz="1200">
                          <a:solidFill>
                            <a:srgbClr val="000000"/>
                          </a:solidFill>
                          <a:latin typeface="Times New Roman" panose="02020603050405020304"/>
                          <a:ea typeface="SimSun" panose="02010600030101010101" pitchFamily="2" charset="-122"/>
                        </a:rPr>
                        <a:t>Shows that non-monetary incentives (ratings, visibility) significantly increase engagement.</a:t>
                      </a:r>
                      <a:endParaRPr lang="en-US" altLang="zh-CN" sz="1200">
                        <a:solidFill>
                          <a:srgbClr val="000000"/>
                        </a:solidFill>
                        <a:latin typeface="Times New Roman" panose="02020603050405020304"/>
                        <a:ea typeface="SimSun" panose="02010600030101010101" pitchFamily="2" charset="-122"/>
                      </a:endParaRPr>
                    </a:p>
                    <a:p>
                      <a:pPr marL="0" indent="0">
                        <a:spcBef>
                          <a:spcPct val="0"/>
                        </a:spcBef>
                        <a:spcAft>
                          <a:spcPct val="0"/>
                        </a:spcAft>
                      </a:pPr>
                      <a:r>
                        <a:rPr lang="en-US" altLang="zh-CN" sz="1200">
                          <a:latin typeface="Times New Roman" panose="02020603050405020304"/>
                          <a:ea typeface="SimSun" panose="02010600030101010101" pitchFamily="2" charset="-122"/>
                        </a:rPr>
                        <a:t> </a:t>
                      </a:r>
                      <a:endParaRPr lang="en-US" altLang="zh-CN" sz="1200">
                        <a:solidFill>
                          <a:srgbClr val="000000"/>
                        </a:solidFill>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8EAADB"/>
                      </a:solidFill>
                      <a:prstDash val="solid"/>
                      <a:headEnd type="none" w="med" len="med"/>
                      <a:tailEnd type="none" w="med" len="med"/>
                    </a:lnT>
                    <a:lnB w="6350" cap="flat" cmpd="sng">
                      <a:solidFill>
                        <a:srgbClr val="8EAADB"/>
                      </a:solidFill>
                      <a:prstDash val="solid"/>
                      <a:headEnd type="none" w="med" len="med"/>
                      <a:tailEnd type="none" w="med" len="med"/>
                    </a:lnB>
                    <a:solidFill>
                      <a:srgbClr val="D9E2F3"/>
                    </a:solidFill>
                  </a:tcPr>
                </a:tc>
                <a:tc>
                  <a:txBody>
                    <a:bodyPr/>
                    <a:p>
                      <a:pPr marL="0" indent="0">
                        <a:spcBef>
                          <a:spcPct val="0"/>
                        </a:spcBef>
                        <a:spcAft>
                          <a:spcPct val="0"/>
                        </a:spcAft>
                      </a:pPr>
                      <a:r>
                        <a:rPr lang="en-US" altLang="zh-CN" sz="1200">
                          <a:solidFill>
                            <a:srgbClr val="000000"/>
                          </a:solidFill>
                          <a:latin typeface="Times New Roman" panose="02020603050405020304"/>
                          <a:ea typeface="SimSun" panose="02010600030101010101" pitchFamily="2" charset="-122"/>
                        </a:rPr>
                        <a:t>Focuses more on generic expert platforms, not specific to legal practitioners.</a:t>
                      </a:r>
                      <a:endParaRPr lang="en-US" altLang="zh-CN" sz="1200">
                        <a:solidFill>
                          <a:srgbClr val="000000"/>
                        </a:solidFill>
                        <a:latin typeface="Times New Roman" panose="02020603050405020304"/>
                        <a:ea typeface="SimSun" panose="02010600030101010101" pitchFamily="2" charset="-122"/>
                      </a:endParaRPr>
                    </a:p>
                    <a:p>
                      <a:pPr marL="0" indent="0">
                        <a:spcBef>
                          <a:spcPct val="0"/>
                        </a:spcBef>
                        <a:spcAft>
                          <a:spcPct val="0"/>
                        </a:spcAft>
                      </a:pPr>
                      <a:r>
                        <a:rPr lang="en-US" altLang="zh-CN" sz="1200">
                          <a:latin typeface="Times New Roman" panose="02020603050405020304"/>
                          <a:ea typeface="SimSun" panose="02010600030101010101" pitchFamily="2" charset="-122"/>
                        </a:rPr>
                        <a:t> </a:t>
                      </a:r>
                      <a:endParaRPr lang="en-US" altLang="zh-CN" sz="1200">
                        <a:solidFill>
                          <a:srgbClr val="000000"/>
                        </a:solidFill>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8EAADB"/>
                      </a:solidFill>
                      <a:prstDash val="solid"/>
                      <a:headEnd type="none" w="med" len="med"/>
                      <a:tailEnd type="none" w="med" len="med"/>
                    </a:lnT>
                    <a:lnB w="6350" cap="flat" cmpd="sng">
                      <a:solidFill>
                        <a:srgbClr val="8EAADB"/>
                      </a:solidFill>
                      <a:prstDash val="solid"/>
                      <a:headEnd type="none" w="med" len="med"/>
                      <a:tailEnd type="none" w="med" len="med"/>
                    </a:lnB>
                    <a:solidFill>
                      <a:srgbClr val="D9E2F3"/>
                    </a:solidFill>
                  </a:tcPr>
                </a:tc>
              </a:tr>
              <a:tr h="1017270">
                <a:tc>
                  <a:txBody>
                    <a:bodyPr/>
                    <a:p>
                      <a:pPr marL="0" indent="0">
                        <a:spcBef>
                          <a:spcPct val="0"/>
                        </a:spcBef>
                        <a:spcAft>
                          <a:spcPct val="0"/>
                        </a:spcAft>
                      </a:pPr>
                      <a:r>
                        <a:rPr lang="en-US" altLang="zh-CN" sz="1200" b="1">
                          <a:latin typeface="Times New Roman" panose="02020603050405020304"/>
                          <a:ea typeface="SimSun" panose="02010600030101010101" pitchFamily="2" charset="-122"/>
                        </a:rPr>
                        <a:t>4</a:t>
                      </a:r>
                      <a:endParaRPr lang="en-US" altLang="zh-CN" sz="1200" b="1">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8EAADB"/>
                      </a:solidFill>
                      <a:prstDash val="solid"/>
                      <a:headEnd type="none" w="med" len="med"/>
                      <a:tailEnd type="none" w="med" len="med"/>
                    </a:lnT>
                    <a:lnB w="6350" cap="flat" cmpd="sng">
                      <a:solidFill>
                        <a:srgbClr val="8EAADB"/>
                      </a:solidFill>
                      <a:prstDash val="solid"/>
                      <a:headEnd type="none" w="med" len="med"/>
                      <a:tailEnd type="none" w="med" len="med"/>
                    </a:lnB>
                    <a:noFill/>
                  </a:tcPr>
                </a:tc>
                <a:tc>
                  <a:txBody>
                    <a:bodyPr/>
                    <a:p>
                      <a:pPr marL="0" indent="0">
                        <a:spcBef>
                          <a:spcPct val="0"/>
                        </a:spcBef>
                        <a:spcAft>
                          <a:spcPct val="0"/>
                        </a:spcAft>
                      </a:pPr>
                      <a:r>
                        <a:rPr lang="en-US" altLang="zh-CN" sz="1200" b="1">
                          <a:solidFill>
                            <a:srgbClr val="000000"/>
                          </a:solidFill>
                          <a:latin typeface="Times New Roman" panose="02020603050405020304"/>
                          <a:ea typeface="SimSun" panose="02010600030101010101" pitchFamily="2" charset="-122"/>
                        </a:rPr>
                        <a:t>“E-Governance and Legal Aid Platforms: Policy Design and Incentivization in Developing Countries” (2022, </a:t>
                      </a:r>
                      <a:r>
                        <a:rPr lang="en-US" altLang="zh-CN" sz="1200" b="1" i="1">
                          <a:solidFill>
                            <a:srgbClr val="000000"/>
                          </a:solidFill>
                          <a:latin typeface="Times New Roman" panose="02020603050405020304"/>
                          <a:ea typeface="SimSun" panose="02010600030101010101" pitchFamily="2" charset="-122"/>
                        </a:rPr>
                        <a:t>Government Information Quarterly</a:t>
                      </a:r>
                      <a:r>
                        <a:rPr lang="en-US" altLang="zh-CN" sz="1200" b="1">
                          <a:solidFill>
                            <a:srgbClr val="000000"/>
                          </a:solidFill>
                          <a:latin typeface="Times New Roman" panose="02020603050405020304"/>
                          <a:ea typeface="SimSun" panose="02010600030101010101" pitchFamily="2" charset="-122"/>
                        </a:rPr>
                        <a:t>)</a:t>
                      </a:r>
                      <a:endParaRPr lang="en-US" altLang="zh-CN" sz="1200" b="1">
                        <a:solidFill>
                          <a:srgbClr val="000000"/>
                        </a:solidFill>
                        <a:latin typeface="Times New Roman" panose="02020603050405020304"/>
                        <a:ea typeface="SimSun" panose="02010600030101010101" pitchFamily="2" charset="-122"/>
                      </a:endParaRPr>
                    </a:p>
                    <a:p>
                      <a:pPr marL="0" indent="0">
                        <a:spcBef>
                          <a:spcPct val="0"/>
                        </a:spcBef>
                        <a:spcAft>
                          <a:spcPct val="0"/>
                        </a:spcAft>
                      </a:pPr>
                      <a:r>
                        <a:rPr lang="en-US" altLang="zh-CN" sz="1200">
                          <a:latin typeface="Times New Roman" panose="02020603050405020304"/>
                          <a:ea typeface="SimSun" panose="02010600030101010101" pitchFamily="2" charset="-122"/>
                        </a:rPr>
                        <a:t> </a:t>
                      </a:r>
                      <a:endParaRPr lang="en-US" altLang="zh-CN" sz="1200" b="1">
                        <a:solidFill>
                          <a:srgbClr val="000000"/>
                        </a:solidFill>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8EAADB"/>
                      </a:solidFill>
                      <a:prstDash val="solid"/>
                      <a:headEnd type="none" w="med" len="med"/>
                      <a:tailEnd type="none" w="med" len="med"/>
                    </a:lnT>
                    <a:lnB w="6350" cap="flat" cmpd="sng">
                      <a:solidFill>
                        <a:srgbClr val="8EAADB"/>
                      </a:solidFill>
                      <a:prstDash val="solid"/>
                      <a:headEnd type="none" w="med" len="med"/>
                      <a:tailEnd type="none" w="med" len="med"/>
                    </a:lnB>
                    <a:noFill/>
                  </a:tcPr>
                </a:tc>
                <a:tc>
                  <a:txBody>
                    <a:bodyPr/>
                    <a:p>
                      <a:pPr marL="0" indent="0">
                        <a:spcBef>
                          <a:spcPct val="0"/>
                        </a:spcBef>
                        <a:spcAft>
                          <a:spcPct val="0"/>
                        </a:spcAft>
                      </a:pPr>
                      <a:r>
                        <a:rPr lang="en-US" altLang="zh-CN" sz="1200">
                          <a:solidFill>
                            <a:srgbClr val="000000"/>
                          </a:solidFill>
                          <a:latin typeface="Times New Roman" panose="02020603050405020304"/>
                          <a:ea typeface="SimSun" panose="02010600030101010101" pitchFamily="2" charset="-122"/>
                        </a:rPr>
                        <a:t>Policy analysis &amp; stakeholder mapping</a:t>
                      </a:r>
                      <a:endParaRPr lang="en-US" altLang="zh-CN" sz="1200">
                        <a:solidFill>
                          <a:srgbClr val="000000"/>
                        </a:solidFill>
                        <a:latin typeface="Times New Roman" panose="02020603050405020304"/>
                        <a:ea typeface="SimSun" panose="02010600030101010101" pitchFamily="2" charset="-122"/>
                      </a:endParaRPr>
                    </a:p>
                    <a:p>
                      <a:pPr marL="0" indent="0">
                        <a:spcBef>
                          <a:spcPct val="0"/>
                        </a:spcBef>
                        <a:spcAft>
                          <a:spcPct val="0"/>
                        </a:spcAft>
                      </a:pPr>
                      <a:r>
                        <a:rPr lang="en-US" altLang="zh-CN" sz="1200">
                          <a:solidFill>
                            <a:srgbClr val="000000"/>
                          </a:solidFill>
                          <a:latin typeface="Times New Roman" panose="02020603050405020304"/>
                          <a:ea typeface="SimSun" panose="02010600030101010101" pitchFamily="2" charset="-122"/>
                        </a:rPr>
                        <a:t> </a:t>
                      </a:r>
                      <a:endParaRPr lang="en-US" altLang="zh-CN" sz="1200">
                        <a:solidFill>
                          <a:srgbClr val="000000"/>
                        </a:solidFill>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8EAADB"/>
                      </a:solidFill>
                      <a:prstDash val="solid"/>
                      <a:headEnd type="none" w="med" len="med"/>
                      <a:tailEnd type="none" w="med" len="med"/>
                    </a:lnT>
                    <a:lnB w="6350" cap="flat" cmpd="sng">
                      <a:solidFill>
                        <a:srgbClr val="8EAADB"/>
                      </a:solidFill>
                      <a:prstDash val="solid"/>
                      <a:headEnd type="none" w="med" len="med"/>
                      <a:tailEnd type="none" w="med" len="med"/>
                    </a:lnB>
                    <a:noFill/>
                  </a:tcPr>
                </a:tc>
                <a:tc>
                  <a:txBody>
                    <a:bodyPr/>
                    <a:p>
                      <a:pPr marL="0" indent="0">
                        <a:spcBef>
                          <a:spcPct val="0"/>
                        </a:spcBef>
                        <a:spcAft>
                          <a:spcPct val="0"/>
                        </a:spcAft>
                      </a:pPr>
                      <a:r>
                        <a:rPr lang="en-US" altLang="zh-CN" sz="1200">
                          <a:solidFill>
                            <a:srgbClr val="000000"/>
                          </a:solidFill>
                          <a:latin typeface="Times New Roman" panose="02020603050405020304"/>
                          <a:ea typeface="SimSun" panose="02010600030101010101" pitchFamily="2" charset="-122"/>
                        </a:rPr>
                        <a:t>Explores incentive policies in government-run e-governance portals for onboarding public legal officers and mediators.</a:t>
                      </a:r>
                      <a:endParaRPr lang="en-US" altLang="zh-CN" sz="1200">
                        <a:solidFill>
                          <a:srgbClr val="000000"/>
                        </a:solidFill>
                        <a:latin typeface="Times New Roman" panose="02020603050405020304"/>
                        <a:ea typeface="SimSun" panose="02010600030101010101" pitchFamily="2" charset="-122"/>
                      </a:endParaRPr>
                    </a:p>
                    <a:p>
                      <a:pPr marL="0" indent="0">
                        <a:spcBef>
                          <a:spcPct val="0"/>
                        </a:spcBef>
                        <a:spcAft>
                          <a:spcPct val="0"/>
                        </a:spcAft>
                      </a:pPr>
                      <a:r>
                        <a:rPr lang="en-US" altLang="zh-CN" sz="1200">
                          <a:latin typeface="Times New Roman" panose="02020603050405020304"/>
                          <a:ea typeface="SimSun" panose="02010600030101010101" pitchFamily="2" charset="-122"/>
                        </a:rPr>
                        <a:t> </a:t>
                      </a:r>
                      <a:endParaRPr lang="en-US" altLang="zh-CN" sz="1200">
                        <a:solidFill>
                          <a:srgbClr val="000000"/>
                        </a:solidFill>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8EAADB"/>
                      </a:solidFill>
                      <a:prstDash val="solid"/>
                      <a:headEnd type="none" w="med" len="med"/>
                      <a:tailEnd type="none" w="med" len="med"/>
                    </a:lnT>
                    <a:lnB w="6350" cap="flat" cmpd="sng">
                      <a:solidFill>
                        <a:srgbClr val="8EAADB"/>
                      </a:solidFill>
                      <a:prstDash val="solid"/>
                      <a:headEnd type="none" w="med" len="med"/>
                      <a:tailEnd type="none" w="med" len="med"/>
                    </a:lnB>
                    <a:noFill/>
                  </a:tcPr>
                </a:tc>
                <a:tc>
                  <a:txBody>
                    <a:bodyPr/>
                    <a:p>
                      <a:pPr marL="0" indent="0">
                        <a:spcBef>
                          <a:spcPct val="0"/>
                        </a:spcBef>
                        <a:spcAft>
                          <a:spcPct val="0"/>
                        </a:spcAft>
                      </a:pPr>
                      <a:r>
                        <a:rPr lang="en-US" altLang="zh-CN" sz="1200">
                          <a:solidFill>
                            <a:srgbClr val="000000"/>
                          </a:solidFill>
                          <a:latin typeface="Times New Roman" panose="02020603050405020304"/>
                          <a:ea typeface="SimSun" panose="02010600030101010101" pitchFamily="2" charset="-122"/>
                        </a:rPr>
                        <a:t>Demonstrates how tiered incentives improve service delivery and citizen access.</a:t>
                      </a:r>
                      <a:endParaRPr lang="en-US" altLang="zh-CN" sz="1200">
                        <a:solidFill>
                          <a:srgbClr val="000000"/>
                        </a:solidFill>
                        <a:latin typeface="Times New Roman" panose="02020603050405020304"/>
                        <a:ea typeface="SimSun" panose="02010600030101010101" pitchFamily="2" charset="-122"/>
                      </a:endParaRPr>
                    </a:p>
                    <a:p>
                      <a:pPr marL="0" indent="0">
                        <a:spcBef>
                          <a:spcPct val="0"/>
                        </a:spcBef>
                        <a:spcAft>
                          <a:spcPct val="0"/>
                        </a:spcAft>
                      </a:pPr>
                      <a:r>
                        <a:rPr lang="en-US" altLang="zh-CN" sz="1200">
                          <a:latin typeface="Times New Roman" panose="02020603050405020304"/>
                          <a:ea typeface="SimSun" panose="02010600030101010101" pitchFamily="2" charset="-122"/>
                        </a:rPr>
                        <a:t> </a:t>
                      </a:r>
                      <a:endParaRPr lang="en-US" altLang="zh-CN" sz="1200">
                        <a:solidFill>
                          <a:srgbClr val="000000"/>
                        </a:solidFill>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8EAADB"/>
                      </a:solidFill>
                      <a:prstDash val="solid"/>
                      <a:headEnd type="none" w="med" len="med"/>
                      <a:tailEnd type="none" w="med" len="med"/>
                    </a:lnT>
                    <a:lnB w="6350" cap="flat" cmpd="sng">
                      <a:solidFill>
                        <a:srgbClr val="8EAADB"/>
                      </a:solidFill>
                      <a:prstDash val="solid"/>
                      <a:headEnd type="none" w="med" len="med"/>
                      <a:tailEnd type="none" w="med" len="med"/>
                    </a:lnB>
                    <a:noFill/>
                  </a:tcPr>
                </a:tc>
                <a:tc>
                  <a:txBody>
                    <a:bodyPr/>
                    <a:p>
                      <a:pPr marL="0" indent="0">
                        <a:spcBef>
                          <a:spcPct val="0"/>
                        </a:spcBef>
                        <a:spcAft>
                          <a:spcPct val="0"/>
                        </a:spcAft>
                      </a:pPr>
                      <a:r>
                        <a:rPr lang="en-US" altLang="zh-CN" sz="1200">
                          <a:solidFill>
                            <a:srgbClr val="000000"/>
                          </a:solidFill>
                          <a:latin typeface="Times New Roman" panose="02020603050405020304"/>
                          <a:ea typeface="SimSun" panose="02010600030101010101" pitchFamily="2" charset="-122"/>
                        </a:rPr>
                        <a:t>Limited longitudinal evaluation; lacks insights into private sector adoption.</a:t>
                      </a:r>
                      <a:endParaRPr lang="en-US" altLang="zh-CN" sz="1200">
                        <a:solidFill>
                          <a:srgbClr val="000000"/>
                        </a:solidFill>
                        <a:latin typeface="Times New Roman" panose="02020603050405020304"/>
                        <a:ea typeface="SimSun" panose="02010600030101010101" pitchFamily="2" charset="-122"/>
                      </a:endParaRPr>
                    </a:p>
                    <a:p>
                      <a:pPr marL="0" indent="0">
                        <a:spcBef>
                          <a:spcPct val="0"/>
                        </a:spcBef>
                        <a:spcAft>
                          <a:spcPct val="0"/>
                        </a:spcAft>
                      </a:pPr>
                      <a:r>
                        <a:rPr lang="en-US" altLang="zh-CN" sz="1200">
                          <a:latin typeface="Times New Roman" panose="02020603050405020304"/>
                          <a:ea typeface="SimSun" panose="02010600030101010101" pitchFamily="2" charset="-122"/>
                        </a:rPr>
                        <a:t> </a:t>
                      </a:r>
                      <a:endParaRPr lang="en-US" altLang="zh-CN" sz="1200">
                        <a:solidFill>
                          <a:srgbClr val="000000"/>
                        </a:solidFill>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8EAADB"/>
                      </a:solidFill>
                      <a:prstDash val="solid"/>
                      <a:headEnd type="none" w="med" len="med"/>
                      <a:tailEnd type="none" w="med" len="med"/>
                    </a:lnT>
                    <a:lnB w="6350" cap="flat" cmpd="sng">
                      <a:solidFill>
                        <a:srgbClr val="8EAADB"/>
                      </a:solidFill>
                      <a:prstDash val="solid"/>
                      <a:headEnd type="none" w="med" len="med"/>
                      <a:tailEnd type="none" w="med" len="med"/>
                    </a:lnB>
                    <a:noFill/>
                  </a:tcPr>
                </a:tc>
              </a:tr>
              <a:tr h="870585">
                <a:tc>
                  <a:txBody>
                    <a:bodyPr/>
                    <a:p>
                      <a:pPr marL="0" indent="0">
                        <a:spcBef>
                          <a:spcPct val="0"/>
                        </a:spcBef>
                        <a:spcAft>
                          <a:spcPct val="0"/>
                        </a:spcAft>
                      </a:pPr>
                      <a:r>
                        <a:rPr lang="en-US" altLang="zh-CN" sz="1200" b="1">
                          <a:solidFill>
                            <a:srgbClr val="000000"/>
                          </a:solidFill>
                          <a:latin typeface="Times New Roman" panose="02020603050405020304"/>
                          <a:ea typeface="SimSun" panose="02010600030101010101" pitchFamily="2" charset="-122"/>
                        </a:rPr>
                        <a:t>5</a:t>
                      </a:r>
                      <a:endParaRPr lang="en-US" altLang="zh-CN" sz="1200" b="1">
                        <a:solidFill>
                          <a:srgbClr val="000000"/>
                        </a:solidFill>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8EAADB"/>
                      </a:solidFill>
                      <a:prstDash val="solid"/>
                      <a:headEnd type="none" w="med" len="med"/>
                      <a:tailEnd type="none" w="med" len="med"/>
                    </a:lnT>
                    <a:lnB w="6350" cap="flat" cmpd="sng">
                      <a:solidFill>
                        <a:srgbClr val="8EAADB"/>
                      </a:solidFill>
                      <a:prstDash val="solid"/>
                      <a:headEnd type="none" w="med" len="med"/>
                      <a:tailEnd type="none" w="med" len="med"/>
                    </a:lnB>
                    <a:solidFill>
                      <a:srgbClr val="D9E2F3"/>
                    </a:solidFill>
                  </a:tcPr>
                </a:tc>
                <a:tc>
                  <a:txBody>
                    <a:bodyPr/>
                    <a:p>
                      <a:pPr marL="0" indent="0">
                        <a:spcBef>
                          <a:spcPct val="0"/>
                        </a:spcBef>
                        <a:spcAft>
                          <a:spcPct val="0"/>
                        </a:spcAft>
                      </a:pPr>
                      <a:r>
                        <a:rPr lang="en-US" altLang="zh-CN" sz="1200" b="1">
                          <a:solidFill>
                            <a:srgbClr val="000000"/>
                          </a:solidFill>
                          <a:latin typeface="Times New Roman" panose="02020603050405020304"/>
                          <a:ea typeface="SimSun" panose="02010600030101010101" pitchFamily="2" charset="-122"/>
                        </a:rPr>
                        <a:t>“Adoption of Online Legal Service Platforms: Motivation and Barriers for Legal Practitioners in India” (2023, </a:t>
                      </a:r>
                      <a:r>
                        <a:rPr lang="en-US" altLang="zh-CN" sz="1200" b="1" i="1">
                          <a:solidFill>
                            <a:srgbClr val="000000"/>
                          </a:solidFill>
                          <a:latin typeface="Times New Roman" panose="02020603050405020304"/>
                          <a:ea typeface="SimSun" panose="02010600030101010101" pitchFamily="2" charset="-122"/>
                        </a:rPr>
                        <a:t>Indian Journal of Law and Technology</a:t>
                      </a:r>
                      <a:r>
                        <a:rPr lang="en-US" altLang="zh-CN" sz="1200" b="1">
                          <a:solidFill>
                            <a:srgbClr val="000000"/>
                          </a:solidFill>
                          <a:latin typeface="Times New Roman" panose="02020603050405020304"/>
                          <a:ea typeface="SimSun" panose="02010600030101010101" pitchFamily="2" charset="-122"/>
                        </a:rPr>
                        <a:t>)</a:t>
                      </a:r>
                      <a:endParaRPr lang="en-US" altLang="zh-CN" sz="1200" b="1">
                        <a:solidFill>
                          <a:srgbClr val="000000"/>
                        </a:solidFill>
                        <a:latin typeface="Times New Roman" panose="02020603050405020304"/>
                        <a:ea typeface="SimSun" panose="02010600030101010101" pitchFamily="2" charset="-122"/>
                      </a:endParaRPr>
                    </a:p>
                    <a:p>
                      <a:pPr marL="0" indent="0">
                        <a:spcBef>
                          <a:spcPct val="0"/>
                        </a:spcBef>
                        <a:spcAft>
                          <a:spcPct val="0"/>
                        </a:spcAft>
                      </a:pPr>
                      <a:r>
                        <a:rPr lang="en-US" altLang="zh-CN" sz="1200">
                          <a:latin typeface="Times New Roman" panose="02020603050405020304"/>
                          <a:ea typeface="SimSun" panose="02010600030101010101" pitchFamily="2" charset="-122"/>
                        </a:rPr>
                        <a:t> </a:t>
                      </a:r>
                      <a:endParaRPr lang="en-US" altLang="zh-CN" sz="1200" b="1">
                        <a:solidFill>
                          <a:srgbClr val="000000"/>
                        </a:solidFill>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8EAADB"/>
                      </a:solidFill>
                      <a:prstDash val="solid"/>
                      <a:headEnd type="none" w="med" len="med"/>
                      <a:tailEnd type="none" w="med" len="med"/>
                    </a:lnT>
                    <a:lnB w="6350" cap="flat" cmpd="sng">
                      <a:solidFill>
                        <a:srgbClr val="8EAADB"/>
                      </a:solidFill>
                      <a:prstDash val="solid"/>
                      <a:headEnd type="none" w="med" len="med"/>
                      <a:tailEnd type="none" w="med" len="med"/>
                    </a:lnB>
                    <a:solidFill>
                      <a:srgbClr val="D9E2F3"/>
                    </a:solidFill>
                  </a:tcPr>
                </a:tc>
                <a:tc>
                  <a:txBody>
                    <a:bodyPr/>
                    <a:p>
                      <a:pPr marL="0" indent="0">
                        <a:spcBef>
                          <a:spcPct val="0"/>
                        </a:spcBef>
                        <a:spcAft>
                          <a:spcPct val="0"/>
                        </a:spcAft>
                      </a:pPr>
                      <a:r>
                        <a:rPr lang="en-US" altLang="zh-CN" sz="1200">
                          <a:solidFill>
                            <a:srgbClr val="000000"/>
                          </a:solidFill>
                          <a:latin typeface="Times New Roman" panose="02020603050405020304"/>
                          <a:ea typeface="SimSun" panose="02010600030101010101" pitchFamily="2" charset="-122"/>
                        </a:rPr>
                        <a:t>Empirical study – survey of 250 practitioners</a:t>
                      </a:r>
                      <a:endParaRPr lang="en-US" altLang="zh-CN" sz="1200">
                        <a:solidFill>
                          <a:srgbClr val="000000"/>
                        </a:solidFill>
                        <a:latin typeface="Times New Roman" panose="02020603050405020304"/>
                        <a:ea typeface="SimSun" panose="02010600030101010101" pitchFamily="2" charset="-122"/>
                      </a:endParaRPr>
                    </a:p>
                    <a:p>
                      <a:pPr marL="0" indent="0">
                        <a:spcBef>
                          <a:spcPct val="0"/>
                        </a:spcBef>
                        <a:spcAft>
                          <a:spcPct val="0"/>
                        </a:spcAft>
                      </a:pPr>
                      <a:r>
                        <a:rPr lang="en-US" altLang="zh-CN" sz="1200">
                          <a:solidFill>
                            <a:srgbClr val="000000"/>
                          </a:solidFill>
                          <a:latin typeface="Times New Roman" panose="02020603050405020304"/>
                          <a:ea typeface="SimSun" panose="02010600030101010101" pitchFamily="2" charset="-122"/>
                        </a:rPr>
                        <a:t> </a:t>
                      </a:r>
                      <a:endParaRPr lang="en-US" altLang="zh-CN" sz="1200">
                        <a:solidFill>
                          <a:srgbClr val="000000"/>
                        </a:solidFill>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8EAADB"/>
                      </a:solidFill>
                      <a:prstDash val="solid"/>
                      <a:headEnd type="none" w="med" len="med"/>
                      <a:tailEnd type="none" w="med" len="med"/>
                    </a:lnT>
                    <a:lnB w="6350" cap="flat" cmpd="sng">
                      <a:solidFill>
                        <a:srgbClr val="8EAADB"/>
                      </a:solidFill>
                      <a:prstDash val="solid"/>
                      <a:headEnd type="none" w="med" len="med"/>
                      <a:tailEnd type="none" w="med" len="med"/>
                    </a:lnB>
                    <a:solidFill>
                      <a:srgbClr val="D9E2F3"/>
                    </a:solidFill>
                  </a:tcPr>
                </a:tc>
                <a:tc>
                  <a:txBody>
                    <a:bodyPr/>
                    <a:p>
                      <a:pPr marL="0" indent="0">
                        <a:spcBef>
                          <a:spcPct val="0"/>
                        </a:spcBef>
                        <a:spcAft>
                          <a:spcPct val="0"/>
                        </a:spcAft>
                      </a:pPr>
                      <a:r>
                        <a:rPr lang="en-US" altLang="zh-CN" sz="1200">
                          <a:solidFill>
                            <a:srgbClr val="000000"/>
                          </a:solidFill>
                          <a:latin typeface="Times New Roman" panose="02020603050405020304"/>
                          <a:ea typeface="SimSun" panose="02010600030101010101" pitchFamily="2" charset="-122"/>
                        </a:rPr>
                        <a:t>Investigates motivation factors, trust barriers, and expected benefits influencing adoption of legal e-marketplaces.</a:t>
                      </a:r>
                      <a:endParaRPr lang="en-US" altLang="zh-CN" sz="1200">
                        <a:solidFill>
                          <a:srgbClr val="000000"/>
                        </a:solidFill>
                        <a:latin typeface="Times New Roman" panose="02020603050405020304"/>
                        <a:ea typeface="SimSun" panose="02010600030101010101" pitchFamily="2" charset="-122"/>
                      </a:endParaRPr>
                    </a:p>
                    <a:p>
                      <a:pPr marL="0" indent="0">
                        <a:spcBef>
                          <a:spcPct val="0"/>
                        </a:spcBef>
                        <a:spcAft>
                          <a:spcPct val="0"/>
                        </a:spcAft>
                      </a:pPr>
                      <a:r>
                        <a:rPr lang="en-US" altLang="zh-CN" sz="1200">
                          <a:latin typeface="Times New Roman" panose="02020603050405020304"/>
                          <a:ea typeface="SimSun" panose="02010600030101010101" pitchFamily="2" charset="-122"/>
                        </a:rPr>
                        <a:t> </a:t>
                      </a:r>
                      <a:endParaRPr lang="en-US" altLang="zh-CN" sz="1200">
                        <a:solidFill>
                          <a:srgbClr val="000000"/>
                        </a:solidFill>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8EAADB"/>
                      </a:solidFill>
                      <a:prstDash val="solid"/>
                      <a:headEnd type="none" w="med" len="med"/>
                      <a:tailEnd type="none" w="med" len="med"/>
                    </a:lnT>
                    <a:lnB w="6350" cap="flat" cmpd="sng">
                      <a:solidFill>
                        <a:srgbClr val="8EAADB"/>
                      </a:solidFill>
                      <a:prstDash val="solid"/>
                      <a:headEnd type="none" w="med" len="med"/>
                      <a:tailEnd type="none" w="med" len="med"/>
                    </a:lnB>
                    <a:solidFill>
                      <a:srgbClr val="D9E2F3"/>
                    </a:solidFill>
                  </a:tcPr>
                </a:tc>
                <a:tc>
                  <a:txBody>
                    <a:bodyPr/>
                    <a:p>
                      <a:pPr marL="0" indent="0">
                        <a:spcBef>
                          <a:spcPct val="0"/>
                        </a:spcBef>
                        <a:spcAft>
                          <a:spcPct val="0"/>
                        </a:spcAft>
                      </a:pPr>
                      <a:r>
                        <a:rPr lang="en-US" altLang="zh-CN" sz="1200">
                          <a:solidFill>
                            <a:srgbClr val="000000"/>
                          </a:solidFill>
                          <a:latin typeface="Times New Roman" panose="02020603050405020304"/>
                          <a:ea typeface="SimSun" panose="02010600030101010101" pitchFamily="2" charset="-122"/>
                        </a:rPr>
                        <a:t>Provides localized insights into incentive and training needs in Indian context.</a:t>
                      </a:r>
                      <a:endParaRPr lang="en-US" altLang="zh-CN" sz="1200">
                        <a:solidFill>
                          <a:srgbClr val="000000"/>
                        </a:solidFill>
                        <a:latin typeface="Times New Roman" panose="02020603050405020304"/>
                        <a:ea typeface="SimSun" panose="02010600030101010101" pitchFamily="2" charset="-122"/>
                      </a:endParaRPr>
                    </a:p>
                    <a:p>
                      <a:pPr marL="0" indent="0">
                        <a:spcBef>
                          <a:spcPct val="0"/>
                        </a:spcBef>
                        <a:spcAft>
                          <a:spcPct val="0"/>
                        </a:spcAft>
                      </a:pPr>
                      <a:r>
                        <a:rPr lang="en-US" altLang="zh-CN" sz="1200">
                          <a:latin typeface="Times New Roman" panose="02020603050405020304"/>
                          <a:ea typeface="SimSun" panose="02010600030101010101" pitchFamily="2" charset="-122"/>
                        </a:rPr>
                        <a:t> </a:t>
                      </a:r>
                      <a:endParaRPr lang="en-US" altLang="zh-CN" sz="1200">
                        <a:solidFill>
                          <a:srgbClr val="000000"/>
                        </a:solidFill>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8EAADB"/>
                      </a:solidFill>
                      <a:prstDash val="solid"/>
                      <a:headEnd type="none" w="med" len="med"/>
                      <a:tailEnd type="none" w="med" len="med"/>
                    </a:lnT>
                    <a:lnB w="6350" cap="flat" cmpd="sng">
                      <a:solidFill>
                        <a:srgbClr val="8EAADB"/>
                      </a:solidFill>
                      <a:prstDash val="solid"/>
                      <a:headEnd type="none" w="med" len="med"/>
                      <a:tailEnd type="none" w="med" len="med"/>
                    </a:lnB>
                    <a:solidFill>
                      <a:srgbClr val="D9E2F3"/>
                    </a:solidFill>
                  </a:tcPr>
                </a:tc>
                <a:tc>
                  <a:txBody>
                    <a:bodyPr/>
                    <a:p>
                      <a:pPr marL="0" indent="0">
                        <a:spcBef>
                          <a:spcPct val="0"/>
                        </a:spcBef>
                        <a:spcAft>
                          <a:spcPct val="0"/>
                        </a:spcAft>
                      </a:pPr>
                      <a:r>
                        <a:rPr lang="en-US" altLang="zh-CN" sz="1200">
                          <a:solidFill>
                            <a:srgbClr val="000000"/>
                          </a:solidFill>
                          <a:latin typeface="Times New Roman" panose="02020603050405020304"/>
                          <a:ea typeface="SimSun" panose="02010600030101010101" pitchFamily="2" charset="-122"/>
                        </a:rPr>
                        <a:t>Study limited to urban regions; excludes rural and semi-urban practitioners.</a:t>
                      </a:r>
                      <a:endParaRPr lang="en-US" altLang="zh-CN" sz="1200">
                        <a:solidFill>
                          <a:srgbClr val="000000"/>
                        </a:solidFill>
                        <a:latin typeface="Times New Roman" panose="02020603050405020304"/>
                        <a:ea typeface="SimSun" panose="02010600030101010101" pitchFamily="2" charset="-122"/>
                      </a:endParaRPr>
                    </a:p>
                    <a:p>
                      <a:pPr marL="0" indent="0">
                        <a:spcBef>
                          <a:spcPct val="0"/>
                        </a:spcBef>
                        <a:spcAft>
                          <a:spcPct val="0"/>
                        </a:spcAft>
                      </a:pPr>
                      <a:r>
                        <a:rPr lang="en-US" altLang="zh-CN" sz="1200">
                          <a:latin typeface="Times New Roman" panose="02020603050405020304"/>
                          <a:ea typeface="SimSun" panose="02010600030101010101" pitchFamily="2" charset="-122"/>
                        </a:rPr>
                        <a:t> </a:t>
                      </a:r>
                      <a:endParaRPr lang="en-US" altLang="zh-CN" sz="1200">
                        <a:solidFill>
                          <a:srgbClr val="000000"/>
                        </a:solidFill>
                        <a:latin typeface="Times New Roman" panose="02020603050405020304"/>
                        <a:ea typeface="SimSun" panose="02010600030101010101" pitchFamily="2" charset="-122"/>
                      </a:endParaRPr>
                    </a:p>
                  </a:txBody>
                  <a:tcPr marL="68580" marR="68580" marT="0" marB="0" anchor="t" anchorCtr="0">
                    <a:lnL w="6350" cap="flat" cmpd="sng">
                      <a:solidFill>
                        <a:srgbClr val="8EAADB"/>
                      </a:solidFill>
                      <a:prstDash val="solid"/>
                      <a:headEnd type="none" w="med" len="med"/>
                      <a:tailEnd type="none" w="med" len="med"/>
                    </a:lnL>
                    <a:lnR w="6350" cap="flat" cmpd="sng">
                      <a:solidFill>
                        <a:srgbClr val="8EAADB"/>
                      </a:solidFill>
                      <a:prstDash val="solid"/>
                      <a:headEnd type="none" w="med" len="med"/>
                      <a:tailEnd type="none" w="med" len="med"/>
                    </a:lnR>
                    <a:lnT w="6350" cap="flat" cmpd="sng">
                      <a:solidFill>
                        <a:srgbClr val="8EAADB"/>
                      </a:solidFill>
                      <a:prstDash val="solid"/>
                      <a:headEnd type="none" w="med" len="med"/>
                      <a:tailEnd type="none" w="med" len="med"/>
                    </a:lnT>
                    <a:lnB w="6350" cap="flat" cmpd="sng">
                      <a:solidFill>
                        <a:srgbClr val="8EAADB"/>
                      </a:solidFill>
                      <a:prstDash val="solid"/>
                      <a:headEnd type="none" w="med" len="med"/>
                      <a:tailEnd type="none" w="med" len="med"/>
                    </a:lnB>
                    <a:solidFill>
                      <a:srgbClr val="D9E2F3"/>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76200"/>
            <a:r>
              <a:rPr lang="en-US" dirty="0">
                <a:latin typeface="Cambria" panose="02040503050406030204" pitchFamily="18" charset="0"/>
                <a:ea typeface="Cambria" panose="02040503050406030204" pitchFamily="18" charset="0"/>
              </a:rPr>
              <a:t>Objectives</a:t>
            </a:r>
            <a:endParaRPr lang="en-US"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518983" y="1050324"/>
            <a:ext cx="11442357" cy="5226908"/>
          </a:xfrm>
          <a:prstGeom prst="rect">
            <a:avLst/>
          </a:prstGeom>
          <a:noFill/>
          <a:ln>
            <a:noFill/>
          </a:ln>
        </p:spPr>
        <p:txBody>
          <a:bodyPr spcFirstLastPara="1" wrap="square" lIns="91425" tIns="45700" rIns="91425" bIns="45700" anchor="t" anchorCtr="0">
            <a:normAutofit lnSpcReduction="10000"/>
          </a:bodyPr>
          <a:lstStyle/>
          <a:p>
            <a:pPr marL="76200" indent="0">
              <a:buNone/>
            </a:pPr>
            <a:r>
              <a:rPr lang="en-US" altLang="en-US" dirty="0">
                <a:latin typeface="Cambria" panose="02040503050406030204" pitchFamily="18" charset="0"/>
                <a:ea typeface="Cambria" panose="02040503050406030204" pitchFamily="18" charset="0"/>
              </a:rPr>
              <a:t>The primary goal is to design and develop an incentivized eMarketplace that:</a:t>
            </a:r>
            <a:endParaRPr lang="en-US" altLang="en-US" dirty="0">
              <a:latin typeface="Cambria" panose="02040503050406030204" pitchFamily="18" charset="0"/>
              <a:ea typeface="Cambria" panose="02040503050406030204" pitchFamily="18" charset="0"/>
            </a:endParaRPr>
          </a:p>
          <a:p>
            <a:endParaRPr lang="en-US" altLang="en-US" dirty="0">
              <a:latin typeface="Cambria" panose="02040503050406030204" pitchFamily="18" charset="0"/>
              <a:ea typeface="Cambria" panose="02040503050406030204" pitchFamily="18" charset="0"/>
            </a:endParaRPr>
          </a:p>
          <a:p>
            <a:pPr marL="533400" indent="-457200">
              <a:buAutoNum type="arabicPeriod"/>
            </a:pPr>
            <a:r>
              <a:rPr lang="en-US" altLang="en-US" b="1" dirty="0">
                <a:latin typeface="Cambria" panose="02040503050406030204" pitchFamily="18" charset="0"/>
                <a:ea typeface="Cambria" panose="02040503050406030204" pitchFamily="18" charset="0"/>
              </a:rPr>
              <a:t>Onboards verified legal service providers </a:t>
            </a:r>
            <a:r>
              <a:rPr lang="en-US" altLang="en-US" dirty="0">
                <a:latin typeface="Cambria" panose="02040503050406030204" pitchFamily="18" charset="0"/>
                <a:ea typeface="Cambria" panose="02040503050406030204" pitchFamily="18" charset="0"/>
              </a:rPr>
              <a:t>from across India.</a:t>
            </a:r>
            <a:endParaRPr lang="en-US" altLang="en-US" dirty="0">
              <a:latin typeface="Cambria" panose="02040503050406030204" pitchFamily="18" charset="0"/>
              <a:ea typeface="Cambria" panose="02040503050406030204" pitchFamily="18" charset="0"/>
            </a:endParaRPr>
          </a:p>
          <a:p>
            <a:pPr marL="533400" indent="-457200">
              <a:buAutoNum type="arabicPeriod"/>
            </a:pPr>
            <a:endParaRPr lang="en-US" altLang="en-US" dirty="0">
              <a:latin typeface="Cambria" panose="02040503050406030204" pitchFamily="18" charset="0"/>
              <a:ea typeface="Cambria" panose="02040503050406030204" pitchFamily="18" charset="0"/>
            </a:endParaRPr>
          </a:p>
          <a:p>
            <a:pPr marL="533400" indent="-457200">
              <a:buAutoNum type="arabicPeriod"/>
            </a:pPr>
            <a:r>
              <a:rPr lang="en-US" altLang="en-US" b="1" dirty="0">
                <a:latin typeface="Cambria" panose="02040503050406030204" pitchFamily="18" charset="0"/>
                <a:ea typeface="Cambria" panose="02040503050406030204" pitchFamily="18" charset="0"/>
              </a:rPr>
              <a:t>Incentivizes participation</a:t>
            </a:r>
            <a:r>
              <a:rPr lang="en-US" altLang="en-US" dirty="0">
                <a:latin typeface="Cambria" panose="02040503050406030204" pitchFamily="18" charset="0"/>
                <a:ea typeface="Cambria" panose="02040503050406030204" pitchFamily="18" charset="0"/>
              </a:rPr>
              <a:t> using financial, reputational, and gamification-based rewards.</a:t>
            </a:r>
            <a:endParaRPr lang="en-US" altLang="en-US" dirty="0">
              <a:latin typeface="Cambria" panose="02040503050406030204" pitchFamily="18" charset="0"/>
              <a:ea typeface="Cambria" panose="02040503050406030204" pitchFamily="18" charset="0"/>
            </a:endParaRPr>
          </a:p>
          <a:p>
            <a:pPr marL="533400" indent="-457200">
              <a:buAutoNum type="arabicPeriod"/>
            </a:pPr>
            <a:endParaRPr lang="en-US" altLang="en-US" dirty="0">
              <a:latin typeface="Cambria" panose="02040503050406030204" pitchFamily="18" charset="0"/>
              <a:ea typeface="Cambria" panose="02040503050406030204" pitchFamily="18" charset="0"/>
            </a:endParaRPr>
          </a:p>
          <a:p>
            <a:pPr marL="533400" indent="-457200">
              <a:buAutoNum type="arabicPeriod"/>
            </a:pPr>
            <a:r>
              <a:rPr lang="en-US" altLang="en-US" b="1" dirty="0">
                <a:latin typeface="Cambria" panose="02040503050406030204" pitchFamily="18" charset="0"/>
                <a:ea typeface="Cambria" panose="02040503050406030204" pitchFamily="18" charset="0"/>
              </a:rPr>
              <a:t>Ensures transparency and accountability</a:t>
            </a:r>
            <a:r>
              <a:rPr lang="en-US" altLang="en-US" dirty="0">
                <a:latin typeface="Cambria" panose="02040503050406030204" pitchFamily="18" charset="0"/>
                <a:ea typeface="Cambria" panose="02040503050406030204" pitchFamily="18" charset="0"/>
              </a:rPr>
              <a:t> in service delivery.</a:t>
            </a:r>
            <a:endParaRPr lang="en-US" altLang="en-US" dirty="0">
              <a:latin typeface="Cambria" panose="02040503050406030204" pitchFamily="18" charset="0"/>
              <a:ea typeface="Cambria" panose="02040503050406030204" pitchFamily="18" charset="0"/>
            </a:endParaRPr>
          </a:p>
          <a:p>
            <a:pPr marL="533400" indent="-457200">
              <a:buAutoNum type="arabicPeriod"/>
            </a:pPr>
            <a:endParaRPr lang="en-US" altLang="en-US" dirty="0">
              <a:latin typeface="Cambria" panose="02040503050406030204" pitchFamily="18" charset="0"/>
              <a:ea typeface="Cambria" panose="02040503050406030204" pitchFamily="18" charset="0"/>
            </a:endParaRPr>
          </a:p>
          <a:p>
            <a:pPr marL="533400" indent="-457200">
              <a:buAutoNum type="arabicPeriod"/>
            </a:pPr>
            <a:r>
              <a:rPr lang="en-US" altLang="en-US" b="1" dirty="0">
                <a:latin typeface="Cambria" panose="02040503050406030204" pitchFamily="18" charset="0"/>
                <a:ea typeface="Cambria" panose="02040503050406030204" pitchFamily="18" charset="0"/>
              </a:rPr>
              <a:t>Improves accessibility</a:t>
            </a:r>
            <a:r>
              <a:rPr lang="en-US" altLang="en-US" dirty="0">
                <a:latin typeface="Cambria" panose="02040503050406030204" pitchFamily="18" charset="0"/>
                <a:ea typeface="Cambria" panose="02040503050406030204" pitchFamily="18" charset="0"/>
              </a:rPr>
              <a:t> for citizens from all socio-economic backgrounds.</a:t>
            </a:r>
            <a:endParaRPr lang="en-US" altLang="en-US" dirty="0">
              <a:latin typeface="Cambria" panose="02040503050406030204" pitchFamily="18" charset="0"/>
              <a:ea typeface="Cambria" panose="02040503050406030204" pitchFamily="18" charset="0"/>
            </a:endParaRPr>
          </a:p>
          <a:p>
            <a:pPr marL="533400" indent="-457200">
              <a:buAutoNum type="arabicPeriod"/>
            </a:pPr>
            <a:endParaRPr lang="en-US" altLang="en-US" dirty="0">
              <a:latin typeface="Cambria" panose="02040503050406030204" pitchFamily="18" charset="0"/>
              <a:ea typeface="Cambria" panose="02040503050406030204" pitchFamily="18" charset="0"/>
            </a:endParaRPr>
          </a:p>
          <a:p>
            <a:pPr marL="533400" indent="-457200">
              <a:buAutoNum type="arabicPeriod"/>
            </a:pPr>
            <a:r>
              <a:rPr lang="en-US" altLang="en-US" b="1" dirty="0">
                <a:latin typeface="Cambria" panose="02040503050406030204" pitchFamily="18" charset="0"/>
                <a:ea typeface="Cambria" panose="02040503050406030204" pitchFamily="18" charset="0"/>
              </a:rPr>
              <a:t>Facilitates efficient client-provider matching based </a:t>
            </a:r>
            <a:r>
              <a:rPr lang="en-US" altLang="en-US" dirty="0">
                <a:latin typeface="Cambria" panose="02040503050406030204" pitchFamily="18" charset="0"/>
                <a:ea typeface="Cambria" panose="02040503050406030204" pitchFamily="18" charset="0"/>
              </a:rPr>
              <a:t>on needs, expertise, and availability.</a:t>
            </a:r>
            <a:endParaRPr lang="en-US" altLang="en-US" dirty="0">
              <a:latin typeface="Cambria" panose="02040503050406030204" pitchFamily="18" charset="0"/>
              <a:ea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US" dirty="0">
                <a:latin typeface="Cambria" panose="02040503050406030204" pitchFamily="18" charset="0"/>
                <a:ea typeface="Cambria" panose="02040503050406030204" pitchFamily="18" charset="0"/>
              </a:rPr>
              <a:t>Existing Methods and Drawbacks</a:t>
            </a:r>
            <a:endParaRPr lang="en-US"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331572" y="1002270"/>
            <a:ext cx="11528855" cy="5350475"/>
          </a:xfrm>
          <a:prstGeom prst="rect">
            <a:avLst/>
          </a:prstGeom>
          <a:noFill/>
          <a:ln>
            <a:noFill/>
          </a:ln>
        </p:spPr>
        <p:txBody>
          <a:bodyPr spcFirstLastPara="1" wrap="square" lIns="91425" tIns="45700" rIns="91425" bIns="45700" anchor="t" anchorCtr="0">
            <a:normAutofit/>
          </a:bodyPr>
          <a:lstStyle/>
          <a:p>
            <a:pPr marL="152400" indent="0">
              <a:lnSpc>
                <a:spcPct val="200000"/>
              </a:lnSpc>
              <a:spcBef>
                <a:spcPts val="0"/>
              </a:spcBef>
              <a:buNone/>
            </a:pPr>
            <a:r>
              <a:rPr lang="en-US" sz="2000" b="1" dirty="0">
                <a:latin typeface="Cambria" panose="02040503050406030204" pitchFamily="18" charset="0"/>
                <a:ea typeface="Cambria" panose="02040503050406030204" pitchFamily="18" charset="0"/>
              </a:rPr>
              <a:t>E-Governance &amp; Legal Aid Platforms (</a:t>
            </a:r>
            <a:r>
              <a:rPr lang="en-US" sz="2000" b="1" dirty="0" err="1">
                <a:latin typeface="Cambria" panose="02040503050406030204" pitchFamily="18" charset="0"/>
                <a:ea typeface="Cambria" panose="02040503050406030204" pitchFamily="18" charset="0"/>
              </a:rPr>
              <a:t>eCourts</a:t>
            </a:r>
            <a:r>
              <a:rPr lang="en-US" sz="2000" b="1" dirty="0">
                <a:latin typeface="Cambria" panose="02040503050406030204" pitchFamily="18" charset="0"/>
                <a:ea typeface="Cambria" panose="02040503050406030204" pitchFamily="18" charset="0"/>
              </a:rPr>
              <a:t>, Nyaya Bandhu, NALSA)</a:t>
            </a:r>
            <a:endParaRPr lang="en-US" sz="2000" b="1" dirty="0">
              <a:latin typeface="Cambria" panose="02040503050406030204" pitchFamily="18" charset="0"/>
              <a:ea typeface="Cambria" panose="02040503050406030204" pitchFamily="18" charset="0"/>
            </a:endParaRPr>
          </a:p>
          <a:p>
            <a:pPr marL="609600" indent="-457200">
              <a:lnSpc>
                <a:spcPct val="110000"/>
              </a:lnSpc>
              <a:spcBef>
                <a:spcPts val="0"/>
              </a:spcBef>
              <a:buFont typeface="+mj-lt"/>
              <a:buAutoNum type="alphaLcPeriod"/>
            </a:pPr>
            <a:r>
              <a:rPr lang="en-US" sz="2000" dirty="0">
                <a:latin typeface="Cambria" panose="02040503050406030204" pitchFamily="18" charset="0"/>
                <a:ea typeface="Cambria" panose="02040503050406030204" pitchFamily="18" charset="0"/>
              </a:rPr>
              <a:t>Only voluntary/pro-bono incentives → very low uptake.</a:t>
            </a:r>
            <a:endParaRPr lang="en-US" sz="2000" dirty="0">
              <a:latin typeface="Cambria" panose="02040503050406030204" pitchFamily="18" charset="0"/>
              <a:ea typeface="Cambria" panose="02040503050406030204" pitchFamily="18" charset="0"/>
            </a:endParaRPr>
          </a:p>
          <a:p>
            <a:pPr marL="609600" indent="-457200">
              <a:lnSpc>
                <a:spcPct val="110000"/>
              </a:lnSpc>
              <a:spcBef>
                <a:spcPts val="0"/>
              </a:spcBef>
              <a:buFont typeface="+mj-lt"/>
              <a:buAutoNum type="alphaLcPeriod"/>
            </a:pPr>
            <a:r>
              <a:rPr lang="en-IN" sz="2000" dirty="0">
                <a:latin typeface="Cambria" panose="02040503050406030204" pitchFamily="18" charset="0"/>
                <a:ea typeface="Cambria" panose="02040503050406030204" pitchFamily="18" charset="0"/>
              </a:rPr>
              <a:t>Awareness gap among advocates.</a:t>
            </a:r>
            <a:endParaRPr lang="en-IN" sz="2000" dirty="0">
              <a:latin typeface="Cambria" panose="02040503050406030204" pitchFamily="18" charset="0"/>
              <a:ea typeface="Cambria" panose="02040503050406030204" pitchFamily="18" charset="0"/>
            </a:endParaRPr>
          </a:p>
          <a:p>
            <a:pPr marL="609600" indent="-457200">
              <a:lnSpc>
                <a:spcPct val="110000"/>
              </a:lnSpc>
              <a:spcBef>
                <a:spcPts val="0"/>
              </a:spcBef>
              <a:buFont typeface="+mj-lt"/>
              <a:buAutoNum type="alphaLcPeriod"/>
            </a:pPr>
            <a:r>
              <a:rPr lang="en-US" sz="2000" dirty="0">
                <a:latin typeface="Cambria" panose="02040503050406030204" pitchFamily="18" charset="0"/>
                <a:ea typeface="Cambria" panose="02040503050406030204" pitchFamily="18" charset="0"/>
              </a:rPr>
              <a:t>Poor UI/UX, not mobile-friendly.</a:t>
            </a:r>
            <a:endParaRPr lang="en-US" sz="2000" dirty="0">
              <a:latin typeface="Cambria" panose="02040503050406030204" pitchFamily="18" charset="0"/>
              <a:ea typeface="Cambria" panose="02040503050406030204" pitchFamily="18" charset="0"/>
            </a:endParaRPr>
          </a:p>
          <a:p>
            <a:pPr marL="152400" indent="0">
              <a:lnSpc>
                <a:spcPct val="110000"/>
              </a:lnSpc>
              <a:spcBef>
                <a:spcPts val="0"/>
              </a:spcBef>
              <a:buNone/>
            </a:pPr>
            <a:r>
              <a:rPr lang="en-US" sz="2000" b="1" dirty="0">
                <a:latin typeface="Cambria" panose="02040503050406030204" pitchFamily="18" charset="0"/>
                <a:ea typeface="Cambria" panose="02040503050406030204" pitchFamily="18" charset="0"/>
              </a:rPr>
              <a:t>Professional Networking &amp; Legal Startups (</a:t>
            </a:r>
            <a:r>
              <a:rPr lang="en-US" sz="2000" b="1" dirty="0" err="1">
                <a:latin typeface="Cambria" panose="02040503050406030204" pitchFamily="18" charset="0"/>
                <a:ea typeface="Cambria" panose="02040503050406030204" pitchFamily="18" charset="0"/>
              </a:rPr>
              <a:t>LawRato</a:t>
            </a:r>
            <a:r>
              <a:rPr lang="en-US" sz="2000" b="1" dirty="0">
                <a:latin typeface="Cambria" panose="02040503050406030204" pitchFamily="18" charset="0"/>
                <a:ea typeface="Cambria" panose="02040503050406030204" pitchFamily="18" charset="0"/>
              </a:rPr>
              <a:t>, </a:t>
            </a:r>
            <a:r>
              <a:rPr lang="en-US" sz="2000" b="1" dirty="0" err="1">
                <a:latin typeface="Cambria" panose="02040503050406030204" pitchFamily="18" charset="0"/>
                <a:ea typeface="Cambria" panose="02040503050406030204" pitchFamily="18" charset="0"/>
              </a:rPr>
              <a:t>VakilSearch</a:t>
            </a:r>
            <a:r>
              <a:rPr lang="en-US" sz="2000" b="1" dirty="0">
                <a:latin typeface="Cambria" panose="02040503050406030204" pitchFamily="18" charset="0"/>
                <a:ea typeface="Cambria" panose="02040503050406030204" pitchFamily="18" charset="0"/>
              </a:rPr>
              <a:t>, </a:t>
            </a:r>
            <a:r>
              <a:rPr lang="en-US" sz="2000" b="1" dirty="0" err="1">
                <a:latin typeface="Cambria" panose="02040503050406030204" pitchFamily="18" charset="0"/>
                <a:ea typeface="Cambria" panose="02040503050406030204" pitchFamily="18" charset="0"/>
              </a:rPr>
              <a:t>LegalKart</a:t>
            </a:r>
            <a:r>
              <a:rPr lang="en-US" sz="2000" b="1" dirty="0">
                <a:latin typeface="Cambria" panose="02040503050406030204" pitchFamily="18" charset="0"/>
                <a:ea typeface="Cambria" panose="02040503050406030204" pitchFamily="18" charset="0"/>
              </a:rPr>
              <a:t>)</a:t>
            </a:r>
            <a:endParaRPr lang="en-US" sz="2000" b="1" dirty="0">
              <a:latin typeface="Cambria" panose="02040503050406030204" pitchFamily="18" charset="0"/>
              <a:ea typeface="Cambria" panose="02040503050406030204" pitchFamily="18" charset="0"/>
            </a:endParaRPr>
          </a:p>
          <a:p>
            <a:pPr marL="609600" indent="-457200">
              <a:lnSpc>
                <a:spcPct val="110000"/>
              </a:lnSpc>
              <a:spcBef>
                <a:spcPts val="0"/>
              </a:spcBef>
              <a:buFont typeface="+mj-lt"/>
              <a:buAutoNum type="alphaLcPeriod"/>
            </a:pPr>
            <a:r>
              <a:rPr lang="en-US" sz="2000" dirty="0">
                <a:latin typeface="Cambria" panose="02040503050406030204" pitchFamily="18" charset="0"/>
                <a:ea typeface="Cambria" panose="02040503050406030204" pitchFamily="18" charset="0"/>
              </a:rPr>
              <a:t>Biased rankings—big firms dominate, new lawyers invisible.</a:t>
            </a:r>
            <a:endParaRPr lang="en-US" sz="2000" b="1" dirty="0">
              <a:latin typeface="Cambria" panose="02040503050406030204" pitchFamily="18" charset="0"/>
              <a:ea typeface="Cambria" panose="02040503050406030204" pitchFamily="18" charset="0"/>
            </a:endParaRPr>
          </a:p>
          <a:p>
            <a:pPr marL="609600" indent="-457200">
              <a:lnSpc>
                <a:spcPct val="110000"/>
              </a:lnSpc>
              <a:spcBef>
                <a:spcPts val="0"/>
              </a:spcBef>
              <a:buFont typeface="+mj-lt"/>
              <a:buAutoNum type="alphaLcPeriod"/>
            </a:pPr>
            <a:r>
              <a:rPr lang="en-US" sz="2000" dirty="0">
                <a:latin typeface="Cambria" panose="02040503050406030204" pitchFamily="18" charset="0"/>
                <a:ea typeface="Cambria" panose="02040503050406030204" pitchFamily="18" charset="0"/>
              </a:rPr>
              <a:t>Clients can’t judge quality until after service.</a:t>
            </a:r>
            <a:endParaRPr lang="en-US" sz="2000" dirty="0">
              <a:latin typeface="Cambria" panose="02040503050406030204" pitchFamily="18" charset="0"/>
              <a:ea typeface="Cambria" panose="02040503050406030204" pitchFamily="18" charset="0"/>
            </a:endParaRPr>
          </a:p>
          <a:p>
            <a:pPr marL="609600" indent="-457200">
              <a:lnSpc>
                <a:spcPct val="110000"/>
              </a:lnSpc>
              <a:spcBef>
                <a:spcPts val="0"/>
              </a:spcBef>
              <a:buFont typeface="+mj-lt"/>
              <a:buAutoNum type="alphaLcPeriod"/>
            </a:pPr>
            <a:r>
              <a:rPr lang="en-IN" sz="2000" dirty="0">
                <a:latin typeface="Cambria" panose="02040503050406030204" pitchFamily="18" charset="0"/>
                <a:ea typeface="Cambria" panose="02040503050406030204" pitchFamily="18" charset="0"/>
              </a:rPr>
              <a:t>Data privacy concerns (sensitive case data).</a:t>
            </a:r>
            <a:endParaRPr lang="en-IN" sz="2000" dirty="0">
              <a:latin typeface="Cambria" panose="02040503050406030204" pitchFamily="18" charset="0"/>
              <a:ea typeface="Cambria" panose="02040503050406030204" pitchFamily="18" charset="0"/>
            </a:endParaRPr>
          </a:p>
          <a:p>
            <a:pPr marL="152400" indent="0">
              <a:lnSpc>
                <a:spcPct val="110000"/>
              </a:lnSpc>
              <a:spcBef>
                <a:spcPts val="0"/>
              </a:spcBef>
              <a:buNone/>
            </a:pPr>
            <a:r>
              <a:rPr lang="en-US" sz="2000" b="1" dirty="0">
                <a:latin typeface="Cambria" panose="02040503050406030204" pitchFamily="18" charset="0"/>
                <a:ea typeface="Cambria" panose="02040503050406030204" pitchFamily="18" charset="0"/>
              </a:rPr>
              <a:t>Freelance &amp; Gig Platforms (Upwork, Fiverr, </a:t>
            </a:r>
            <a:r>
              <a:rPr lang="en-US" sz="2000" b="1" dirty="0" err="1">
                <a:latin typeface="Cambria" panose="02040503050406030204" pitchFamily="18" charset="0"/>
                <a:ea typeface="Cambria" panose="02040503050406030204" pitchFamily="18" charset="0"/>
              </a:rPr>
              <a:t>UrbanCompany</a:t>
            </a:r>
            <a:r>
              <a:rPr lang="en-US" sz="2000" b="1" dirty="0">
                <a:latin typeface="Cambria" panose="02040503050406030204" pitchFamily="18" charset="0"/>
                <a:ea typeface="Cambria" panose="02040503050406030204" pitchFamily="18" charset="0"/>
              </a:rPr>
              <a:t>-style)</a:t>
            </a:r>
            <a:endParaRPr lang="en-US" sz="2000" b="1" dirty="0">
              <a:latin typeface="Cambria" panose="02040503050406030204" pitchFamily="18" charset="0"/>
              <a:ea typeface="Cambria" panose="02040503050406030204" pitchFamily="18" charset="0"/>
            </a:endParaRPr>
          </a:p>
          <a:p>
            <a:pPr indent="-457200" algn="just">
              <a:spcBef>
                <a:spcPts val="0"/>
              </a:spcBef>
              <a:buFont typeface="+mj-lt"/>
              <a:buAutoNum type="alphaLcPeriod"/>
            </a:pPr>
            <a:r>
              <a:rPr lang="en-US" sz="2000" dirty="0">
                <a:latin typeface="Cambria" panose="02040503050406030204" pitchFamily="18" charset="0"/>
                <a:ea typeface="Cambria" panose="02040503050406030204" pitchFamily="18" charset="0"/>
              </a:rPr>
              <a:t>Anyone can register → unverified/low-quality providers.</a:t>
            </a:r>
            <a:endParaRPr lang="en-US" sz="2000" dirty="0">
              <a:latin typeface="Cambria" panose="02040503050406030204" pitchFamily="18" charset="0"/>
              <a:ea typeface="Cambria" panose="02040503050406030204" pitchFamily="18" charset="0"/>
            </a:endParaRPr>
          </a:p>
          <a:p>
            <a:pPr indent="-457200" algn="just">
              <a:spcBef>
                <a:spcPts val="0"/>
              </a:spcBef>
              <a:buFont typeface="+mj-lt"/>
              <a:buAutoNum type="alphaLcPeriod"/>
            </a:pPr>
            <a:r>
              <a:rPr lang="en-US" sz="2000" dirty="0">
                <a:latin typeface="Cambria" panose="02040503050406030204" pitchFamily="18" charset="0"/>
                <a:ea typeface="Cambria" panose="02040503050406030204" pitchFamily="18" charset="0"/>
              </a:rPr>
              <a:t>Legal services become “commoditized” like gigs → not suitable for serious cases</a:t>
            </a:r>
            <a:endParaRPr lang="en-US" sz="2000" b="1" dirty="0">
              <a:latin typeface="Cambria" panose="02040503050406030204" pitchFamily="18" charset="0"/>
              <a:ea typeface="Cambria" panose="02040503050406030204" pitchFamily="18" charset="0"/>
            </a:endParaRPr>
          </a:p>
          <a:p>
            <a:pPr marL="152400" indent="0">
              <a:lnSpc>
                <a:spcPct val="110000"/>
              </a:lnSpc>
              <a:spcBef>
                <a:spcPts val="0"/>
              </a:spcBef>
              <a:buNone/>
            </a:pPr>
            <a:r>
              <a:rPr lang="en-US" sz="2000" dirty="0">
                <a:latin typeface="Cambria" panose="02040503050406030204" pitchFamily="18" charset="0"/>
                <a:ea typeface="Cambria" panose="02040503050406030204" pitchFamily="18" charset="0"/>
              </a:rPr>
              <a:t>Legal Tech Startups in India</a:t>
            </a:r>
            <a:endParaRPr lang="en-US" sz="2000" dirty="0">
              <a:latin typeface="Cambria" panose="02040503050406030204" pitchFamily="18" charset="0"/>
              <a:ea typeface="Cambria" panose="02040503050406030204" pitchFamily="18" charset="0"/>
            </a:endParaRPr>
          </a:p>
          <a:p>
            <a:pPr marL="152400" indent="0">
              <a:lnSpc>
                <a:spcPct val="110000"/>
              </a:lnSpc>
              <a:spcBef>
                <a:spcPts val="0"/>
              </a:spcBef>
              <a:buNone/>
            </a:pPr>
            <a:r>
              <a:rPr lang="en-US" sz="2000" b="1" dirty="0">
                <a:latin typeface="Cambria" panose="02040503050406030204" pitchFamily="18" charset="0"/>
                <a:ea typeface="Cambria" panose="02040503050406030204" pitchFamily="18" charset="0"/>
              </a:rPr>
              <a:t>Legal Tech Startups in India</a:t>
            </a:r>
            <a:endParaRPr lang="en-US" sz="2000" b="1" dirty="0">
              <a:latin typeface="Cambria" panose="02040503050406030204" pitchFamily="18" charset="0"/>
              <a:ea typeface="Cambria" panose="02040503050406030204" pitchFamily="18" charset="0"/>
            </a:endParaRPr>
          </a:p>
          <a:p>
            <a:pPr marL="609600" indent="-457200">
              <a:lnSpc>
                <a:spcPct val="110000"/>
              </a:lnSpc>
              <a:spcBef>
                <a:spcPts val="0"/>
              </a:spcBef>
              <a:buFont typeface="+mj-lt"/>
              <a:buAutoNum type="alphaLcPeriod"/>
            </a:pPr>
            <a:endParaRPr lang="en-US" sz="2000" b="1" dirty="0">
              <a:latin typeface="Cambria" panose="02040503050406030204" pitchFamily="18" charset="0"/>
              <a:ea typeface="Cambria" panose="02040503050406030204" pitchFamily="18" charset="0"/>
            </a:endParaRPr>
          </a:p>
          <a:p>
            <a:pPr indent="-457200" algn="just">
              <a:spcBef>
                <a:spcPts val="0"/>
              </a:spcBef>
              <a:buFont typeface="+mj-lt"/>
              <a:buAutoNum type="alphaLcPeriod"/>
            </a:pPr>
            <a:endParaRPr lang="en-US" sz="2000" b="1" dirty="0">
              <a:latin typeface="Cambria" panose="02040503050406030204" pitchFamily="18" charset="0"/>
              <a:ea typeface="Cambria" panose="02040503050406030204" pitchFamily="18" charset="0"/>
            </a:endParaRPr>
          </a:p>
          <a:p>
            <a:pPr marL="0" indent="0" algn="just">
              <a:spcBef>
                <a:spcPts val="0"/>
              </a:spcBef>
              <a:buNone/>
            </a:pPr>
            <a:endParaRPr lang="en-US" sz="2000" b="1"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Proposed Methods and Feasibility Study</a:t>
            </a:r>
            <a:endParaRPr lang="en-IN" dirty="0"/>
          </a:p>
        </p:txBody>
      </p:sp>
      <p:sp>
        <p:nvSpPr>
          <p:cNvPr id="3" name="Text Placeholder 2"/>
          <p:cNvSpPr>
            <a:spLocks noGrp="1"/>
          </p:cNvSpPr>
          <p:nvPr>
            <p:ph type="body" idx="1"/>
          </p:nvPr>
        </p:nvSpPr>
        <p:spPr/>
        <p:txBody>
          <a:bodyPr>
            <a:normAutofit/>
          </a:bodyPr>
          <a:lstStyle/>
          <a:p>
            <a:pPr marL="342900" indent="-342900" eaLnBrk="0" fontAlgn="base" hangingPunct="0">
              <a:spcBef>
                <a:spcPct val="0"/>
              </a:spcBef>
              <a:spcAft>
                <a:spcPct val="0"/>
              </a:spcAft>
              <a:buClrTx/>
              <a:buSzTx/>
            </a:pPr>
            <a:r>
              <a:rPr lang="en-US" altLang="en-US" b="1" dirty="0">
                <a:solidFill>
                  <a:schemeClr val="tx1"/>
                </a:solidFill>
                <a:latin typeface="Cambria" panose="02040503050406030204" pitchFamily="18" charset="0"/>
                <a:ea typeface="Cambria" panose="02040503050406030204" pitchFamily="18" charset="0"/>
              </a:rPr>
              <a:t>Verified Digital Onboarding</a:t>
            </a:r>
            <a:r>
              <a:rPr lang="en-US" altLang="en-US" dirty="0">
                <a:solidFill>
                  <a:schemeClr val="tx1"/>
                </a:solidFill>
                <a:latin typeface="Cambria" panose="02040503050406030204" pitchFamily="18" charset="0"/>
                <a:ea typeface="Cambria" panose="02040503050406030204" pitchFamily="18" charset="0"/>
              </a:rPr>
              <a:t> → Bar Council ID, Aadhaar/</a:t>
            </a:r>
            <a:r>
              <a:rPr lang="en-US" altLang="en-US" dirty="0" err="1">
                <a:solidFill>
                  <a:schemeClr val="tx1"/>
                </a:solidFill>
                <a:latin typeface="Cambria" panose="02040503050406030204" pitchFamily="18" charset="0"/>
                <a:ea typeface="Cambria" panose="02040503050406030204" pitchFamily="18" charset="0"/>
              </a:rPr>
              <a:t>DigiLocker</a:t>
            </a:r>
            <a:r>
              <a:rPr lang="en-US" altLang="en-US" dirty="0">
                <a:solidFill>
                  <a:schemeClr val="tx1"/>
                </a:solidFill>
                <a:latin typeface="Cambria" panose="02040503050406030204" pitchFamily="18" charset="0"/>
                <a:ea typeface="Cambria" panose="02040503050406030204" pitchFamily="18" charset="0"/>
              </a:rPr>
              <a:t>, License checks.</a:t>
            </a:r>
            <a:endParaRPr lang="en-US" altLang="en-US" dirty="0">
              <a:solidFill>
                <a:schemeClr val="tx1"/>
              </a:solidFill>
              <a:latin typeface="Cambria" panose="02040503050406030204" pitchFamily="18" charset="0"/>
              <a:ea typeface="Cambria" panose="02040503050406030204" pitchFamily="18" charset="0"/>
            </a:endParaRPr>
          </a:p>
          <a:p>
            <a:pPr marL="342900" indent="-342900" eaLnBrk="0" fontAlgn="base" hangingPunct="0">
              <a:spcBef>
                <a:spcPct val="0"/>
              </a:spcBef>
              <a:spcAft>
                <a:spcPct val="0"/>
              </a:spcAft>
              <a:buClrTx/>
              <a:buSzTx/>
            </a:pPr>
            <a:r>
              <a:rPr lang="en-US" altLang="en-US" b="1" dirty="0">
                <a:solidFill>
                  <a:schemeClr val="tx1"/>
                </a:solidFill>
                <a:latin typeface="Cambria" panose="02040503050406030204" pitchFamily="18" charset="0"/>
                <a:ea typeface="Cambria" panose="02040503050406030204" pitchFamily="18" charset="0"/>
              </a:rPr>
              <a:t>AI-Powered Matching</a:t>
            </a:r>
            <a:r>
              <a:rPr lang="en-US" altLang="en-US" dirty="0">
                <a:solidFill>
                  <a:schemeClr val="tx1"/>
                </a:solidFill>
                <a:latin typeface="Cambria" panose="02040503050406030204" pitchFamily="18" charset="0"/>
                <a:ea typeface="Cambria" panose="02040503050406030204" pitchFamily="18" charset="0"/>
              </a:rPr>
              <a:t> → Clients matched with lawyers by specialization, location, language.</a:t>
            </a:r>
            <a:endParaRPr lang="en-US" altLang="en-US" dirty="0">
              <a:solidFill>
                <a:schemeClr val="tx1"/>
              </a:solidFill>
              <a:latin typeface="Cambria" panose="02040503050406030204" pitchFamily="18" charset="0"/>
              <a:ea typeface="Cambria" panose="02040503050406030204" pitchFamily="18" charset="0"/>
            </a:endParaRPr>
          </a:p>
          <a:p>
            <a:pPr marL="342900" indent="-342900" eaLnBrk="0" fontAlgn="base" hangingPunct="0">
              <a:spcBef>
                <a:spcPct val="0"/>
              </a:spcBef>
              <a:spcAft>
                <a:spcPct val="0"/>
              </a:spcAft>
              <a:buClrTx/>
              <a:buSzTx/>
            </a:pPr>
            <a:r>
              <a:rPr lang="en-US" altLang="en-US" b="1" dirty="0">
                <a:solidFill>
                  <a:schemeClr val="tx1"/>
                </a:solidFill>
                <a:latin typeface="Cambria" panose="02040503050406030204" pitchFamily="18" charset="0"/>
                <a:ea typeface="Cambria" panose="02040503050406030204" pitchFamily="18" charset="0"/>
              </a:rPr>
              <a:t>Gamified Incentives</a:t>
            </a:r>
            <a:r>
              <a:rPr lang="en-US" altLang="en-US" dirty="0">
                <a:solidFill>
                  <a:schemeClr val="tx1"/>
                </a:solidFill>
                <a:latin typeface="Cambria" panose="02040503050406030204" pitchFamily="18" charset="0"/>
                <a:ea typeface="Cambria" panose="02040503050406030204" pitchFamily="18" charset="0"/>
              </a:rPr>
              <a:t> → Badges, leaderboards, tiers (Bronze → Gold → Platinum).</a:t>
            </a:r>
            <a:endParaRPr lang="en-US" altLang="en-US" dirty="0">
              <a:solidFill>
                <a:schemeClr val="tx1"/>
              </a:solidFill>
              <a:latin typeface="Cambria" panose="02040503050406030204" pitchFamily="18" charset="0"/>
              <a:ea typeface="Cambria" panose="02040503050406030204" pitchFamily="18" charset="0"/>
            </a:endParaRPr>
          </a:p>
          <a:p>
            <a:pPr marL="342900" indent="-342900" eaLnBrk="0" fontAlgn="base" hangingPunct="0">
              <a:spcBef>
                <a:spcPct val="0"/>
              </a:spcBef>
              <a:spcAft>
                <a:spcPct val="0"/>
              </a:spcAft>
              <a:buClrTx/>
              <a:buSzTx/>
            </a:pPr>
            <a:r>
              <a:rPr lang="en-US" altLang="en-US" dirty="0">
                <a:solidFill>
                  <a:schemeClr val="tx1"/>
                </a:solidFill>
                <a:latin typeface="Cambria" panose="02040503050406030204" pitchFamily="18" charset="0"/>
                <a:ea typeface="Cambria" panose="02040503050406030204" pitchFamily="18" charset="0"/>
              </a:rPr>
              <a:t> </a:t>
            </a:r>
            <a:r>
              <a:rPr lang="en-US" altLang="en-US" b="1" dirty="0">
                <a:solidFill>
                  <a:schemeClr val="tx1"/>
                </a:solidFill>
                <a:latin typeface="Cambria" panose="02040503050406030204" pitchFamily="18" charset="0"/>
                <a:ea typeface="Cambria" panose="02040503050406030204" pitchFamily="18" charset="0"/>
              </a:rPr>
              <a:t>Financial-Based Rewards </a:t>
            </a:r>
            <a:r>
              <a:rPr lang="en-US" altLang="en-US" dirty="0">
                <a:solidFill>
                  <a:schemeClr val="tx1"/>
                </a:solidFill>
                <a:latin typeface="Cambria" panose="02040503050406030204" pitchFamily="18" charset="0"/>
                <a:ea typeface="Cambria" panose="02040503050406030204" pitchFamily="18" charset="0"/>
              </a:rPr>
              <a:t>→ Providers will be eligible for financial bonuses for timely completion of services based on feedback and badges.</a:t>
            </a:r>
            <a:endParaRPr lang="en-US" altLang="en-US" dirty="0">
              <a:solidFill>
                <a:schemeClr val="tx1"/>
              </a:solidFill>
              <a:latin typeface="Cambria" panose="02040503050406030204" pitchFamily="18" charset="0"/>
              <a:ea typeface="Cambria" panose="02040503050406030204" pitchFamily="18" charset="0"/>
            </a:endParaRPr>
          </a:p>
          <a:p>
            <a:pPr marL="342900" indent="-342900" eaLnBrk="0" fontAlgn="base" hangingPunct="0">
              <a:spcBef>
                <a:spcPct val="0"/>
              </a:spcBef>
              <a:spcAft>
                <a:spcPct val="0"/>
              </a:spcAft>
              <a:buClrTx/>
              <a:buSzTx/>
            </a:pPr>
            <a:r>
              <a:rPr lang="en-US" altLang="en-US" b="1" dirty="0">
                <a:solidFill>
                  <a:schemeClr val="tx1"/>
                </a:solidFill>
                <a:latin typeface="Cambria" panose="02040503050406030204" pitchFamily="18" charset="0"/>
                <a:ea typeface="Cambria" panose="02040503050406030204" pitchFamily="18" charset="0"/>
              </a:rPr>
              <a:t>Participation of all legal service providers </a:t>
            </a:r>
            <a:r>
              <a:rPr lang="en-US" altLang="en-US" dirty="0">
                <a:solidFill>
                  <a:schemeClr val="tx1"/>
                </a:solidFill>
                <a:latin typeface="Cambria" panose="02040503050406030204" pitchFamily="18" charset="0"/>
                <a:ea typeface="Cambria" panose="02040503050406030204" pitchFamily="18" charset="0"/>
              </a:rPr>
              <a:t>→All the legal service providers like advocates, lawyers, arbitrators, mediators, notaries and document writers.</a:t>
            </a:r>
            <a:endParaRPr lang="en-US" altLang="en-US" dirty="0">
              <a:solidFill>
                <a:schemeClr val="tx1"/>
              </a:solidFill>
              <a:latin typeface="Cambria" panose="02040503050406030204" pitchFamily="18" charset="0"/>
              <a:ea typeface="Cambria" panose="02040503050406030204" pitchFamily="18" charset="0"/>
            </a:endParaRPr>
          </a:p>
          <a:p>
            <a:r>
              <a:rPr lang="en-IN" b="1" dirty="0">
                <a:solidFill>
                  <a:schemeClr val="tx1"/>
                </a:solidFill>
                <a:latin typeface="Cambria" panose="02040503050406030204" pitchFamily="18" charset="0"/>
                <a:ea typeface="Cambria" panose="02040503050406030204" pitchFamily="18" charset="0"/>
              </a:rPr>
              <a:t>Accessibility for all citizens</a:t>
            </a:r>
            <a:r>
              <a:rPr lang="en-US" altLang="en-US" b="1" dirty="0">
                <a:solidFill>
                  <a:schemeClr val="tx1"/>
                </a:solidFill>
                <a:latin typeface="Cambria" panose="02040503050406030204" pitchFamily="18" charset="0"/>
                <a:ea typeface="Cambria" panose="02040503050406030204" pitchFamily="18" charset="0"/>
              </a:rPr>
              <a:t> </a:t>
            </a:r>
            <a:r>
              <a:rPr lang="en-US" altLang="en-US" dirty="0">
                <a:solidFill>
                  <a:schemeClr val="tx1"/>
                </a:solidFill>
                <a:latin typeface="Cambria" panose="02040503050406030204" pitchFamily="18" charset="0"/>
                <a:ea typeface="Cambria" panose="02040503050406030204" pitchFamily="18" charset="0"/>
              </a:rPr>
              <a:t>→All the citizens can assess this easily without and need of other just like other apps.</a:t>
            </a:r>
            <a:endParaRPr lang="en-US" altLang="en-US" dirty="0">
              <a:solidFill>
                <a:schemeClr val="tx1"/>
              </a:solidFill>
              <a:latin typeface="Cambria" panose="02040503050406030204" pitchFamily="18" charset="0"/>
              <a:ea typeface="Cambria" panose="020405030504060302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IN" dirty="0">
                <a:latin typeface="Cambria" panose="02040503050406030204" pitchFamily="18" charset="0"/>
                <a:ea typeface="Cambria" panose="02040503050406030204" pitchFamily="18" charset="0"/>
              </a:rPr>
              <a:t>Architecture Diagram</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432485" y="951470"/>
            <a:ext cx="11528855" cy="5350475"/>
          </a:xfrm>
          <a:prstGeom prst="rect">
            <a:avLst/>
          </a:prstGeom>
          <a:noFill/>
          <a:ln>
            <a:noFill/>
          </a:ln>
        </p:spPr>
        <p:txBody>
          <a:bodyPr spcFirstLastPara="1" wrap="square" lIns="91425" tIns="45700" rIns="91425" bIns="45700" anchor="t" anchorCtr="0">
            <a:normAutofit/>
          </a:bodyPr>
          <a:lstStyle/>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pic>
        <p:nvPicPr>
          <p:cNvPr id="2"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411890" y="1161536"/>
            <a:ext cx="11246660" cy="474499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Modules</a:t>
            </a:r>
            <a:endParaRPr lang="en-IN" dirty="0"/>
          </a:p>
        </p:txBody>
      </p:sp>
      <p:sp>
        <p:nvSpPr>
          <p:cNvPr id="3" name="Text Placeholder 2"/>
          <p:cNvSpPr>
            <a:spLocks noGrp="1"/>
          </p:cNvSpPr>
          <p:nvPr>
            <p:ph type="body" idx="1"/>
          </p:nvPr>
        </p:nvSpPr>
        <p:spPr/>
        <p:txBody>
          <a:bodyPr/>
          <a:lstStyle/>
          <a:p>
            <a:r>
              <a:rPr lang="en-IN" b="1" dirty="0"/>
              <a:t> Citizen Module</a:t>
            </a:r>
            <a:endParaRPr lang="en-IN" b="1" dirty="0"/>
          </a:p>
          <a:p>
            <a:endParaRPr lang="en-IN" b="1" dirty="0"/>
          </a:p>
          <a:p>
            <a:endParaRPr lang="en-IN" b="1" dirty="0"/>
          </a:p>
          <a:p>
            <a:endParaRPr lang="en-IN" b="1" dirty="0"/>
          </a:p>
          <a:p>
            <a:endParaRPr lang="en-IN" b="1" dirty="0"/>
          </a:p>
          <a:p>
            <a:r>
              <a:rPr lang="en-IN" b="1" dirty="0"/>
              <a:t>Service Provider Module</a:t>
            </a:r>
            <a:endParaRPr lang="en-IN" dirty="0"/>
          </a:p>
          <a:p>
            <a:endParaRPr lang="en-IN" dirty="0"/>
          </a:p>
          <a:p>
            <a:endParaRPr lang="en-IN" dirty="0"/>
          </a:p>
          <a:p>
            <a:endParaRPr lang="en-IN" dirty="0"/>
          </a:p>
        </p:txBody>
      </p:sp>
      <p:pic>
        <p:nvPicPr>
          <p:cNvPr id="4"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5301048" y="964856"/>
            <a:ext cx="4633783" cy="2524529"/>
          </a:xfrm>
          <a:prstGeom prst="rect">
            <a:avLst/>
          </a:prstGeom>
          <a:noFill/>
          <a:ln>
            <a:noFill/>
          </a:ln>
        </p:spPr>
      </p:pic>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544445" y="3731740"/>
            <a:ext cx="4851074" cy="265126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Modules</a:t>
            </a:r>
            <a:endParaRPr lang="en-IN" dirty="0"/>
          </a:p>
        </p:txBody>
      </p:sp>
      <p:sp>
        <p:nvSpPr>
          <p:cNvPr id="3" name="Text Placeholder 2"/>
          <p:cNvSpPr>
            <a:spLocks noGrp="1"/>
          </p:cNvSpPr>
          <p:nvPr>
            <p:ph type="body" idx="1"/>
          </p:nvPr>
        </p:nvSpPr>
        <p:spPr/>
        <p:txBody>
          <a:bodyPr/>
          <a:lstStyle/>
          <a:p>
            <a:r>
              <a:rPr lang="en-IN" b="1" dirty="0"/>
              <a:t>Admin Module</a:t>
            </a:r>
            <a:endParaRPr lang="en-IN" b="1" dirty="0"/>
          </a:p>
          <a:p>
            <a:endParaRPr lang="en-IN" b="1" dirty="0"/>
          </a:p>
          <a:p>
            <a:endParaRPr lang="en-IN" b="1" dirty="0"/>
          </a:p>
          <a:p>
            <a:endParaRPr lang="en-IN" b="1" dirty="0"/>
          </a:p>
          <a:p>
            <a:pPr marL="76200" indent="0">
              <a:buNone/>
            </a:pPr>
            <a:endParaRPr lang="en-IN" b="1" dirty="0"/>
          </a:p>
          <a:p>
            <a:r>
              <a:rPr lang="en-IN" b="1" dirty="0"/>
              <a:t>Common/Shared Modules</a:t>
            </a:r>
            <a:endParaRPr lang="en-IN" dirty="0"/>
          </a:p>
          <a:p>
            <a:endParaRPr lang="en-IN" dirty="0"/>
          </a:p>
        </p:txBody>
      </p:sp>
      <p:pic>
        <p:nvPicPr>
          <p:cNvPr id="4"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4838803" y="1007510"/>
            <a:ext cx="4122952" cy="2421489"/>
          </a:xfrm>
          <a:prstGeom prst="rect">
            <a:avLst/>
          </a:prstGeom>
          <a:noFill/>
          <a:ln>
            <a:noFill/>
          </a:ln>
        </p:spPr>
      </p:pic>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4329996" y="4088173"/>
            <a:ext cx="5731510" cy="190119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427789" y="237831"/>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Technology Stack Components</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427789" y="951207"/>
            <a:ext cx="11751276" cy="5668962"/>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76200" indent="0">
              <a:buNone/>
            </a:pPr>
            <a:r>
              <a:rPr lang="en-IN" b="1" dirty="0">
                <a:latin typeface="Cambria" panose="02040503050406030204" pitchFamily="18" charset="0"/>
                <a:ea typeface="Cambria" panose="02040503050406030204" pitchFamily="18" charset="0"/>
              </a:rPr>
              <a:t>1. Frontend (User Interface):</a:t>
            </a:r>
            <a:r>
              <a:rPr lang="en-IN" dirty="0">
                <a:latin typeface="Cambria" panose="02040503050406030204" pitchFamily="18" charset="0"/>
                <a:ea typeface="Cambria" panose="02040503050406030204" pitchFamily="18" charset="0"/>
              </a:rPr>
              <a:t> </a:t>
            </a:r>
            <a:r>
              <a:rPr lang="en-IN" dirty="0" err="1">
                <a:latin typeface="Cambria" panose="02040503050406030204" pitchFamily="18" charset="0"/>
                <a:ea typeface="Cambria" panose="02040503050406030204" pitchFamily="18" charset="0"/>
              </a:rPr>
              <a:t>Reactjs</a:t>
            </a:r>
            <a:endParaRPr lang="en-IN" dirty="0">
              <a:latin typeface="Cambria" panose="02040503050406030204" pitchFamily="18" charset="0"/>
              <a:ea typeface="Cambria" panose="02040503050406030204" pitchFamily="18" charset="0"/>
            </a:endParaRPr>
          </a:p>
          <a:p>
            <a:pPr marL="76200" indent="0">
              <a:buNone/>
            </a:pPr>
            <a:r>
              <a:rPr lang="en-IN" b="1" dirty="0">
                <a:latin typeface="Cambria" panose="02040503050406030204" pitchFamily="18" charset="0"/>
                <a:ea typeface="Cambria" panose="02040503050406030204" pitchFamily="18" charset="0"/>
              </a:rPr>
              <a:t>2. Backend (Server-side Logic):</a:t>
            </a:r>
            <a:r>
              <a:rPr lang="en-IN" dirty="0">
                <a:latin typeface="Cambria" panose="02040503050406030204" pitchFamily="18" charset="0"/>
                <a:ea typeface="Cambria" panose="02040503050406030204" pitchFamily="18" charset="0"/>
              </a:rPr>
              <a:t> </a:t>
            </a:r>
            <a:r>
              <a:rPr lang="en-US" altLang="en-IN" dirty="0">
                <a:latin typeface="Cambria" panose="02040503050406030204" pitchFamily="18" charset="0"/>
                <a:ea typeface="Cambria" panose="02040503050406030204" pitchFamily="18" charset="0"/>
              </a:rPr>
              <a:t>NodeJS, ExpressJS</a:t>
            </a:r>
            <a:endParaRPr lang="en-IN" dirty="0">
              <a:latin typeface="Cambria" panose="02040503050406030204" pitchFamily="18" charset="0"/>
              <a:ea typeface="Cambria" panose="02040503050406030204" pitchFamily="18" charset="0"/>
            </a:endParaRPr>
          </a:p>
          <a:p>
            <a:pPr marL="76200" indent="0">
              <a:buNone/>
            </a:pPr>
            <a:r>
              <a:rPr lang="en-IN" b="1" dirty="0">
                <a:latin typeface="Cambria" panose="02040503050406030204" pitchFamily="18" charset="0"/>
                <a:ea typeface="Cambria" panose="02040503050406030204" pitchFamily="18" charset="0"/>
              </a:rPr>
              <a:t>3. Database (Data Storage):</a:t>
            </a:r>
            <a:r>
              <a:rPr lang="en-IN" dirty="0">
                <a:latin typeface="Cambria" panose="02040503050406030204" pitchFamily="18" charset="0"/>
                <a:ea typeface="Cambria" panose="02040503050406030204" pitchFamily="18" charset="0"/>
              </a:rPr>
              <a:t> MySQL</a:t>
            </a:r>
            <a:endParaRPr lang="en-IN" dirty="0">
              <a:latin typeface="Cambria" panose="02040503050406030204" pitchFamily="18" charset="0"/>
              <a:ea typeface="Cambria" panose="02040503050406030204" pitchFamily="18" charset="0"/>
            </a:endParaRPr>
          </a:p>
          <a:p>
            <a:pPr marL="76200" indent="0">
              <a:buNone/>
            </a:pPr>
            <a:r>
              <a:rPr lang="en-IN" b="1" dirty="0">
                <a:latin typeface="Cambria" panose="02040503050406030204" pitchFamily="18" charset="0"/>
                <a:ea typeface="Cambria" panose="02040503050406030204" pitchFamily="18" charset="0"/>
              </a:rPr>
              <a:t>4. Security &amp; Authentication: </a:t>
            </a:r>
            <a:r>
              <a:rPr lang="en-IN" dirty="0">
                <a:latin typeface="Cambria" panose="02040503050406030204" pitchFamily="18" charset="0"/>
                <a:ea typeface="Cambria" panose="02040503050406030204" pitchFamily="18" charset="0"/>
              </a:rPr>
              <a:t>JWT</a:t>
            </a:r>
            <a:endParaRPr lang="en-IN" dirty="0">
              <a:latin typeface="Cambria" panose="02040503050406030204" pitchFamily="18" charset="0"/>
              <a:ea typeface="Cambria" panose="02040503050406030204" pitchFamily="18" charset="0"/>
            </a:endParaRPr>
          </a:p>
          <a:p>
            <a:pPr marL="76200" indent="0">
              <a:buNone/>
            </a:pPr>
            <a:r>
              <a:rPr lang="en-IN" b="1" dirty="0">
                <a:latin typeface="Cambria" panose="02040503050406030204" pitchFamily="18" charset="0"/>
                <a:ea typeface="Cambria" panose="02040503050406030204" pitchFamily="18" charset="0"/>
              </a:rPr>
              <a:t>5. Integration Services</a:t>
            </a:r>
            <a:endParaRPr lang="en-IN" dirty="0">
              <a:latin typeface="Cambria" panose="02040503050406030204" pitchFamily="18" charset="0"/>
              <a:ea typeface="Cambria" panose="02040503050406030204" pitchFamily="18" charset="0"/>
            </a:endParaRPr>
          </a:p>
          <a:p>
            <a:pPr marL="76200" indent="0">
              <a:buNone/>
            </a:pPr>
            <a:r>
              <a:rPr lang="en-IN" b="1" dirty="0">
                <a:latin typeface="Cambria" panose="02040503050406030204" pitchFamily="18" charset="0"/>
                <a:ea typeface="Cambria" panose="02040503050406030204" pitchFamily="18" charset="0"/>
              </a:rPr>
              <a:t>APIs:</a:t>
            </a:r>
            <a:r>
              <a:rPr lang="en-IN" dirty="0">
                <a:latin typeface="Cambria" panose="02040503050406030204" pitchFamily="18" charset="0"/>
                <a:ea typeface="Cambria" panose="02040503050406030204" pitchFamily="18" charset="0"/>
              </a:rPr>
              <a:t> </a:t>
            </a:r>
            <a:r>
              <a:rPr lang="en-US" altLang="en-IN" dirty="0">
                <a:latin typeface="Cambria" panose="02040503050406030204" pitchFamily="18" charset="0"/>
                <a:ea typeface="Cambria" panose="02040503050406030204" pitchFamily="18" charset="0"/>
              </a:rPr>
              <a:t>GeminiAPI key</a:t>
            </a: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7" name="Picture 6"/>
          <p:cNvPicPr>
            <a:picLocks noChangeAspect="1"/>
          </p:cNvPicPr>
          <p:nvPr/>
        </p:nvPicPr>
        <p:blipFill>
          <a:blip r:embed="rId1"/>
          <a:stretch>
            <a:fillRect/>
          </a:stretch>
        </p:blipFill>
        <p:spPr>
          <a:xfrm>
            <a:off x="8347757" y="1161624"/>
            <a:ext cx="1096880" cy="63772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2" name="Picture 1"/>
          <p:cNvPicPr>
            <a:picLocks noChangeAspect="1"/>
          </p:cNvPicPr>
          <p:nvPr/>
        </p:nvPicPr>
        <p:blipFill>
          <a:blip r:embed="rId1"/>
          <a:stretch>
            <a:fillRect/>
          </a:stretch>
        </p:blipFill>
        <p:spPr>
          <a:xfrm>
            <a:off x="413385" y="1142365"/>
            <a:ext cx="11543030" cy="4862830"/>
          </a:xfrm>
          <a:prstGeom prst="rect">
            <a:avLst/>
          </a:prstGeom>
        </p:spPr>
      </p:pic>
      <p:sp>
        <p:nvSpPr>
          <p:cNvPr id="3" name="Rectangles 2"/>
          <p:cNvSpPr/>
          <p:nvPr/>
        </p:nvSpPr>
        <p:spPr>
          <a:xfrm>
            <a:off x="5554980" y="1186180"/>
            <a:ext cx="4934585" cy="35179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Results</a:t>
            </a:r>
            <a:endParaRPr lang="en-IN" altLang="en-US"/>
          </a:p>
        </p:txBody>
      </p:sp>
      <p:sp>
        <p:nvSpPr>
          <p:cNvPr id="3" name="Text Placeholder 2"/>
          <p:cNvSpPr>
            <a:spLocks noGrp="1"/>
          </p:cNvSpPr>
          <p:nvPr>
            <p:ph type="body" idx="1"/>
          </p:nvPr>
        </p:nvSpPr>
        <p:spPr/>
        <p:txBody>
          <a:bodyPr/>
          <a:p>
            <a:endParaRPr lang="en-US"/>
          </a:p>
          <a:p>
            <a:endParaRPr lang="en-US"/>
          </a:p>
          <a:p>
            <a:endParaRPr lang="en-US"/>
          </a:p>
          <a:p>
            <a:endParaRPr lang="en-US"/>
          </a:p>
          <a:p>
            <a:endParaRPr lang="en-US"/>
          </a:p>
          <a:p>
            <a:endParaRPr lang="en-US"/>
          </a:p>
          <a:p>
            <a:endParaRPr lang="en-US"/>
          </a:p>
          <a:p>
            <a:endParaRPr lang="en-US"/>
          </a:p>
          <a:p>
            <a:endParaRPr lang="en-US"/>
          </a:p>
          <a:p>
            <a:endParaRPr lang="en-US"/>
          </a:p>
          <a:p>
            <a:pPr marL="76200" indent="0">
              <a:buNone/>
            </a:pPr>
            <a:r>
              <a:rPr lang="en-IN" altLang="en-US"/>
              <a:t>                                 Landing Page</a:t>
            </a:r>
            <a:endParaRPr lang="en-IN" altLang="en-US"/>
          </a:p>
        </p:txBody>
      </p:sp>
      <p:pic>
        <p:nvPicPr>
          <p:cNvPr id="2022152532" name="Picture 2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12800" y="1205865"/>
            <a:ext cx="10065385" cy="408686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Result</a:t>
            </a:r>
            <a:endParaRPr lang="en-IN" altLang="en-US"/>
          </a:p>
        </p:txBody>
      </p:sp>
      <p:sp>
        <p:nvSpPr>
          <p:cNvPr id="3" name="Text Placeholder 2"/>
          <p:cNvSpPr>
            <a:spLocks noGrp="1"/>
          </p:cNvSpPr>
          <p:nvPr>
            <p:ph type="body" idx="1"/>
          </p:nvPr>
        </p:nvSpPr>
        <p:spPr/>
        <p:txBody>
          <a:bodyPr/>
          <a:p>
            <a:endParaRPr lang="en-IN" altLang="en-US"/>
          </a:p>
          <a:p>
            <a:endParaRPr lang="en-IN" altLang="en-US"/>
          </a:p>
          <a:p>
            <a:endParaRPr lang="en-IN" altLang="en-US"/>
          </a:p>
          <a:p>
            <a:endParaRPr lang="en-IN" altLang="en-US"/>
          </a:p>
          <a:p>
            <a:endParaRPr lang="en-IN" altLang="en-US"/>
          </a:p>
          <a:p>
            <a:endParaRPr lang="en-IN" altLang="en-US"/>
          </a:p>
          <a:p>
            <a:endParaRPr lang="en-IN" altLang="en-US"/>
          </a:p>
          <a:p>
            <a:endParaRPr lang="en-IN" altLang="en-US"/>
          </a:p>
          <a:p>
            <a:endParaRPr lang="en-IN" altLang="en-US"/>
          </a:p>
          <a:p>
            <a:endParaRPr lang="en-IN" altLang="en-US"/>
          </a:p>
          <a:p>
            <a:pPr marL="76200" indent="0">
              <a:buNone/>
            </a:pPr>
            <a:r>
              <a:rPr lang="en-IN" altLang="en-US"/>
              <a:t>                             Registration Page</a:t>
            </a:r>
            <a:endParaRPr lang="en-IN" altLang="en-US"/>
          </a:p>
        </p:txBody>
      </p:sp>
      <p:pic>
        <p:nvPicPr>
          <p:cNvPr id="5" name="Picture 26"/>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942465" y="1329690"/>
            <a:ext cx="7015480" cy="395478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Text Placeholder 2"/>
          <p:cNvSpPr>
            <a:spLocks noGrp="1"/>
          </p:cNvSpPr>
          <p:nvPr>
            <p:ph type="body" idx="1"/>
          </p:nvPr>
        </p:nvSpPr>
        <p:spPr/>
        <p:txBody>
          <a:bodyPr/>
          <a:p>
            <a:endParaRPr lang="en-US"/>
          </a:p>
          <a:p>
            <a:endParaRPr lang="en-US"/>
          </a:p>
          <a:p>
            <a:endParaRPr lang="en-US"/>
          </a:p>
          <a:p>
            <a:endParaRPr lang="en-US"/>
          </a:p>
          <a:p>
            <a:endParaRPr lang="en-US"/>
          </a:p>
          <a:p>
            <a:endParaRPr lang="en-US"/>
          </a:p>
          <a:p>
            <a:endParaRPr lang="en-US"/>
          </a:p>
          <a:p>
            <a:endParaRPr lang="en-US"/>
          </a:p>
          <a:p>
            <a:endParaRPr lang="en-US"/>
          </a:p>
          <a:p>
            <a:pPr marL="76200" indent="0">
              <a:buNone/>
            </a:pPr>
            <a:r>
              <a:rPr lang="en-IN" altLang="en-US"/>
              <a:t>                                  Client Page</a:t>
            </a:r>
            <a:endParaRPr lang="en-IN" altLang="en-US"/>
          </a:p>
        </p:txBody>
      </p:sp>
      <p:pic>
        <p:nvPicPr>
          <p:cNvPr id="478947987" name="Picture 27"/>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812800" y="1256665"/>
            <a:ext cx="10495280" cy="360489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Results</a:t>
            </a:r>
            <a:endParaRPr lang="en-IN" altLang="en-US"/>
          </a:p>
        </p:txBody>
      </p:sp>
      <p:sp>
        <p:nvSpPr>
          <p:cNvPr id="3" name="Text Placeholder 2"/>
          <p:cNvSpPr>
            <a:spLocks noGrp="1"/>
          </p:cNvSpPr>
          <p:nvPr>
            <p:ph type="body" idx="1"/>
          </p:nvPr>
        </p:nvSpPr>
        <p:spPr/>
        <p:txBody>
          <a:bodyPr/>
          <a:p>
            <a:endParaRPr lang="en-US"/>
          </a:p>
          <a:p>
            <a:endParaRPr lang="en-US"/>
          </a:p>
          <a:p>
            <a:endParaRPr lang="en-US"/>
          </a:p>
          <a:p>
            <a:endParaRPr lang="en-US"/>
          </a:p>
          <a:p>
            <a:endParaRPr lang="en-US"/>
          </a:p>
          <a:p>
            <a:endParaRPr lang="en-US"/>
          </a:p>
          <a:p>
            <a:endParaRPr lang="en-US"/>
          </a:p>
          <a:p>
            <a:endParaRPr lang="en-US"/>
          </a:p>
          <a:p>
            <a:endParaRPr lang="en-US"/>
          </a:p>
          <a:p>
            <a:pPr marL="76200" indent="0">
              <a:buNone/>
            </a:pPr>
            <a:r>
              <a:rPr lang="en-IN" altLang="en-US">
                <a:sym typeface="+mn-ea"/>
              </a:rPr>
              <a:t>                                Service Provider Page</a:t>
            </a:r>
            <a:endParaRPr lang="en-US"/>
          </a:p>
        </p:txBody>
      </p:sp>
      <p:pic>
        <p:nvPicPr>
          <p:cNvPr id="35123806" name="Picture 29"/>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037590" y="1142365"/>
            <a:ext cx="10443210" cy="378523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latin typeface="Cambria" panose="02040503050406030204" pitchFamily="18" charset="0"/>
                <a:ea typeface="Cambria" panose="02040503050406030204" pitchFamily="18" charset="0"/>
                <a:sym typeface="+mn-ea"/>
              </a:rPr>
              <a:t>Github Link</a:t>
            </a:r>
            <a:endParaRPr lang="en-US"/>
          </a:p>
        </p:txBody>
      </p:sp>
      <p:sp>
        <p:nvSpPr>
          <p:cNvPr id="3" name="Text Placeholder 2"/>
          <p:cNvSpPr>
            <a:spLocks noGrp="1"/>
          </p:cNvSpPr>
          <p:nvPr>
            <p:ph type="body" idx="1"/>
          </p:nvPr>
        </p:nvSpPr>
        <p:spPr/>
        <p:txBody>
          <a:bodyPr/>
          <a:p>
            <a:pPr marL="342900" indent="-190500" algn="just">
              <a:spcBef>
                <a:spcPts val="0"/>
              </a:spcBef>
              <a:buSzPct val="100000"/>
              <a:buFont typeface="Arial" panose="020B0604020202020204"/>
              <a:buNone/>
            </a:pPr>
            <a:r>
              <a:rPr lang="en-US" dirty="0">
                <a:latin typeface="Cambria" panose="02040503050406030204" pitchFamily="18" charset="0"/>
                <a:ea typeface="Cambria" panose="02040503050406030204" pitchFamily="18" charset="0"/>
                <a:sym typeface="+mn-ea"/>
              </a:rPr>
              <a:t>The Github link provided should have public access permission.</a:t>
            </a: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b="1">
                <a:solidFill>
                  <a:schemeClr val="accent2">
                    <a:lumMod val="75000"/>
                  </a:schemeClr>
                </a:solidFill>
                <a:latin typeface="Cambria" panose="02040503050406030204" pitchFamily="18" charset="0"/>
                <a:ea typeface="Cambria" panose="02040503050406030204" pitchFamily="18" charset="0"/>
                <a:sym typeface="+mn-ea"/>
              </a:rPr>
              <a:t>GitHub </a:t>
            </a:r>
            <a:r>
              <a:rPr lang="en-US" b="1" dirty="0">
                <a:solidFill>
                  <a:schemeClr val="accent2">
                    <a:lumMod val="75000"/>
                  </a:schemeClr>
                </a:solidFill>
                <a:latin typeface="Cambria" panose="02040503050406030204" pitchFamily="18" charset="0"/>
                <a:ea typeface="Cambria" panose="02040503050406030204" pitchFamily="18" charset="0"/>
                <a:sym typeface="+mn-ea"/>
              </a:rPr>
              <a:t>Link: </a:t>
            </a: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None/>
            </a:pPr>
            <a:r>
              <a:rPr lang="en-US" b="1" dirty="0">
                <a:solidFill>
                  <a:srgbClr val="0070C0"/>
                </a:solidFill>
                <a:latin typeface="Cambria" panose="02040503050406030204" pitchFamily="18" charset="0"/>
                <a:ea typeface="Cambria" panose="02040503050406030204" pitchFamily="18" charset="0"/>
                <a:sym typeface="+mn-ea"/>
              </a:rPr>
              <a:t>https://github.com/Mohith4488/Capstone-project-legal-service-adviser</a:t>
            </a:r>
            <a:endParaRPr lang="en-US" b="1" dirty="0">
              <a:solidFill>
                <a:srgbClr val="0070C0"/>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77500" lnSpcReduction="20000"/>
          </a:bodyPr>
          <a:lstStyle/>
          <a:p>
            <a:pPr marL="533400" lvl="0" indent="-457200">
              <a:buFont typeface="+mj-lt"/>
              <a:buAutoNum type="arabicPeriod"/>
            </a:pPr>
            <a:r>
              <a:rPr lang="en-IN" dirty="0"/>
              <a:t>Incentives based Design for onboarding Legal Service Providers for Extending Legal Services to Citizens in India by Piyush </a:t>
            </a:r>
            <a:r>
              <a:rPr lang="en-IN" dirty="0" err="1"/>
              <a:t>Karnale</a:t>
            </a:r>
            <a:r>
              <a:rPr lang="en-IN" dirty="0"/>
              <a:t>, Srishti Chavan, Amulya </a:t>
            </a:r>
            <a:r>
              <a:rPr lang="en-IN" dirty="0" err="1"/>
              <a:t>Chougale</a:t>
            </a:r>
            <a:r>
              <a:rPr lang="en-IN" dirty="0"/>
              <a:t>, and Ansh Patil .</a:t>
            </a:r>
            <a:endParaRPr lang="en-IN" dirty="0"/>
          </a:p>
          <a:p>
            <a:pPr marL="533400" lvl="0" indent="-457200">
              <a:buFont typeface="+mj-lt"/>
              <a:buAutoNum type="arabicPeriod"/>
            </a:pPr>
            <a:endParaRPr lang="en-IN" dirty="0"/>
          </a:p>
          <a:p>
            <a:pPr marL="533400" lvl="0" indent="-457200">
              <a:buFont typeface="+mj-lt"/>
              <a:buAutoNum type="arabicPeriod"/>
            </a:pPr>
            <a:r>
              <a:rPr lang="en-IN" dirty="0"/>
              <a:t>Barriers to Adoption of B2B E-marketplaces: An Empirical Study of Indian Manufacturing MSMEs by Pallavi Upadhyaya, Manjunatha Prasad </a:t>
            </a:r>
            <a:r>
              <a:rPr lang="en-IN" dirty="0" err="1"/>
              <a:t>Karantha</a:t>
            </a:r>
            <a:r>
              <a:rPr lang="en-IN" dirty="0"/>
              <a:t>, and Mohan P. </a:t>
            </a:r>
            <a:r>
              <a:rPr lang="en-IN" dirty="0" err="1"/>
              <a:t>Thayyil</a:t>
            </a:r>
            <a:r>
              <a:rPr lang="en-IN" dirty="0"/>
              <a:t> .</a:t>
            </a:r>
            <a:endParaRPr lang="en-IN" dirty="0"/>
          </a:p>
          <a:p>
            <a:pPr marL="533400" lvl="0" indent="-457200">
              <a:buFont typeface="+mj-lt"/>
              <a:buAutoNum type="arabicPeriod"/>
            </a:pPr>
            <a:endParaRPr lang="en-IN" dirty="0"/>
          </a:p>
          <a:p>
            <a:pPr marL="533400" lvl="0" indent="-457200">
              <a:buFont typeface="+mj-lt"/>
              <a:buAutoNum type="arabicPeriod"/>
            </a:pPr>
            <a:r>
              <a:rPr lang="en-IN" dirty="0"/>
              <a:t>India Legal Aid Clinics: Creating Service Learning Research Projects to Study Social Justice by David W. Tushaus, Shailendra Kr. Gupta, and Sumit Kapoor .</a:t>
            </a:r>
            <a:endParaRPr lang="en-IN" dirty="0"/>
          </a:p>
          <a:p>
            <a:pPr marL="533400" lvl="0" indent="-457200">
              <a:buFont typeface="+mj-lt"/>
              <a:buAutoNum type="arabicPeriod"/>
            </a:pPr>
            <a:endParaRPr lang="en-IN" dirty="0"/>
          </a:p>
          <a:p>
            <a:pPr marL="533400" lvl="0" indent="-457200">
              <a:buFont typeface="+mj-lt"/>
              <a:buAutoNum type="arabicPeriod"/>
            </a:pPr>
            <a:r>
              <a:rPr lang="en-IN" dirty="0"/>
              <a:t>Improving Legal Service Delivery: the approving role of legal technologies by Krishna Chaitanya </a:t>
            </a:r>
            <a:r>
              <a:rPr lang="en-IN" dirty="0" err="1"/>
              <a:t>Balthu</a:t>
            </a:r>
            <a:r>
              <a:rPr lang="en-IN" dirty="0"/>
              <a:t>, Iain Reid, and Ben Clegg .</a:t>
            </a:r>
            <a:endParaRPr lang="en-IN" dirty="0"/>
          </a:p>
          <a:p>
            <a:pPr marL="533400" lvl="0" indent="-457200">
              <a:buFont typeface="+mj-lt"/>
              <a:buAutoNum type="arabicPeriod"/>
            </a:pPr>
            <a:endParaRPr lang="en-IN" dirty="0"/>
          </a:p>
          <a:p>
            <a:pPr marL="533400" lvl="0" indent="-457200">
              <a:buFont typeface="+mj-lt"/>
              <a:buAutoNum type="arabicPeriod"/>
            </a:pPr>
            <a:r>
              <a:rPr lang="en-IN" dirty="0"/>
              <a:t>Artificial intelligence (AI) applications for marketing: A literature-based study by Abid Haleem, Mohd Javaid, Mohd Asim Qadri, Ravi Pratap Singh, and Rajiv Suman .</a:t>
            </a:r>
            <a:endParaRPr lang="en-IN" dirty="0"/>
          </a:p>
          <a:p>
            <a:pPr marL="533400" lvl="0" indent="-457200">
              <a:buFont typeface="+mj-lt"/>
              <a:buAutoNum type="arabicPeriod"/>
            </a:pPr>
            <a:endParaRPr lang="en-IN" dirty="0"/>
          </a:p>
          <a:p>
            <a:pPr marL="76200" lvl="0" indent="0">
              <a:buNone/>
            </a:pPr>
            <a:endParaRPr lang="en-IN" dirty="0"/>
          </a:p>
          <a:p>
            <a:pPr marL="76200" lvl="0" indent="0">
              <a:buNone/>
            </a:pPr>
            <a:endParaRPr lang="en-IN" dirty="0"/>
          </a:p>
          <a:p>
            <a:pPr marL="76200" lvl="0" indent="0">
              <a:buNone/>
            </a:pPr>
            <a:endParaRPr lang="en-IN" dirty="0"/>
          </a:p>
          <a:p>
            <a:pPr marL="76200" indent="0">
              <a:buNone/>
            </a:pPr>
            <a:endParaRPr lang="en-IN"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77500" lnSpcReduction="20000"/>
          </a:bodyPr>
          <a:lstStyle/>
          <a:p>
            <a:pPr marL="533400" indent="-457200">
              <a:buFont typeface="+mj-lt"/>
              <a:buAutoNum type="arabicPeriod"/>
            </a:pPr>
            <a:r>
              <a:rPr lang="en-IN" dirty="0"/>
              <a:t>Integrating AI-Based Information Services in Legal Systems: Opportunities and Challenges by </a:t>
            </a:r>
            <a:r>
              <a:rPr lang="en-IN" dirty="0" err="1"/>
              <a:t>Odiljon</a:t>
            </a:r>
            <a:r>
              <a:rPr lang="en-IN" dirty="0"/>
              <a:t> </a:t>
            </a:r>
            <a:r>
              <a:rPr lang="en-IN" dirty="0" err="1"/>
              <a:t>Nematillaev</a:t>
            </a:r>
            <a:r>
              <a:rPr lang="en-IN" dirty="0"/>
              <a:t>, </a:t>
            </a:r>
            <a:r>
              <a:rPr lang="en-IN" dirty="0" err="1"/>
              <a:t>Khayitjon</a:t>
            </a:r>
            <a:r>
              <a:rPr lang="en-IN" dirty="0"/>
              <a:t> </a:t>
            </a:r>
            <a:r>
              <a:rPr lang="en-IN" dirty="0" err="1"/>
              <a:t>Turdiev</a:t>
            </a:r>
            <a:r>
              <a:rPr lang="en-IN" dirty="0"/>
              <a:t>, Timur </a:t>
            </a:r>
            <a:r>
              <a:rPr lang="en-IN" dirty="0" err="1"/>
              <a:t>Kenjayev</a:t>
            </a:r>
            <a:r>
              <a:rPr lang="en-IN" dirty="0"/>
              <a:t>, Karamat </a:t>
            </a:r>
            <a:r>
              <a:rPr lang="en-IN" dirty="0" err="1"/>
              <a:t>Kilicheva</a:t>
            </a:r>
            <a:r>
              <a:rPr lang="en-IN" dirty="0"/>
              <a:t>, I.B. </a:t>
            </a:r>
            <a:r>
              <a:rPr lang="en-IN" dirty="0" err="1"/>
              <a:t>Sapaev</a:t>
            </a:r>
            <a:r>
              <a:rPr lang="en-IN" dirty="0"/>
              <a:t>, </a:t>
            </a:r>
            <a:r>
              <a:rPr lang="en-IN" dirty="0" err="1"/>
              <a:t>Xosiyatposhsho</a:t>
            </a:r>
            <a:r>
              <a:rPr lang="en-IN" dirty="0"/>
              <a:t> </a:t>
            </a:r>
            <a:r>
              <a:rPr lang="en-IN" dirty="0" err="1"/>
              <a:t>Axmadaliyeva</a:t>
            </a:r>
            <a:r>
              <a:rPr lang="en-IN" dirty="0"/>
              <a:t>, </a:t>
            </a:r>
            <a:r>
              <a:rPr lang="en-IN" dirty="0" err="1"/>
              <a:t>Jaloliddin</a:t>
            </a:r>
            <a:r>
              <a:rPr lang="en-IN" dirty="0"/>
              <a:t> Yusubov, and Umid </a:t>
            </a:r>
            <a:r>
              <a:rPr lang="en-IN" dirty="0" err="1"/>
              <a:t>Menglikulovs</a:t>
            </a:r>
            <a:r>
              <a:rPr lang="en-IN" dirty="0"/>
              <a:t> .</a:t>
            </a:r>
            <a:endParaRPr lang="en-IN" dirty="0"/>
          </a:p>
          <a:p>
            <a:pPr marL="533400" lvl="0" indent="-457200">
              <a:buFont typeface="+mj-lt"/>
              <a:buAutoNum type="arabicPeriod"/>
            </a:pPr>
            <a:endParaRPr lang="en-IN" dirty="0"/>
          </a:p>
          <a:p>
            <a:pPr marL="533400" lvl="0" indent="-457200">
              <a:buFont typeface="+mj-lt"/>
              <a:buAutoNum type="arabicPeriod"/>
            </a:pPr>
            <a:r>
              <a:rPr lang="en-IN" dirty="0"/>
              <a:t>Blockchain Technology and Legal Framework in India: A Systematic Review by Neha </a:t>
            </a:r>
            <a:r>
              <a:rPr lang="en-IN" dirty="0" err="1"/>
              <a:t>Kukrety</a:t>
            </a:r>
            <a:r>
              <a:rPr lang="en-IN" dirty="0"/>
              <a:t>, </a:t>
            </a:r>
            <a:r>
              <a:rPr lang="en-IN" dirty="0" err="1"/>
              <a:t>Pitresh</a:t>
            </a:r>
            <a:r>
              <a:rPr lang="en-IN" dirty="0"/>
              <a:t> Kaushik, and Shashank Shekhar Pandey .</a:t>
            </a:r>
            <a:endParaRPr lang="en-IN" dirty="0"/>
          </a:p>
          <a:p>
            <a:pPr marL="533400" lvl="0" indent="-457200">
              <a:buFont typeface="+mj-lt"/>
              <a:buAutoNum type="arabicPeriod"/>
            </a:pPr>
            <a:endParaRPr lang="en-IN" dirty="0"/>
          </a:p>
          <a:p>
            <a:pPr marL="533400" lvl="0" indent="-457200">
              <a:buFont typeface="+mj-lt"/>
              <a:buAutoNum type="arabicPeriod"/>
            </a:pPr>
            <a:r>
              <a:rPr lang="en-IN" dirty="0"/>
              <a:t>Legal </a:t>
            </a:r>
            <a:r>
              <a:rPr lang="en-IN" dirty="0" err="1"/>
              <a:t>Sahyog</a:t>
            </a:r>
            <a:r>
              <a:rPr lang="en-IN" dirty="0"/>
              <a:t> Hub: An Incentives Based Design For Onboarding Legal Service Providers On E-Market Place For Extending Legal Services To Citizens In India by Dr. </a:t>
            </a:r>
            <a:r>
              <a:rPr lang="en-IN" dirty="0" err="1"/>
              <a:t>Yakuta</a:t>
            </a:r>
            <a:r>
              <a:rPr lang="en-IN" dirty="0"/>
              <a:t> </a:t>
            </a:r>
            <a:r>
              <a:rPr lang="en-IN" dirty="0" err="1"/>
              <a:t>Tayyebi</a:t>
            </a:r>
            <a:r>
              <a:rPr lang="en-IN" dirty="0"/>
              <a:t>, Anuj Banke, Anshita </a:t>
            </a:r>
            <a:r>
              <a:rPr lang="en-IN" dirty="0" err="1"/>
              <a:t>Balodiya</a:t>
            </a:r>
            <a:r>
              <a:rPr lang="en-IN" dirty="0"/>
              <a:t>, Gourav </a:t>
            </a:r>
            <a:r>
              <a:rPr lang="en-IN" dirty="0" err="1"/>
              <a:t>choudhary</a:t>
            </a:r>
            <a:r>
              <a:rPr lang="en-IN" dirty="0"/>
              <a:t>, and Ananya Dey .</a:t>
            </a:r>
            <a:endParaRPr lang="en-IN" dirty="0"/>
          </a:p>
          <a:p>
            <a:pPr marL="533400" lvl="0" indent="-457200">
              <a:buFont typeface="+mj-lt"/>
              <a:buAutoNum type="arabicPeriod"/>
            </a:pPr>
            <a:endParaRPr lang="en-IN" dirty="0"/>
          </a:p>
          <a:p>
            <a:pPr marL="533400" lvl="0" indent="-457200">
              <a:buFont typeface="+mj-lt"/>
              <a:buAutoNum type="arabicPeriod"/>
            </a:pPr>
            <a:r>
              <a:rPr lang="en-IN" dirty="0"/>
              <a:t>Multi-sided Platforms and Markets: A Literature Review by Juan Manuel Sánchez-Cartas and Gonzalo León.</a:t>
            </a:r>
            <a:endParaRPr lang="en-IN" dirty="0"/>
          </a:p>
          <a:p>
            <a:pPr marL="533400" lvl="0" indent="-457200">
              <a:buFont typeface="+mj-lt"/>
              <a:buAutoNum type="arabicPeriod"/>
            </a:pPr>
            <a:endParaRPr lang="en-IN" dirty="0"/>
          </a:p>
          <a:p>
            <a:pPr marL="533400" indent="-457200">
              <a:buFont typeface="+mj-lt"/>
              <a:buAutoNum type="arabicPeriod"/>
            </a:pPr>
            <a:r>
              <a:rPr lang="en-IN" dirty="0"/>
              <a:t>Online Legal Service: The Present and Future by Md Aminur Islam, Jannatul Ferdaus, Md. Abbas Ali Khan, and Md. Tarek Habib</a:t>
            </a:r>
            <a:endParaRPr lang="en-IN"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4082811" y="1441315"/>
            <a:ext cx="3893305" cy="3935471"/>
          </a:xfrm>
          <a:prstGeom prst="rect">
            <a:avLst/>
          </a:prstGeom>
        </p:spPr>
      </p:pic>
    </p:spTree>
  </p:cSld>
  <p:clrMapOvr>
    <a:masterClrMapping/>
  </p:clrMapOvr>
</p:sld>
</file>

<file path=ppt/tags/tag1.xml><?xml version="1.0" encoding="utf-8"?>
<p:tagLst xmlns:p="http://schemas.openxmlformats.org/presentationml/2006/main">
  <p:tag name="TABLE_ENDDRAG_ORIGIN_RECT" val="907*411"/>
  <p:tag name="TABLE_ENDDRAG_RECT" val="34*82*907*411"/>
</p:tagLst>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10759</Words>
  <Application>WPS Presentation</Application>
  <PresentationFormat>Widescreen</PresentationFormat>
  <Paragraphs>335</Paragraphs>
  <Slides>22</Slides>
  <Notes>15</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22</vt:i4>
      </vt:variant>
    </vt:vector>
  </HeadingPairs>
  <TitlesOfParts>
    <vt:vector size="37" baseType="lpstr">
      <vt:lpstr>Arial</vt:lpstr>
      <vt:lpstr>SimSun</vt:lpstr>
      <vt:lpstr>Wingdings</vt:lpstr>
      <vt:lpstr>Arial</vt:lpstr>
      <vt:lpstr>Verdana</vt:lpstr>
      <vt:lpstr>Bookman Old Style</vt:lpstr>
      <vt:lpstr>Cambria</vt:lpstr>
      <vt:lpstr>Bookman Old Style</vt:lpstr>
      <vt:lpstr>Calibri</vt:lpstr>
      <vt:lpstr>Microsoft YaHei</vt:lpstr>
      <vt:lpstr>Arial Unicode MS</vt:lpstr>
      <vt:lpstr>Calibri</vt:lpstr>
      <vt:lpstr>Times New Roman</vt:lpstr>
      <vt:lpstr>Times New Roman</vt:lpstr>
      <vt:lpstr>Bioinformatics</vt:lpstr>
      <vt:lpstr>Incentives based Design for onboarding Legal Service Providers on eMarket Place </vt:lpstr>
      <vt:lpstr>Content</vt:lpstr>
      <vt:lpstr>Problem Statement</vt:lpstr>
      <vt:lpstr>Abstract</vt:lpstr>
      <vt:lpstr>Literature Survey</vt:lpstr>
      <vt:lpstr>Literature Survey</vt:lpstr>
      <vt:lpstr>Objectives</vt:lpstr>
      <vt:lpstr>Existing Methods and Drawbacks</vt:lpstr>
      <vt:lpstr>Proposed Methods and Feasibility Study</vt:lpstr>
      <vt:lpstr>Architecture Diagram</vt:lpstr>
      <vt:lpstr>Modules</vt:lpstr>
      <vt:lpstr>Modules</vt:lpstr>
      <vt:lpstr>Technology Stack Components</vt:lpstr>
      <vt:lpstr>Timeline of the Project (Gantt Chart)</vt:lpstr>
      <vt:lpstr>PowerPoint 演示文稿</vt:lpstr>
      <vt:lpstr>PowerPoint 演示文稿</vt:lpstr>
      <vt:lpstr>PowerPoint 演示文稿</vt:lpstr>
      <vt:lpstr>Results</vt:lpstr>
      <vt:lpstr>PowerPoint 演示文稿</vt:lpstr>
      <vt:lpstr>References (IEEE Paper format)</vt:lpstr>
      <vt:lpstr>References (IEEE Paper format)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lanchan j</cp:lastModifiedBy>
  <cp:revision>79</cp:revision>
  <dcterms:created xsi:type="dcterms:W3CDTF">2025-08-12T15:37:00Z</dcterms:created>
  <dcterms:modified xsi:type="dcterms:W3CDTF">2025-12-01T12:47:22Z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349D79C879894EFDAB7DB056DD3871FA_13</vt:lpwstr>
  </property>
  <property fmtid="{D5CDD505-2E9C-101B-9397-08002B2CF9AE}" pid="3" name="KSOProductBuildVer">
    <vt:lpwstr>1033-12.2.0.23155</vt:lpwstr>
  </property>
</Properties>
</file>